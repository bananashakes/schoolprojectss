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8" r:id="rId12"/>
    <p:sldId id="264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1CDC27-C62D-1EFD-520A-E66E905EDA5C}" name="Josh Yan LIAO (TP)" initials="JYL(" userId="S::joshyan@tp.edu.sg::34d2b495-187b-482c-9c38-d8f66a623d97" providerId="AD"/>
  <p188:author id="{6B0CF745-7F3E-21BD-91D1-F94DD3EB8481}" name="Chaw Poh CHIA (TP)" initials="CC" userId="S::cpchia@tp.edu.sg::7420a7be-4c5b-4588-aaec-7b5525320687" providerId="AD"/>
  <p188:author id="{4595C397-F992-4D59-00DF-77DC5F278A5B}" name="Sio Poh TAN (TP)" initials="ST" userId="S::siopoh@TP.EDU.SG::885feb22-6b5b-41f3-afa3-2d4a0d0c4942" providerId="AD"/>
  <p188:author id="{9FDFECDC-7DC0-64A7-D7A8-6430072BA26E}" name="Andrew CHONG (TP)" initials="AC" userId="S::chongkt@TP.EDU.SG::d8aae822-b943-4f37-9b72-7581d42c47a4" providerId="AD"/>
  <p188:author id="{A643E2DD-6BB2-4C4A-6D1B-9C103A60EE4C}" name="Gordon HOI (TP)" initials="GH" userId="S::gordon@tp.edu.sg::951b617f-e6fd-47f4-a908-ed470453a6b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325" autoAdjust="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08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five stages top to bottom, naming the application at each. The key point is that no single stage failing takes the run down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5199-66E4-F4CD-1D0C-B8684D33A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A1F5E-7EE8-3CF1-4ACA-39B4CA54E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C7AB8-37F4-38A8-376E-EA5669A4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AF579-812A-A8C3-0A82-C4B1735F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0E7DC-909B-A4C8-B9C0-4F24692D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94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5537-2AD5-C04A-CD81-C09DBB51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A611-B6A8-606A-3040-E94D416EE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6C444-FAC4-9CD3-5B9D-5084BCEA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A8A33-8592-A765-7007-DC787E3E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AB489-E9FF-37F4-86F1-C7C0A3BA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541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5784-F47B-7FBB-926C-74B93593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65CB5-2A8E-81CA-428E-EFDC5532E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375E-8ACF-E7AC-E133-919BC373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C4AD8-1F05-3606-BC63-165162D2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E9611-CBCE-FC2C-A124-45F52BAD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016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8179-011A-2A1C-C76E-3F990355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ABFDF-1F2E-BD30-3F62-CF8015C73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978ED-9CEF-468C-2012-B0F57416F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0E808-49C7-7F63-0AD0-18CC3533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05EA2-38F7-A4D5-4D4E-C2A333D4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EC61A-3058-568E-45DB-A0E2587B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8115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5F2E-DA0C-4B1B-55CF-CA7CB427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29F4-E3DB-8685-6780-84A180900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A9F53-FB51-259E-C1DD-2B9CE050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45780-1EF8-C438-6F9D-E853596C5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28306-E8CE-4F5D-13D4-FDF6EE337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D22BAD-0882-1F96-CFF9-B62DF360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13AB5-6DEF-EE82-3CDD-A64EAB8F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D5D88-D341-BF73-3F9E-CA0948D1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926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2A3C-B505-0553-C7A9-E0A8BAF3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170DA-D48B-A8F8-7626-CE6D7B1F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48255-5F48-03A6-4B17-8B603BA9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7C333-4AB1-1F1B-87B9-E1E16610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483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4C886-55D3-62F3-0306-3C79054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3BD9E-7951-6074-95D5-84692095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A7697-ECD6-DD66-AC0F-12BF8DAB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176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842D-2FE1-066D-DD49-1A820145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00746-AB57-1865-9B1A-9EA38F6BB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FC3C6-6F3B-6DA0-E4A2-88C85EDD5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9E1DA-998F-7DB9-3351-AAE6831F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000B8-93B0-08E4-9534-C48542EA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9DA2B-A8FE-3C4F-36DE-F9A93BAB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283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EE84-C461-DD15-3ABD-BD98A564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99C3E-8C84-EEF9-1589-47700D2BE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E8BBA-54C8-565D-A268-1D5A2A96B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5095E-8F07-C021-DEAE-F3BA6D14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600F8-196C-2E40-EC08-60CD26DB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1B620-20EE-E754-2D55-0DF1754F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5129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1AC7-0C75-D679-369D-7D0F462B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9083C-F582-ADE6-1539-D696C8DD6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E505F-3DEB-E3A3-0241-10B2F1D3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DF05-AA28-68A3-680B-FB3C2172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B6F36-B257-E890-9835-01C073AC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647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27E15-8FF2-CB04-6DD8-440BC3F4A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6C347-56B8-5CEE-5278-A0223AF4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7A087-30DB-CBE9-E452-D456BACF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24974-0EB1-57E5-D578-D49F7F9A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D1FA9-7335-B14E-ACA2-D73714C9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8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C08D6-B44B-5607-1275-1B8286F8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89858-9D9F-CECC-F81D-119438C02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287C9-4B0F-E0F3-AD8C-5375D3513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5284-BCBC-40F2-BE1E-6CFB3D2BA82E}" type="datetimeFigureOut">
              <a:rPr lang="en-SG" smtClean="0"/>
              <a:t>6/8/2026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3ED5C-625F-2603-E61D-73A5092BA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D71C-3142-7BDC-54F9-E185B9CA2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873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822960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dirty="0">
                <a:latin typeface="Bell MT" panose="02020503060305020303" pitchFamily="18" charset="0"/>
              </a:rPr>
              <a:t>A</a:t>
            </a:r>
            <a:r>
              <a:rPr lang="en-SG" sz="5400" b="1" dirty="0" err="1">
                <a:latin typeface="Bell MT" panose="02020503060305020303" pitchFamily="18" charset="0"/>
              </a:rPr>
              <a:t>nalyse</a:t>
            </a:r>
            <a:r>
              <a:rPr sz="5400" b="1" dirty="0">
                <a:latin typeface="Bell MT" panose="02020503060305020303" pitchFamily="18" charset="0"/>
              </a:rPr>
              <a:t>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1"/>
            <a:ext cx="8412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dirty="0">
                <a:latin typeface="Calibri"/>
              </a:rPr>
              <a:t>Automated stock watchlist monitoring and reporting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8686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latin typeface="Calibri"/>
              </a:rPr>
              <a:t>Robotic Process Automation (CAI2C01)   ·   AY2026/2027 April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Leon Jr Chua   ·   2500593E   ·   Tutorial Group P02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Bell MT" panose="02020503060305020303" pitchFamily="18" charset="0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dirty="0">
                <a:solidFill>
                  <a:srgbClr val="000000"/>
                </a:solidFill>
                <a:latin typeface="Calibri"/>
              </a:rPr>
              <a:t>Current scenario</a:t>
            </a:r>
            <a:r>
              <a:rPr lang="en-SG" sz="1350" b="1" dirty="0">
                <a:solidFill>
                  <a:srgbClr val="000000"/>
                </a:solidFill>
                <a:latin typeface="Calibri"/>
              </a:rPr>
              <a:t>:</a:t>
            </a:r>
            <a:r>
              <a:rPr sz="1350" b="1" dirty="0">
                <a:solidFill>
                  <a:srgbClr val="000000"/>
                </a:solidFill>
                <a:latin typeface="Calibri"/>
              </a:rPr>
              <a:t> done 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3643"/>
            <a:ext cx="5669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Open a stock site and search each symbol, one at a time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Read the latest price and percentage change off the page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Copy both figures into a spreadsheet without mistyping them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Work out the biggest gainer, biggest drop and overall movement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Build charts, write a short summary, and send it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Why it needs automating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15968"/>
            <a:ext cx="5669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Roughly 43 minutes per update for a 10-stock watchlist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Easy to copy a wrong price, miss a stock, or mis-calculate a percentage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IBM reports manual data entry error rates ranging from 0.55% to 26.9%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Prices move constantly, so a slow update is a less useful one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The judgement involved is simple and rule-based — ideal for a robot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463040"/>
            <a:ext cx="489204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572768"/>
            <a:ext cx="452627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alibri"/>
              </a:rPr>
              <a:t>43 minutes becomes under </a:t>
            </a:r>
            <a:r>
              <a:rPr lang="en-SG" sz="1200" b="1" dirty="0">
                <a:solidFill>
                  <a:srgbClr val="000000"/>
                </a:solidFill>
                <a:latin typeface="Calibri"/>
              </a:rPr>
              <a:t>3</a:t>
            </a:r>
            <a:endParaRPr sz="12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03720" y="1828800"/>
            <a:ext cx="452627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A full run capture, validation, dashboard, digest, report and delivery — completes in under</a:t>
            </a:r>
            <a:r>
              <a:rPr lang="en-SG" sz="1050" b="0" dirty="0">
                <a:solidFill>
                  <a:srgbClr val="1A1A1A"/>
                </a:solidFill>
                <a:latin typeface="Calibri"/>
              </a:rPr>
              <a:t> 3</a:t>
            </a:r>
            <a:r>
              <a:rPr sz="1050" b="0" dirty="0">
                <a:solidFill>
                  <a:srgbClr val="1A1A1A"/>
                </a:solidFill>
                <a:latin typeface="Calibri"/>
              </a:rPr>
              <a:t> minutes with nobody present. That is about </a:t>
            </a:r>
            <a:r>
              <a:rPr lang="en-SG" sz="1050" dirty="0">
                <a:solidFill>
                  <a:srgbClr val="1A1A1A"/>
                </a:solidFill>
                <a:latin typeface="Calibri"/>
              </a:rPr>
              <a:t>40</a:t>
            </a:r>
            <a:r>
              <a:rPr sz="1050" b="0" dirty="0">
                <a:solidFill>
                  <a:srgbClr val="1A1A1A"/>
                </a:solidFill>
                <a:latin typeface="Calibri"/>
              </a:rPr>
              <a:t> minutes saved per update, and the same steps performed identically every time rather than differently by hand.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84048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What the robot must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133088"/>
            <a:ext cx="4892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Calibri"/>
              </a:rPr>
              <a:t>Read only the stocks the user marked Include, capped at 10</a:t>
            </a:r>
          </a:p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Calibri"/>
              </a:rPr>
              <a:t>Capture live figures without depending on the site's HTML</a:t>
            </a:r>
          </a:p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Calibri"/>
              </a:rPr>
              <a:t>Validate every figure before it is used in a calculation</a:t>
            </a:r>
          </a:p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Calibri"/>
              </a:rPr>
              <a:t>Explain the day in plain language, never as financial advice</a:t>
            </a:r>
          </a:p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1A1A1A"/>
                </a:solidFill>
                <a:latin typeface="Calibri"/>
              </a:rPr>
              <a:t>Deliver the result, and say so clearly when something 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AnalyseTS  |  Leon Jr Chua  |  2500593E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Bell MT" panose="02020503060305020303" pitchFamily="18" charset="0"/>
              </a:rP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682496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367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11095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Calibri"/>
              </a:rPr>
              <a:t>Excel + Chrome +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755648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Read the watchlist, open each quote page, and extract the figures with Get OCR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670048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243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986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Parse and check every row, mark it Valid or Needs Review, calculate the movement indicators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56432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118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Visualise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862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Calibri"/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30752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Render a dashboard of the run in the browser and capture it as an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43984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994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Summarise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737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Calibri"/>
              </a:rPr>
              <a:t>ChatGPT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718304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Turn the validated figures into a plain-English digest, with a template fallback if it fails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3880" y="5426964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5632704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5869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86130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Calibri"/>
              </a:rPr>
              <a:t>Word / PDF + Discord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705856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Build an archived report, then send the update, the report and any alert to Discord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FIVE PACKAGES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Cambria"/>
              </a:rPr>
              <a:t>Packages (project dependencies)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Calibri"/>
              </a:rPr>
              <a:t>UiPath.Excel.Activities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572768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6E"/>
                </a:solidFill>
                <a:latin typeface="Calibri"/>
              </a:rPr>
              <a:t>3.5.3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572768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Use Excel File, Read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4144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Calibri"/>
              </a:rPr>
              <a:t>UiPath.System.Activities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441448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6E"/>
                </a:solidFill>
                <a:latin typeface="Calibri"/>
              </a:rPr>
              <a:t>26.6.1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441448"/>
            <a:ext cx="324612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Start Process, Log Message, Delay, Write/Read Text File, Write/Read CSV, Set/Get Clipboard, Multiple Assign, Create Folder, Delete — plus Get Asset, Get Queue Item and Set Transaction Status</a:t>
            </a:r>
            <a:r>
              <a:rPr lang="en-SG" sz="1050" b="0" dirty="0">
                <a:solidFill>
                  <a:srgbClr val="1A1A1A"/>
                </a:solidFill>
                <a:latin typeface="Calibri"/>
              </a:rPr>
              <a:t>, Kill Process</a:t>
            </a:r>
            <a:endParaRPr sz="105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31012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Calibri"/>
              </a:rPr>
              <a:t>UiPath.UIAutomation.Activities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310128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6E"/>
                </a:solidFill>
                <a:latin typeface="Calibri"/>
              </a:rPr>
              <a:t>26.10.0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310128"/>
            <a:ext cx="3246120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Open Browser, Navigate To, Get OCR Text, App Card, Check App State, Send Hotkey, Click, Take Screenshot, Save Image, Close Tab</a:t>
            </a:r>
            <a:r>
              <a:rPr lang="en-SG" sz="1050" dirty="0">
                <a:solidFill>
                  <a:srgbClr val="1A1A1A"/>
                </a:solidFill>
                <a:latin typeface="Calibri"/>
              </a:rPr>
              <a:t>.</a:t>
            </a:r>
            <a:endParaRPr sz="105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17880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Calibri"/>
              </a:rPr>
              <a:t>UiPath.WebAPI.Activities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78808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6E"/>
                </a:solidFill>
                <a:latin typeface="Calibri"/>
              </a:rPr>
              <a:t>2.5.2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4178808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HTTP Request — the Discord webhook 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4748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Calibri"/>
              </a:rPr>
              <a:t>UiPath.Word.Activities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047488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6E"/>
                </a:solidFill>
                <a:latin typeface="Calibri"/>
              </a:rPr>
              <a:t>2.5.2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047488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Word Application Scope, Append Text, Add Picture, Export to PDF</a:t>
            </a:r>
          </a:p>
        </p:txBody>
      </p:sp>
      <p:pic>
        <p:nvPicPr>
          <p:cNvPr id="22" name="Picture 21" descr="slide4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780395"/>
            <a:ext cx="4023360" cy="25130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9520" y="4140654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Studio → Manage Packages → Project Dependencies</a:t>
            </a:r>
          </a:p>
        </p:txBody>
      </p:sp>
      <p:pic>
        <p:nvPicPr>
          <p:cNvPr id="24" name="Picture 23" descr="slide4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506885"/>
            <a:ext cx="4023360" cy="268050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63840" y="6255359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 err="1">
                <a:solidFill>
                  <a:srgbClr val="6E6E6E"/>
                </a:solidFill>
                <a:latin typeface="Calibri"/>
              </a:rPr>
              <a:t>Main.xaml</a:t>
            </a:r>
            <a:r>
              <a:rPr sz="900" b="0" dirty="0">
                <a:solidFill>
                  <a:srgbClr val="6E6E6E"/>
                </a:solidFill>
                <a:latin typeface="Calibri"/>
              </a:rPr>
              <a:t> — the five Invoke Workflow File activities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AnalyseTS  |  Leon Jr Chua  |  2500593E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SOLUTION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Cambria"/>
              </a:rPr>
              <a:t>Capture — watchlist and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Activities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Use Excel File — opens the user's watchlist workbook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Read Range — reads the Watchlist sheet into a DataTable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If — fails early if the sheet is empty or missing a column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Open Browser — launches Chrome on the quote site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For Each Row — iterates every watchlist entry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If ×2 — skips rows not marked Include, stops at the 10-stock cap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Navigate To — loads that symbol's quote page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Get OCR Text — reads the rendered figures off the page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Add Data Row — records the result, successful or failed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Close Tab / Write CSV — tidies up and saves the raw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26280"/>
            <a:ext cx="484632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636008"/>
            <a:ext cx="44805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A failed stock leaves a record, not a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44805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The Try Catch sits inside the loop rather than around it, so one dead page fails only its own stock</a:t>
            </a:r>
            <a:r>
              <a:rPr lang="en-SG" sz="1050" b="0" dirty="0">
                <a:solidFill>
                  <a:srgbClr val="1A1A1A"/>
                </a:solidFill>
                <a:latin typeface="Calibri"/>
              </a:rPr>
              <a:t>,</a:t>
            </a:r>
            <a:r>
              <a:rPr sz="1050" b="0" dirty="0">
                <a:solidFill>
                  <a:srgbClr val="1A1A1A"/>
                </a:solidFill>
                <a:latin typeface="Calibri"/>
              </a:rPr>
              <a:t> and the failed row is still written with the exception as its reason.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87568"/>
            <a:ext cx="4846320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797296"/>
            <a:ext cx="44805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Four failures means stop trusting the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53328"/>
            <a:ext cx="44805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Four or more OCR failures suggests something systemic, so the run writes a [CRITICAL] line and the Discord message escalates to an urgent alert.</a:t>
            </a:r>
          </a:p>
        </p:txBody>
      </p:sp>
      <p:pic>
        <p:nvPicPr>
          <p:cNvPr id="12" name="Picture 11" descr="cap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463040"/>
            <a:ext cx="3017520" cy="35922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23560" y="511019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Use Excel File and Read Range, inside their own Try Catch</a:t>
            </a:r>
          </a:p>
        </p:txBody>
      </p:sp>
      <p:pic>
        <p:nvPicPr>
          <p:cNvPr id="14" name="Picture 13" descr="cap_oc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1463040"/>
            <a:ext cx="2788920" cy="44561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23960" y="5974047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Get OCR Text reading a live quote page — the captured price shows in the activity itself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AnalyseTS  |  Leon Jr Chua  |  2500593E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SOLUTION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Cambria"/>
              </a:rPr>
              <a:t>Validation — Python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Activities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If / Delete — removes the previous run's processed CSV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Start Process — runs scripts/process_ocr_results.py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Delay — waits for the detached process to finish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If — verifies the output exists and is not empty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Throw — stops the run when it does not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Try Catch ×2, nested — launch failure and processing failure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Rethrow / Log Message — passes the cause up to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What the Python script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07992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Parses price, daily change and percent change from the raw OCR text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Marks every row Valid or Needs Review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Calculates gainer, drop, mover and mood from Valid rows only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Writes the run-wide summary onto row 0 of the processed CSV</a:t>
            </a:r>
          </a:p>
        </p:txBody>
      </p:sp>
      <p:pic>
        <p:nvPicPr>
          <p:cNvPr id="8" name="Picture 7" descr="py_deletefir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3019704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3621024"/>
            <a:ext cx="301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If - Old Processed CSV Exists → Delete File</a:t>
            </a:r>
          </a:p>
        </p:txBody>
      </p:sp>
      <p:pic>
        <p:nvPicPr>
          <p:cNvPr id="10" name="Picture 9" descr="py_tryc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463040"/>
            <a:ext cx="2542032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6840" y="362102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Try Catch - Start Python 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023360"/>
            <a:ext cx="5669280" cy="12344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4133088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Deleting the old file first is what makes the check mean anything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389120"/>
            <a:ext cx="530352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If yesterday's CSV were left in place, a Python script that never ran at all would still find a file on disk, and the stage would report success on stale data. The same pattern guards the dashboard screenshot and the error log.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5394960"/>
            <a:ext cx="566928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5504688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Two nested handlers, because there are two 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760720"/>
            <a:ext cx="530352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Python failing to launch usually means it is not on PATH. Python running but producing nothing is a different problem with a different fix.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AnalyseTS  |  Leon Jr Chua  |  2500593E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SOLUTION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Cambria"/>
              </a:rPr>
              <a:t>Dashboard and digest — Streamlit and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Activities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Start Process — launches Streamlit headless on port 8501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App Card — attaches to the dashboard in Chrome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Check App State — waits for the completion indicator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Send Hotkey ×5 — resets zoom, then zooms out to fit the page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Take Screenshot / Save Image — captures the dashboard as PNG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Kill Process — stops the Streamlit server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 To Clipboard — stages the prompt built from validated figures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Click / Send Hotkey — pastes and submits it to ChatGPT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Get From Clipboard — reads the copied response back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If / Throw — rejects a response under 40 characters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484632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178808"/>
            <a:ext cx="44805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Capturing a page that is not ready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448055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 err="1">
                <a:solidFill>
                  <a:srgbClr val="1A1A1A"/>
                </a:solidFill>
                <a:latin typeface="Calibri"/>
              </a:rPr>
              <a:t>Streamlit</a:t>
            </a:r>
            <a:r>
              <a:rPr sz="1050" b="0" dirty="0">
                <a:solidFill>
                  <a:srgbClr val="1A1A1A"/>
                </a:solidFill>
                <a:latin typeface="Calibri"/>
              </a:rPr>
              <a:t> renders its layout before its data, so a screenshot on load captures empty chart frames</a:t>
            </a:r>
            <a:r>
              <a:rPr lang="en-SG" sz="1050" b="0" dirty="0">
                <a:solidFill>
                  <a:srgbClr val="1A1A1A"/>
                </a:solidFill>
                <a:latin typeface="Calibri"/>
              </a:rPr>
              <a:t>,</a:t>
            </a:r>
            <a:r>
              <a:rPr sz="1050" b="0" dirty="0">
                <a:solidFill>
                  <a:srgbClr val="1A1A1A"/>
                </a:solidFill>
                <a:latin typeface="Calibri"/>
              </a:rPr>
              <a:t> Check App State waits on a completion indicator instead. Ctrl+0 also resets zoom first, because Chrome remembers it per site and every run was shrinking the capture.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484632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367528"/>
            <a:ext cx="44805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The digest can fail and the run still succeeds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4480559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Under 40 characters means the copy caught the model mid-generation. The stage falls back to a template digest built from the same validated figures, so the user always receives real numbers</a:t>
            </a:r>
            <a:r>
              <a:rPr lang="en-SG" sz="1050" b="0" dirty="0">
                <a:solidFill>
                  <a:srgbClr val="1A1A1A"/>
                </a:solidFill>
                <a:latin typeface="Calibri"/>
              </a:rPr>
              <a:t>,</a:t>
            </a:r>
            <a:r>
              <a:rPr sz="1050" b="0" dirty="0">
                <a:solidFill>
                  <a:srgbClr val="1A1A1A"/>
                </a:solidFill>
                <a:latin typeface="Calibri"/>
              </a:rPr>
              <a:t> and the message states which source was used.</a:t>
            </a:r>
          </a:p>
        </p:txBody>
      </p:sp>
      <p:pic>
        <p:nvPicPr>
          <p:cNvPr id="12" name="Picture 11" descr="dash_app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1870957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3621024"/>
            <a:ext cx="187095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App Card → Check App State on the ready indicator</a:t>
            </a:r>
          </a:p>
        </p:txBody>
      </p:sp>
      <p:pic>
        <p:nvPicPr>
          <p:cNvPr id="14" name="Picture 13" descr="dash_cap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463040"/>
            <a:ext cx="1920658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06840" y="3621024"/>
            <a:ext cx="1920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Take Screenshot → Save Image → verify it reached disk</a:t>
            </a:r>
          </a:p>
        </p:txBody>
      </p:sp>
      <p:pic>
        <p:nvPicPr>
          <p:cNvPr id="16" name="Picture 15" descr="gpt_rea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77639"/>
            <a:ext cx="263639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0" y="6135623"/>
            <a:ext cx="263639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Open Browser → Check App State — ChatGPT page is ready</a:t>
            </a:r>
          </a:p>
        </p:txBody>
      </p:sp>
      <p:pic>
        <p:nvPicPr>
          <p:cNvPr id="18" name="Picture 17" descr="gpt_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3977639"/>
            <a:ext cx="2384734" cy="2103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06840" y="6135623"/>
            <a:ext cx="238473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Clipboard cleared, then Copy response and read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AnalyseTS  |  Leon Jr Chua  |  2500593E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SOLUTION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Cambria"/>
              </a:rPr>
              <a:t>Delivery — building the message and sending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Activities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Assign — builds the table header with PadRight and PadLeft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For Each Row — appends one aligned row per stock, and one prose line for the ChatGPT prompt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Assign — wraps the table in a code block and joins it to the digest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HTTP Request — posts the message as JSON when there is no file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Write Text File / Start Process — writes the payload, sends it with curl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Read Text File — reads back the status code curl wrote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If — accepts 200 or 204 as success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Word Scope / Append Text / Add Picture / Export to PDF — archives the same content as a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484632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950208"/>
            <a:ext cx="44805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The table goes above the digest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4480559" cy="5760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The sender truncates anything over Discord's 2000-character limit by cutting the end. Putting the figures first means an unusually long digest loses commentary, never data.</a:t>
            </a:r>
          </a:p>
        </p:txBody>
      </p:sp>
      <p:pic>
        <p:nvPicPr>
          <p:cNvPr id="9" name="Picture 8" descr="pricetable_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47488"/>
            <a:ext cx="1691640" cy="1358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60497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5120640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E6E6E"/>
                </a:solidFill>
                <a:latin typeface="Calibri"/>
              </a:rPr>
              <a:t>The delivered table. Columns aligned with PadRight and PadLeft, not tabs — Discord renders a code block in a monospaced font. Missing values show as n/a so the column stays aligned.</a:t>
            </a:r>
          </a:p>
        </p:txBody>
      </p:sp>
      <p:pic>
        <p:nvPicPr>
          <p:cNvPr id="12" name="Picture 11" descr="pricetable_bui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463040"/>
            <a:ext cx="2606040" cy="37495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5267411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Assign - Start Price Table, then one aligned row per stock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463040"/>
            <a:ext cx="3063240" cy="16459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19" y="1572768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Discord needs two different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1828800"/>
            <a:ext cx="2697480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Text only is a JSON body and returns 204. With a file it must be multipart form data, which the HTTP Request activity does not build the way Discord expects</a:t>
            </a:r>
            <a:r>
              <a:rPr lang="en-SG" sz="1050" b="0" dirty="0">
                <a:solidFill>
                  <a:srgbClr val="1A1A1A"/>
                </a:solidFill>
                <a:latin typeface="Calibri"/>
              </a:rPr>
              <a:t>,</a:t>
            </a:r>
            <a:r>
              <a:rPr sz="1050" b="0" dirty="0">
                <a:solidFill>
                  <a:srgbClr val="1A1A1A"/>
                </a:solidFill>
                <a:latin typeface="Calibri"/>
              </a:rPr>
              <a:t> so curl is used instead, and returns 200. The check tests both.</a:t>
            </a:r>
          </a:p>
        </p:txBody>
      </p:sp>
      <p:pic>
        <p:nvPicPr>
          <p:cNvPr id="17" name="Picture 16" descr="send_branc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246120"/>
            <a:ext cx="2286000" cy="28978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49640" y="619885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If - Attachment Is Available: curl on one branch, HTTP Request on the 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AnalyseTS  |  Leon Jr Chua  |  2500593E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95959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Cambria"/>
              </a:rPr>
              <a:t>Orchestrator — running it unattended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Three ways the robot 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Time trigger — a weekday close schedule, the routine path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API trigger — an authenticated HTTP endpoint, fired on demand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Queue trigger — for work that needs distributing or retrying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Calibri"/>
              </a:rPr>
              <a:t>How it is 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02152"/>
            <a:ext cx="5212080" cy="16081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dirty="0">
                <a:solidFill>
                  <a:srgbClr val="1A1A1A"/>
                </a:solidFill>
                <a:latin typeface="Calibri"/>
              </a:rPr>
              <a:t>Get Queue Item claims the request; Set Transaction Status marks it Successful so the trigger stops re-firing</a:t>
            </a:r>
          </a:p>
          <a:p>
            <a:pPr algn="l">
              <a:spcAft>
                <a:spcPts val="500"/>
              </a:spcAft>
            </a:pPr>
            <a:r>
              <a:rPr sz="1150" b="0" dirty="0">
                <a:solidFill>
                  <a:srgbClr val="1A1A1A"/>
                </a:solidFill>
                <a:latin typeface="Calibri"/>
              </a:rPr>
              <a:t>Get Asset reads the Discord webhook from Orchestrator, so the credential never sits in the project files</a:t>
            </a:r>
          </a:p>
          <a:p>
            <a:pPr algn="l">
              <a:spcAft>
                <a:spcPts val="500"/>
              </a:spcAft>
            </a:pPr>
            <a:r>
              <a:rPr sz="1150" b="0" dirty="0">
                <a:solidFill>
                  <a:srgbClr val="1A1A1A"/>
                </a:solidFill>
                <a:latin typeface="Calibri"/>
              </a:rPr>
              <a:t>All three entry points are wrapped, so the same published process runs unchanged however it was started</a:t>
            </a:r>
          </a:p>
          <a:p>
            <a:pPr algn="l">
              <a:spcAft>
                <a:spcPts val="500"/>
              </a:spcAft>
            </a:pPr>
            <a:r>
              <a:rPr sz="1150" b="0" dirty="0">
                <a:solidFill>
                  <a:srgbClr val="1A1A1A"/>
                </a:solidFill>
                <a:latin typeface="Calibri"/>
              </a:rPr>
              <a:t>Demonstrated from an iOS Shortcut</a:t>
            </a:r>
            <a:r>
              <a:rPr lang="en-SG" sz="1150" b="0" dirty="0">
                <a:solidFill>
                  <a:srgbClr val="1A1A1A"/>
                </a:solidFill>
                <a:latin typeface="Calibri"/>
              </a:rPr>
              <a:t>,</a:t>
            </a:r>
            <a:r>
              <a:rPr sz="1150" b="0" dirty="0">
                <a:solidFill>
                  <a:srgbClr val="1A1A1A"/>
                </a:solidFill>
                <a:latin typeface="Calibri"/>
              </a:rPr>
              <a:t> a device with no UiPath software on it, using nothing but an authenticated HTTP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521208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41848"/>
            <a:ext cx="48463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SG" sz="1200" b="1" dirty="0">
                <a:solidFill>
                  <a:srgbClr val="000000"/>
                </a:solidFill>
                <a:latin typeface="Calibri"/>
              </a:rPr>
              <a:t>Flaw with queue trigger</a:t>
            </a:r>
            <a:endParaRPr sz="12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4846320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The queue item acts as a run request rather than carrying parameters. The next step is passing stock limit and category filter through its Specific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5669280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572768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Why not only a schedule?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530352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A schedule answers when. It cannot respond to a user who wants fresh data right now because something moved, and it cannot be started by another system. The schedule makes the process automated; the API makes it integrable. Most real deployments need both.</a:t>
            </a:r>
          </a:p>
        </p:txBody>
      </p:sp>
      <p:pic>
        <p:nvPicPr>
          <p:cNvPr id="14" name="Picture 13" descr="trigger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63240"/>
            <a:ext cx="3246120" cy="15581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0" y="467624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All three triggers in the Orchestrator folder</a:t>
            </a:r>
          </a:p>
        </p:txBody>
      </p:sp>
      <p:pic>
        <p:nvPicPr>
          <p:cNvPr id="16" name="Picture 15" descr="queue_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3063240"/>
            <a:ext cx="2194560" cy="16738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18320" y="479192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Get Transaction Item claims the queue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AnalyseTS  |  Leon Jr Chua  |  2500593E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>
                <a:latin typeface="Calibri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latin typeface="Bell MT" panose="02020503060305020303" pitchFamily="18" charset="0"/>
              </a:rPr>
              <a:t>Watch </a:t>
            </a:r>
            <a:r>
              <a:rPr sz="4000" b="1" dirty="0" err="1">
                <a:latin typeface="Bell MT" panose="02020503060305020303" pitchFamily="18" charset="0"/>
              </a:rPr>
              <a:t>AnalyseTS</a:t>
            </a:r>
            <a:r>
              <a:rPr sz="4000" b="1" dirty="0">
                <a:latin typeface="Bell MT" panose="02020503060305020303" pitchFamily="18" charset="0"/>
              </a:rPr>
              <a:t>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144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SG" sz="1500" b="1" dirty="0"/>
              <a:t>https://youtu.be/p0aM_X8mZXg</a:t>
            </a:r>
            <a:endParaRPr sz="1500" b="1" dirty="0"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969264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latin typeface="Calibri"/>
              </a:rPr>
              <a:t>The recording covers a full run end to end: the Excel watchlist and the Include filter, each quote page being read with OCR, Python marking rows Valid or Needs Review, the </a:t>
            </a:r>
            <a:r>
              <a:rPr sz="1200" b="0" dirty="0" err="1">
                <a:latin typeface="Calibri"/>
              </a:rPr>
              <a:t>Streamlit</a:t>
            </a:r>
            <a:r>
              <a:rPr sz="1200" b="0" dirty="0">
                <a:latin typeface="Calibri"/>
              </a:rPr>
              <a:t> dashboard rendering and being captured, the ChatGPT digest and its fallback, the Word and PDF report, and Discord receiving the update, the report and the run alert</a:t>
            </a:r>
            <a:r>
              <a:rPr lang="en-SG" sz="1200" b="0" dirty="0">
                <a:latin typeface="Calibri"/>
              </a:rPr>
              <a:t>,</a:t>
            </a:r>
            <a:r>
              <a:rPr sz="1200" b="0" dirty="0">
                <a:latin typeface="Calibri"/>
              </a:rPr>
              <a:t> started remotely through the API trigger.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Cambria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IBM — Data quality issues, defined. https://www.ibm.com/think/insights/data-quality-issues (cited for manual data entry error rates of 0.55% to 26.9%)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OpenAI — ChatGPT. https://chatgpt.com/ (used by the robot to generate the stock update digest)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Yahoo Finance — public stock quote pages. https://finance.yahoo.com/ (the robot's data source)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UiPath Documentation — Activities guide. https://docs.uipath.com/activities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UiPath Documentation — Orchestrator triggers and assets. https://docs.uipath.com/orchestrator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Streamlit — Streamlit documentation. https://docs.streamlit.io/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Discord — Webhook Resource, Developer Portal. https://discord.com/developers/docs/resources/webhook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205407-e844-44f4-a704-524443cf3599" xsi:nil="true"/>
    <lcf76f155ced4ddcb4097134ff3c332f xmlns="0121faca-6edc-4c38-a0c5-20e2ba8c757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C6A7D617B1142B7A64829AE762BF8" ma:contentTypeVersion="18" ma:contentTypeDescription="Create a new document." ma:contentTypeScope="" ma:versionID="26ce053046391cec0b5ef9d54514298d">
  <xsd:schema xmlns:xsd="http://www.w3.org/2001/XMLSchema" xmlns:xs="http://www.w3.org/2001/XMLSchema" xmlns:p="http://schemas.microsoft.com/office/2006/metadata/properties" xmlns:ns2="aa205407-e844-44f4-a704-524443cf3599" xmlns:ns3="0121faca-6edc-4c38-a0c5-20e2ba8c7570" targetNamespace="http://schemas.microsoft.com/office/2006/metadata/properties" ma:root="true" ma:fieldsID="9669ddbb5b69187b6ba0b09ea578fc7b" ns2:_="" ns3:_="">
    <xsd:import namespace="aa205407-e844-44f4-a704-524443cf3599"/>
    <xsd:import namespace="0121faca-6edc-4c38-a0c5-20e2ba8c757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205407-e844-44f4-a704-524443cf3599" elementFormDefault="qualified">
    <xsd:import namespace="http://schemas.microsoft.com/office/2006/documentManagement/types"/>
    <xsd:import namespace="http://schemas.microsoft.com/office/infopath/2007/PartnerControls"/>
    <xsd:element name="SharedWithUsers" ma:index="4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c87a7b3-0ed2-499c-bc30-4d2170d1b8f1}" ma:internalName="TaxCatchAll" ma:showField="CatchAllData" ma:web="aa205407-e844-44f4-a704-524443cf35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1faca-6edc-4c38-a0c5-20e2ba8c7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45bf55a-4f35-4525-96d9-1748649c08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FA54BC-A425-4AFB-917C-42E4DA63F5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960DE4-3A8D-4B07-BFA1-8D519768540D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0121faca-6edc-4c38-a0c5-20e2ba8c7570"/>
    <ds:schemaRef ds:uri="http://purl.org/dc/terms/"/>
    <ds:schemaRef ds:uri="http://purl.org/dc/dcmitype/"/>
    <ds:schemaRef ds:uri="http://schemas.openxmlformats.org/package/2006/metadata/core-properties"/>
    <ds:schemaRef ds:uri="aa205407-e844-44f4-a704-524443cf359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BA5DBF0-A091-4C36-B504-6DA5585D8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205407-e844-44f4-a704-524443cf3599"/>
    <ds:schemaRef ds:uri="0121faca-6edc-4c38-a0c5-20e2ba8c75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2095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Bell MT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RPA Project Report</dc:title>
  <dc:creator>Maheswari RAMASAMY SAKTHIVELU (TP)</dc:creator>
  <cp:lastModifiedBy>LEON JR CHUA</cp:lastModifiedBy>
  <cp:revision>19</cp:revision>
  <dcterms:created xsi:type="dcterms:W3CDTF">2022-10-07T05:57:08Z</dcterms:created>
  <dcterms:modified xsi:type="dcterms:W3CDTF">2026-08-06T07:24:29Z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b68b73-d603-4e7f-85b0-08f331d65276_Enabled">
    <vt:lpwstr>true</vt:lpwstr>
  </property>
  <property fmtid="{D5CDD505-2E9C-101B-9397-08002B2CF9AE}" pid="3" name="MSIP_Label_23b68b73-d603-4e7f-85b0-08f331d65276_SetDate">
    <vt:lpwstr>2022-10-07T06:08:10Z</vt:lpwstr>
  </property>
  <property fmtid="{D5CDD505-2E9C-101B-9397-08002B2CF9AE}" pid="4" name="MSIP_Label_23b68b73-d603-4e7f-85b0-08f331d65276_Method">
    <vt:lpwstr>Privileged</vt:lpwstr>
  </property>
  <property fmtid="{D5CDD505-2E9C-101B-9397-08002B2CF9AE}" pid="5" name="MSIP_Label_23b68b73-d603-4e7f-85b0-08f331d65276_Name">
    <vt:lpwstr>Sensitive Normal</vt:lpwstr>
  </property>
  <property fmtid="{D5CDD505-2E9C-101B-9397-08002B2CF9AE}" pid="6" name="MSIP_Label_23b68b73-d603-4e7f-85b0-08f331d65276_SiteId">
    <vt:lpwstr>25a99bf0-8e72-472a-ae50-adfbdf0df6f1</vt:lpwstr>
  </property>
  <property fmtid="{D5CDD505-2E9C-101B-9397-08002B2CF9AE}" pid="7" name="MSIP_Label_23b68b73-d603-4e7f-85b0-08f331d65276_ActionId">
    <vt:lpwstr>87892bde-6901-46c3-93b2-7ba3f8afb66d</vt:lpwstr>
  </property>
  <property fmtid="{D5CDD505-2E9C-101B-9397-08002B2CF9AE}" pid="8" name="MSIP_Label_23b68b73-d603-4e7f-85b0-08f331d65276_ContentBits">
    <vt:lpwstr>0</vt:lpwstr>
  </property>
  <property fmtid="{D5CDD505-2E9C-101B-9397-08002B2CF9AE}" pid="9" name="ContentTypeId">
    <vt:lpwstr>0x01010024AC6A7D617B1142B7A64829AE762BF8</vt:lpwstr>
  </property>
  <property fmtid="{D5CDD505-2E9C-101B-9397-08002B2CF9AE}" pid="10" name="MediaServiceImageTags">
    <vt:lpwstr/>
  </property>
</Properties>
</file>