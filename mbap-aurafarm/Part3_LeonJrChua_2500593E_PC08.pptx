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6" r:id="rId7"/>
    <p:sldId id="261" r:id="rId8"/>
    <p:sldId id="262" r:id="rId9"/>
    <p:sldId id="263" r:id="rId10"/>
    <p:sldId id="264" r:id="rId11"/>
    <p:sldId id="267" r:id="rId12"/>
    <p:sldId id="265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4" d="100"/>
          <a:sy n="84" d="100"/>
        </p:scale>
        <p:origin x="629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SG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2E05F03-862F-405E-8120-FAE74BEEEADC}" type="datetimeFigureOut">
              <a:rPr lang="en-SG" smtClean="0"/>
              <a:t>10/8/2026</a:t>
            </a:fld>
            <a:endParaRPr lang="en-SG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SG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S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88F58F-D62C-4B4A-A977-A4BF8EC36ECB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82624303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1362BA-8698-3C66-8CE9-3324E36E41F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CA05671-6774-E8B6-2E0A-C2338C3D896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4E25BF-98CC-4C50-F008-466F604265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DDED55-2A3E-451E-A6F7-7F5B44B4AF76}" type="datetimeFigureOut">
              <a:rPr lang="en-SG" smtClean="0"/>
              <a:t>10/8/2026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D3FE9F-DEBC-FE34-148D-8CE54FAADB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7AA5FF-90E6-CD21-2C61-FAFCBFEBB4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0EB6CA-55A3-422A-AE6D-7A6066606ED5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1189520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C0489C-5AF4-081A-5118-B8A9F0D8AD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3087CB-94AA-8C64-73F8-BA3CACB37F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698D6B-4069-8C64-4660-EFA3819CCB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DDED55-2A3E-451E-A6F7-7F5B44B4AF76}" type="datetimeFigureOut">
              <a:rPr lang="en-SG" smtClean="0"/>
              <a:t>10/8/2026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371E-9E0C-4EC4-C7DB-1F06890E0D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8FE765-5D6B-2BDC-BE6A-0C38148C05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0EB6CA-55A3-422A-AE6D-7A6066606ED5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5300820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91BBCF-7A4B-C420-9F17-E73E7DB4DA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2A5944D-C660-27A2-9C6A-A21739693B8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B47A89-08DE-0C7D-14A8-FDDBEE194C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DDED55-2A3E-451E-A6F7-7F5B44B4AF76}" type="datetimeFigureOut">
              <a:rPr lang="en-SG" smtClean="0"/>
              <a:t>10/8/2026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E8A3DE-EB6C-E607-039E-0437DE3D9B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9A49FC-16F4-4006-8814-E472314203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0EB6CA-55A3-422A-AE6D-7A6066606ED5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1438084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73623E-36FB-A5FF-D14D-7C49BCF57B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1464E7-4829-9889-A6F0-A0D4002B601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BCA8589-8A4E-5AB7-985E-9A18DAB95B9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C876AA5-DDE1-1B80-8A6D-006781E4DB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DDED55-2A3E-451E-A6F7-7F5B44B4AF76}" type="datetimeFigureOut">
              <a:rPr lang="en-SG" smtClean="0"/>
              <a:t>10/8/2026</a:t>
            </a:fld>
            <a:endParaRPr lang="en-S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D98DA69-433D-3B12-EE73-C06716F6BD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FA13219-6962-3339-6526-26F1A7C522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0EB6CA-55A3-422A-AE6D-7A6066606ED5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499917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EE9C02-D752-8F54-126E-F8955AB5A0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B2AE03-FC4A-A24F-5C0E-3C8A4F39AE3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AC53E62-E9BD-F6B2-31FD-05A7CF252C4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9D9ED5F-7A9E-ED83-E312-BD243AFEC30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F91D3FE-794E-51D0-1305-1FCA10C7191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3D6A8CC-8B67-3335-5B34-A1B2622F79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DDED55-2A3E-451E-A6F7-7F5B44B4AF76}" type="datetimeFigureOut">
              <a:rPr lang="en-SG" smtClean="0"/>
              <a:t>10/8/2026</a:t>
            </a:fld>
            <a:endParaRPr lang="en-SG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C959349-3872-4C05-8B3A-CAEBCDD098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C8BEB47-7E6A-D3A7-3D1C-1A35B50E82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0EB6CA-55A3-422A-AE6D-7A6066606ED5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741072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7FEED2-1FB0-E503-4A53-5EE91B4B2B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05DC348-F63A-AC97-94DE-F4B3A73C00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DDED55-2A3E-451E-A6F7-7F5B44B4AF76}" type="datetimeFigureOut">
              <a:rPr lang="en-SG" smtClean="0"/>
              <a:t>10/8/2026</a:t>
            </a:fld>
            <a:endParaRPr lang="en-SG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FB91EC2-27A5-D85D-311D-FBE6FF1488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9424F36-1FD6-45FB-FB43-9B874D38A3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0EB6CA-55A3-422A-AE6D-7A6066606ED5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42186969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14C03FD-5578-B002-4430-02D428CC47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DDED55-2A3E-451E-A6F7-7F5B44B4AF76}" type="datetimeFigureOut">
              <a:rPr lang="en-SG" smtClean="0"/>
              <a:t>10/8/2026</a:t>
            </a:fld>
            <a:endParaRPr lang="en-SG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31B77FD-9D72-848E-05A3-944FE7C816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832D509-36F7-DE96-6CA3-E170BC78C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0EB6CA-55A3-422A-AE6D-7A6066606ED5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0496699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00788F-8850-CB57-B772-AA9C6813FC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CBB70A-D15C-2CE7-5399-14A29AD4BF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17A305A-67A2-1201-FD7E-4C0E2A84EC3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AA827C3-34F9-A307-E356-5A6891CA89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DDED55-2A3E-451E-A6F7-7F5B44B4AF76}" type="datetimeFigureOut">
              <a:rPr lang="en-SG" smtClean="0"/>
              <a:t>10/8/2026</a:t>
            </a:fld>
            <a:endParaRPr lang="en-S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DCCD992-8022-CF00-711D-CB4BCC4D18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1C6EBD0-CFF1-CCD8-B62B-F0490A45FB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0EB6CA-55A3-422A-AE6D-7A6066606ED5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8255285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62E733-F174-309E-F7C9-D7023C140F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AF918F8-5C03-ACE0-1997-21D6E2D01FD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SG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CCD5EF6-29EB-B871-6E20-64A14FCADEA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0D8451A-CCB1-2DFB-2D1E-BA13FFC0F4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DDED55-2A3E-451E-A6F7-7F5B44B4AF76}" type="datetimeFigureOut">
              <a:rPr lang="en-SG" smtClean="0"/>
              <a:t>10/8/2026</a:t>
            </a:fld>
            <a:endParaRPr lang="en-S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C077E30-EB72-0CAB-7DDF-60B558FDE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71D103C-D118-7ACF-1FE8-D346B3F1D6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0EB6CA-55A3-422A-AE6D-7A6066606ED5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7555780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A45B99-C4C1-F0D9-60A7-8557B6BDE2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4E25EDE-9368-81C5-FC98-995D049B8AD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775C7E-429F-3175-1ABB-F7041F75DF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DDED55-2A3E-451E-A6F7-7F5B44B4AF76}" type="datetimeFigureOut">
              <a:rPr lang="en-SG" smtClean="0"/>
              <a:t>10/8/2026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E022B8-F7C7-F565-19E3-8131963148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70380A-FC3E-9AB0-F17A-D8BB150D22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0EB6CA-55A3-422A-AE6D-7A6066606ED5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0704235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B3B858A-A4A2-BD35-0BB6-FD35F6C4A3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61489F3-47F5-D58E-288D-3F4FF2E40CE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034966-9D52-AECD-4DF3-25E6142C26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DDED55-2A3E-451E-A6F7-7F5B44B4AF76}" type="datetimeFigureOut">
              <a:rPr lang="en-SG" smtClean="0"/>
              <a:t>10/8/2026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B70289-E01A-75DC-67DD-0BBA01D393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5D7744-9738-AECD-A35A-9CEC0D8606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0EB6CA-55A3-422A-AE6D-7A6066606ED5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413527063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613043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B23D01C-78C7-0901-4686-88ADB2DE06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7994D9A-3775-3E6C-AFEE-B9E3B616D8B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03BC4C-FE7F-9E83-B573-9517D2A8834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EDDED55-2A3E-451E-A6F7-7F5B44B4AF76}" type="datetimeFigureOut">
              <a:rPr lang="en-SG" smtClean="0"/>
              <a:t>10/8/2026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1332E8-6C1E-5279-FBB4-82D4E978629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031A9F-ADB0-DA75-A6F1-2D8538CBFD3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20EB6CA-55A3-422A-AE6D-7A6066606ED5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648706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1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deck-title">
            <a:extLst>
              <a:ext uri="{FF2B5EF4-FFF2-40B4-BE49-F238E27FC236}">
                <a16:creationId xmlns:a16="http://schemas.microsoft.com/office/drawing/2014/main" id="{C04C6304-2B8E-4456-BCD7-A9964C5C861D}"/>
              </a:ext>
            </a:extLst>
          </p:cNvPr>
          <p:cNvSpPr>
            <a:spLocks noGrp="1"/>
          </p:cNvSpPr>
          <p:nvPr/>
        </p:nvSpPr>
        <p:spPr>
          <a:xfrm>
            <a:off x="742950" y="1333500"/>
            <a:ext cx="6096000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4800" b="1" i="0">
                <a:solidFill>
                  <a:srgbClr val="111111"/>
                </a:solidFill>
              </a:defRPr>
            </a:pPr>
            <a:r>
              <a:rPr sz="4800" b="1" i="0">
                <a:solidFill>
                  <a:srgbClr val="111111"/>
                </a:solidFill>
              </a:rPr>
              <a:t>AuraFarm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0117810-45B4-4A31-ABC4-EA5A596BCEBE}"/>
              </a:ext>
            </a:extLst>
          </p:cNvPr>
          <p:cNvSpPr>
            <a:spLocks noGrp="1"/>
          </p:cNvSpPr>
          <p:nvPr/>
        </p:nvSpPr>
        <p:spPr>
          <a:xfrm>
            <a:off x="781050" y="2333625"/>
            <a:ext cx="61912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100" b="0" i="0">
                <a:solidFill>
                  <a:srgbClr val="5B5B5B"/>
                </a:solidFill>
              </a:defRPr>
            </a:pPr>
            <a:r>
              <a:rPr sz="2100" b="0" i="0">
                <a:solidFill>
                  <a:srgbClr val="5B5B5B"/>
                </a:solidFill>
              </a:rPr>
              <a:t>Part 3  •  Mobile App Development</a:t>
            </a:r>
          </a:p>
        </p:txBody>
      </p:sp>
      <p:sp>
        <p:nvSpPr>
          <p:cNvPr id="3" name="Straight Connector 2">
            <a:extLst>
              <a:ext uri="{FF2B5EF4-FFF2-40B4-BE49-F238E27FC236}">
                <a16:creationId xmlns:a16="http://schemas.microsoft.com/office/drawing/2014/main" id="{8B59AA11-DFBA-41B5-B9F7-C170EA6CA3BD}"/>
              </a:ext>
            </a:extLst>
          </p:cNvPr>
          <p:cNvSpPr>
            <a:spLocks noGrp="1"/>
          </p:cNvSpPr>
          <p:nvPr/>
        </p:nvSpPr>
        <p:spPr>
          <a:xfrm>
            <a:off x="781050" y="3009900"/>
            <a:ext cx="4953000" cy="0"/>
          </a:xfrm>
          <a:prstGeom prst="line">
            <a:avLst/>
          </a:prstGeom>
          <a:noFill/>
          <a:ln w="19050">
            <a:solidFill>
              <a:srgbClr val="11111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A516BBE-4AA1-4B94-88AB-A668554EFD5D}"/>
              </a:ext>
            </a:extLst>
          </p:cNvPr>
          <p:cNvSpPr>
            <a:spLocks noGrp="1"/>
          </p:cNvSpPr>
          <p:nvPr/>
        </p:nvSpPr>
        <p:spPr>
          <a:xfrm>
            <a:off x="781050" y="3295650"/>
            <a:ext cx="5810250" cy="78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0" i="0">
                <a:solidFill>
                  <a:srgbClr val="111111"/>
                </a:solidFill>
              </a:defRPr>
            </a:pPr>
            <a:r>
              <a:rPr sz="1800" b="0" i="0">
                <a:solidFill>
                  <a:srgbClr val="111111"/>
                </a:solidFill>
              </a:rPr>
              <a:t>AI-generated vibe cards from an outfit and expression.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A1A2919-4782-4D41-A02B-AE225465E0C4}"/>
              </a:ext>
            </a:extLst>
          </p:cNvPr>
          <p:cNvSpPr>
            <a:spLocks noGrp="1"/>
          </p:cNvSpPr>
          <p:nvPr/>
        </p:nvSpPr>
        <p:spPr>
          <a:xfrm>
            <a:off x="781050" y="4933950"/>
            <a:ext cx="3048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 i="0">
                <a:solidFill>
                  <a:srgbClr val="111111"/>
                </a:solidFill>
              </a:defRPr>
            </a:pPr>
            <a:r>
              <a:rPr sz="1500" b="1" i="0">
                <a:solidFill>
                  <a:srgbClr val="111111"/>
                </a:solidFill>
              </a:rPr>
              <a:t>Leon Jr Chua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AD74E5F-6C3E-46A4-BC2C-C9A1E21AFD6A}"/>
              </a:ext>
            </a:extLst>
          </p:cNvPr>
          <p:cNvSpPr>
            <a:spLocks noGrp="1"/>
          </p:cNvSpPr>
          <p:nvPr/>
        </p:nvSpPr>
        <p:spPr>
          <a:xfrm>
            <a:off x="781050" y="5295900"/>
            <a:ext cx="4476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 i="0">
                <a:solidFill>
                  <a:srgbClr val="5B5B5B"/>
                </a:solidFill>
              </a:defRPr>
            </a:pPr>
            <a:r>
              <a:rPr sz="1350" b="0" i="0">
                <a:solidFill>
                  <a:srgbClr val="5B5B5B"/>
                </a:solidFill>
              </a:rPr>
              <a:t>2500593E  •  PC08  •  AY2026/27</a:t>
            </a:r>
          </a:p>
        </p:txBody>
      </p:sp>
      <p:pic>
        <p:nvPicPr>
          <p:cNvPr id="16" name="Picture 15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8334375" y="1466850"/>
            <a:ext cx="2667000" cy="2667000"/>
          </a:xfrm>
          <a:prstGeom prst="roundRect">
            <a:avLst>
              <a:gd name="adj" fmla="val 12143"/>
            </a:avLst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160313F7-DAF6-4787-87A7-C41236B7652F}"/>
              </a:ext>
            </a:extLst>
          </p:cNvPr>
          <p:cNvSpPr>
            <a:spLocks noGrp="1"/>
          </p:cNvSpPr>
          <p:nvPr/>
        </p:nvSpPr>
        <p:spPr>
          <a:xfrm>
            <a:off x="9058275" y="4476750"/>
            <a:ext cx="12192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00" b="1" i="0">
                <a:solidFill>
                  <a:srgbClr val="5B5B5B"/>
                </a:solidFill>
              </a:defRPr>
            </a:pPr>
            <a:r>
              <a:rPr sz="1200" b="1" i="0">
                <a:solidFill>
                  <a:srgbClr val="5B5B5B"/>
                </a:solidFill>
              </a:rPr>
              <a:t>CIT2C18</a:t>
            </a:r>
          </a:p>
        </p:txBody>
      </p:sp>
      <p:sp>
        <p:nvSpPr>
          <p:cNvPr id="9" name="Straight Connector 8">
            <a:extLst>
              <a:ext uri="{FF2B5EF4-FFF2-40B4-BE49-F238E27FC236}">
                <a16:creationId xmlns:a16="http://schemas.microsoft.com/office/drawing/2014/main" id="{34258C44-4747-4B3E-B0B7-C0E655F3A932}"/>
              </a:ext>
            </a:extLst>
          </p:cNvPr>
          <p:cNvSpPr>
            <a:spLocks noGrp="1"/>
          </p:cNvSpPr>
          <p:nvPr/>
        </p:nvSpPr>
        <p:spPr>
          <a:xfrm>
            <a:off x="781050" y="6191250"/>
            <a:ext cx="10220325" cy="0"/>
          </a:xfrm>
          <a:prstGeom prst="line">
            <a:avLst/>
          </a:prstGeom>
          <a:noFill/>
          <a:ln w="9525">
            <a:solidFill>
              <a:srgbClr val="D8D8D8"/>
            </a:solidFill>
            <a:prstDash val="solid"/>
          </a:ln>
        </p:spPr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671944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lide-2-title">
            <a:extLst>
              <a:ext uri="{FF2B5EF4-FFF2-40B4-BE49-F238E27FC236}">
                <a16:creationId xmlns:a16="http://schemas.microsoft.com/office/drawing/2014/main" id="{391E4BDA-F9B3-4C25-8405-77C8787ECF11}"/>
              </a:ext>
            </a:extLst>
          </p:cNvPr>
          <p:cNvSpPr>
            <a:spLocks noGrp="1"/>
          </p:cNvSpPr>
          <p:nvPr/>
        </p:nvSpPr>
        <p:spPr>
          <a:xfrm>
            <a:off x="685800" y="361950"/>
            <a:ext cx="108204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850" b="1" i="0">
                <a:solidFill>
                  <a:srgbClr val="111111"/>
                </a:solidFill>
              </a:defRPr>
            </a:pPr>
            <a:r>
              <a:rPr sz="2850" b="1" i="0">
                <a:solidFill>
                  <a:srgbClr val="111111"/>
                </a:solidFill>
              </a:rPr>
              <a:t>AuraFarm turns two photos into one editable social artifact</a:t>
            </a:r>
          </a:p>
        </p:txBody>
      </p:sp>
      <p:sp>
        <p:nvSpPr>
          <p:cNvPr id="2" name="Straight Connector 1">
            <a:extLst>
              <a:ext uri="{FF2B5EF4-FFF2-40B4-BE49-F238E27FC236}">
                <a16:creationId xmlns:a16="http://schemas.microsoft.com/office/drawing/2014/main" id="{7D83A221-0166-4B32-8D3D-0C75FF7B77DF}"/>
              </a:ext>
            </a:extLst>
          </p:cNvPr>
          <p:cNvSpPr>
            <a:spLocks noGrp="1"/>
          </p:cNvSpPr>
          <p:nvPr/>
        </p:nvSpPr>
        <p:spPr>
          <a:xfrm>
            <a:off x="685800" y="1028700"/>
            <a:ext cx="10820400" cy="0"/>
          </a:xfrm>
          <a:prstGeom prst="line">
            <a:avLst/>
          </a:prstGeom>
          <a:noFill/>
          <a:ln w="13335">
            <a:solidFill>
              <a:srgbClr val="11111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Straight Connector 2">
            <a:extLst>
              <a:ext uri="{FF2B5EF4-FFF2-40B4-BE49-F238E27FC236}">
                <a16:creationId xmlns:a16="http://schemas.microsoft.com/office/drawing/2014/main" id="{042CE930-5E21-4787-8598-AF3327235F72}"/>
              </a:ext>
            </a:extLst>
          </p:cNvPr>
          <p:cNvSpPr>
            <a:spLocks noGrp="1"/>
          </p:cNvSpPr>
          <p:nvPr/>
        </p:nvSpPr>
        <p:spPr>
          <a:xfrm>
            <a:off x="685800" y="6457950"/>
            <a:ext cx="10820400" cy="0"/>
          </a:xfrm>
          <a:prstGeom prst="line">
            <a:avLst/>
          </a:prstGeom>
          <a:noFill/>
          <a:ln w="9525">
            <a:solidFill>
              <a:srgbClr val="D8D8D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3A07D12-82AB-48F3-86EA-EBB2EBC34630}"/>
              </a:ext>
            </a:extLst>
          </p:cNvPr>
          <p:cNvSpPr>
            <a:spLocks noGrp="1"/>
          </p:cNvSpPr>
          <p:nvPr/>
        </p:nvSpPr>
        <p:spPr>
          <a:xfrm>
            <a:off x="685800" y="6515100"/>
            <a:ext cx="2857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 i="0">
                <a:solidFill>
                  <a:srgbClr val="5B5B5B"/>
                </a:solidFill>
              </a:defRPr>
            </a:pPr>
            <a:r>
              <a:rPr sz="1200" b="1" i="0">
                <a:solidFill>
                  <a:srgbClr val="5B5B5B"/>
                </a:solidFill>
              </a:rPr>
              <a:t>AURAFARM  •  PART 3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80450E0-304C-4B12-A226-AC9F9AED2C2F}"/>
              </a:ext>
            </a:extLst>
          </p:cNvPr>
          <p:cNvSpPr>
            <a:spLocks noGrp="1"/>
          </p:cNvSpPr>
          <p:nvPr/>
        </p:nvSpPr>
        <p:spPr>
          <a:xfrm>
            <a:off x="11010900" y="6515100"/>
            <a:ext cx="495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200" b="1" i="0">
                <a:solidFill>
                  <a:srgbClr val="5B5B5B"/>
                </a:solidFill>
              </a:defRPr>
            </a:pPr>
            <a:r>
              <a:rPr sz="1200" b="1" i="0">
                <a:solidFill>
                  <a:srgbClr val="5B5B5B"/>
                </a:solidFill>
              </a:rPr>
              <a:t>02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12E098E-ABF2-4DCA-AF8A-44DDD7ABD372}"/>
              </a:ext>
            </a:extLst>
          </p:cNvPr>
          <p:cNvSpPr>
            <a:spLocks noGrp="1"/>
          </p:cNvSpPr>
          <p:nvPr/>
        </p:nvSpPr>
        <p:spPr>
          <a:xfrm>
            <a:off x="685800" y="1257300"/>
            <a:ext cx="647700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0" i="0">
                <a:solidFill>
                  <a:srgbClr val="111111"/>
                </a:solidFill>
              </a:defRPr>
            </a:pPr>
            <a:r>
              <a:rPr sz="1800" b="0" i="0">
                <a:solidFill>
                  <a:srgbClr val="111111"/>
                </a:solidFill>
              </a:rPr>
              <a:t>Designed for students and young adults aged 15–25, AuraFarm brings visuals, music and humour into one guided creation flow.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4261B77-3DB2-4D0F-B1A5-CA1F61695798}"/>
              </a:ext>
            </a:extLst>
          </p:cNvPr>
          <p:cNvSpPr>
            <a:spLocks noGrp="1"/>
          </p:cNvSpPr>
          <p:nvPr/>
        </p:nvSpPr>
        <p:spPr>
          <a:xfrm>
            <a:off x="685800" y="2266950"/>
            <a:ext cx="5905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1" i="0">
                <a:solidFill>
                  <a:srgbClr val="111111"/>
                </a:solidFill>
              </a:defRPr>
            </a:pPr>
            <a:r>
              <a:rPr sz="1800" b="1" i="0">
                <a:solidFill>
                  <a:srgbClr val="111111"/>
                </a:solidFill>
              </a:rPr>
              <a:t>The problem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E7A62D7-5743-495E-93C1-D5E46A248F20}"/>
              </a:ext>
            </a:extLst>
          </p:cNvPr>
          <p:cNvSpPr>
            <a:spLocks noGrp="1"/>
          </p:cNvSpPr>
          <p:nvPr/>
        </p:nvSpPr>
        <p:spPr>
          <a:xfrm>
            <a:off x="685800" y="2628900"/>
            <a:ext cx="590550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 i="0">
                <a:solidFill>
                  <a:srgbClr val="5B5B5B"/>
                </a:solidFill>
              </a:defRPr>
            </a:pPr>
            <a:r>
              <a:rPr sz="1350" b="0" i="0">
                <a:solidFill>
                  <a:srgbClr val="5B5B5B"/>
                </a:solidFill>
              </a:rPr>
              <a:t>Mood-based posts usually require separate choices for photos, captions, music and memes.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B1988D2-F3A5-414C-87FC-327B3D18D69C}"/>
              </a:ext>
            </a:extLst>
          </p:cNvPr>
          <p:cNvSpPr>
            <a:spLocks noGrp="1"/>
          </p:cNvSpPr>
          <p:nvPr/>
        </p:nvSpPr>
        <p:spPr>
          <a:xfrm>
            <a:off x="685800" y="3390900"/>
            <a:ext cx="5905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1" i="0">
                <a:solidFill>
                  <a:srgbClr val="111111"/>
                </a:solidFill>
              </a:defRPr>
            </a:pPr>
            <a:r>
              <a:rPr sz="1800" b="1" i="0">
                <a:solidFill>
                  <a:srgbClr val="111111"/>
                </a:solidFill>
              </a:rPr>
              <a:t>The response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7BA65E0-CA3F-49C1-83B2-6828DCB5C8C5}"/>
              </a:ext>
            </a:extLst>
          </p:cNvPr>
          <p:cNvSpPr>
            <a:spLocks noGrp="1"/>
          </p:cNvSpPr>
          <p:nvPr/>
        </p:nvSpPr>
        <p:spPr>
          <a:xfrm>
            <a:off x="685800" y="3752850"/>
            <a:ext cx="590550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 i="0">
                <a:solidFill>
                  <a:srgbClr val="5B5B5B"/>
                </a:solidFill>
              </a:defRPr>
            </a:pPr>
            <a:r>
              <a:rPr sz="1350" b="0" i="0">
                <a:solidFill>
                  <a:srgbClr val="5B5B5B"/>
                </a:solidFill>
              </a:rPr>
              <a:t>Recommendations reduce initial decision effort; editing controls keep the user in charge of the final result.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AA7AE6E-D157-4C7B-9800-D6EDFBB6F2DC}"/>
              </a:ext>
            </a:extLst>
          </p:cNvPr>
          <p:cNvSpPr>
            <a:spLocks noGrp="1"/>
          </p:cNvSpPr>
          <p:nvPr/>
        </p:nvSpPr>
        <p:spPr>
          <a:xfrm>
            <a:off x="685800" y="4905375"/>
            <a:ext cx="5143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 i="0">
                <a:solidFill>
                  <a:srgbClr val="5B5B5B"/>
                </a:solidFill>
              </a:defRPr>
            </a:pPr>
            <a:r>
              <a:rPr sz="1200" b="1" i="0">
                <a:solidFill>
                  <a:srgbClr val="5B5B5B"/>
                </a:solidFill>
              </a:rPr>
              <a:t>01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2168D59-F53E-47E0-A154-A739F20A381D}"/>
              </a:ext>
            </a:extLst>
          </p:cNvPr>
          <p:cNvSpPr>
            <a:spLocks noGrp="1"/>
          </p:cNvSpPr>
          <p:nvPr/>
        </p:nvSpPr>
        <p:spPr>
          <a:xfrm>
            <a:off x="371475" y="5257800"/>
            <a:ext cx="13144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 i="0">
                <a:solidFill>
                  <a:srgbClr val="111111"/>
                </a:solidFill>
              </a:defRPr>
            </a:pPr>
            <a:r>
              <a:rPr lang="en-SG" sz="1500" b="1" i="0" dirty="0" err="1">
                <a:solidFill>
                  <a:srgbClr val="111111"/>
                </a:solidFill>
              </a:rPr>
              <a:t>Out</a:t>
            </a:r>
            <a:r>
              <a:rPr lang="en-SG" sz="1500" b="1" dirty="0" err="1">
                <a:solidFill>
                  <a:srgbClr val="111111"/>
                </a:solidFill>
              </a:rPr>
              <a:t>f</a:t>
            </a:r>
            <a:r>
              <a:rPr sz="1500" b="1" i="0" dirty="0">
                <a:solidFill>
                  <a:srgbClr val="111111"/>
                </a:solidFill>
              </a:rPr>
              <a:t>it + face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0188147-A55A-4568-998E-3BE79A5B3B0C}"/>
              </a:ext>
            </a:extLst>
          </p:cNvPr>
          <p:cNvSpPr>
            <a:spLocks noGrp="1"/>
          </p:cNvSpPr>
          <p:nvPr/>
        </p:nvSpPr>
        <p:spPr>
          <a:xfrm>
            <a:off x="2038350" y="5162550"/>
            <a:ext cx="3429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800" b="0" i="0">
                <a:solidFill>
                  <a:srgbClr val="5B5B5B"/>
                </a:solidFill>
              </a:defRPr>
            </a:pPr>
            <a:r>
              <a:rPr sz="1800" b="0" i="0">
                <a:solidFill>
                  <a:srgbClr val="5B5B5B"/>
                </a:solidFill>
              </a:rPr>
              <a:t>→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2B3F4F5-6D95-4036-8828-8827BFFA2DA3}"/>
              </a:ext>
            </a:extLst>
          </p:cNvPr>
          <p:cNvSpPr>
            <a:spLocks noGrp="1"/>
          </p:cNvSpPr>
          <p:nvPr/>
        </p:nvSpPr>
        <p:spPr>
          <a:xfrm>
            <a:off x="2457450" y="4905375"/>
            <a:ext cx="5143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 i="0">
                <a:solidFill>
                  <a:srgbClr val="5B5B5B"/>
                </a:solidFill>
              </a:defRPr>
            </a:pPr>
            <a:r>
              <a:rPr sz="1200" b="1" i="0">
                <a:solidFill>
                  <a:srgbClr val="5B5B5B"/>
                </a:solidFill>
              </a:rPr>
              <a:t>02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5906EBE-454C-4459-933F-8A640750CA4C}"/>
              </a:ext>
            </a:extLst>
          </p:cNvPr>
          <p:cNvSpPr>
            <a:spLocks noGrp="1"/>
          </p:cNvSpPr>
          <p:nvPr/>
        </p:nvSpPr>
        <p:spPr>
          <a:xfrm>
            <a:off x="2457450" y="5238750"/>
            <a:ext cx="13144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 i="0">
                <a:solidFill>
                  <a:srgbClr val="111111"/>
                </a:solidFill>
              </a:defRPr>
            </a:pPr>
            <a:r>
              <a:rPr sz="1500" b="1" i="0">
                <a:solidFill>
                  <a:srgbClr val="111111"/>
                </a:solidFill>
              </a:rPr>
              <a:t>AI suggestions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7FD2508-4D96-4D36-AD4A-E41F740B689C}"/>
              </a:ext>
            </a:extLst>
          </p:cNvPr>
          <p:cNvSpPr>
            <a:spLocks noGrp="1"/>
          </p:cNvSpPr>
          <p:nvPr/>
        </p:nvSpPr>
        <p:spPr>
          <a:xfrm>
            <a:off x="3810000" y="5162550"/>
            <a:ext cx="3429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800" b="0" i="0">
                <a:solidFill>
                  <a:srgbClr val="5B5B5B"/>
                </a:solidFill>
              </a:defRPr>
            </a:pPr>
            <a:r>
              <a:rPr sz="1800" b="0" i="0">
                <a:solidFill>
                  <a:srgbClr val="5B5B5B"/>
                </a:solidFill>
              </a:rPr>
              <a:t>→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0290D59C-4FAB-45BA-98F5-C7AEBFE0F2CB}"/>
              </a:ext>
            </a:extLst>
          </p:cNvPr>
          <p:cNvSpPr>
            <a:spLocks noGrp="1"/>
          </p:cNvSpPr>
          <p:nvPr/>
        </p:nvSpPr>
        <p:spPr>
          <a:xfrm>
            <a:off x="4229100" y="4905375"/>
            <a:ext cx="5143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 i="0">
                <a:solidFill>
                  <a:srgbClr val="5B5B5B"/>
                </a:solidFill>
              </a:defRPr>
            </a:pPr>
            <a:r>
              <a:rPr sz="1200" b="1" i="0">
                <a:solidFill>
                  <a:srgbClr val="5B5B5B"/>
                </a:solidFill>
              </a:rPr>
              <a:t>03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F5AE767E-14EF-4D9B-8391-8FCEA2E7195F}"/>
              </a:ext>
            </a:extLst>
          </p:cNvPr>
          <p:cNvSpPr>
            <a:spLocks noGrp="1"/>
          </p:cNvSpPr>
          <p:nvPr/>
        </p:nvSpPr>
        <p:spPr>
          <a:xfrm>
            <a:off x="4229100" y="5238750"/>
            <a:ext cx="13144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 i="0">
                <a:solidFill>
                  <a:srgbClr val="111111"/>
                </a:solidFill>
              </a:defRPr>
            </a:pPr>
            <a:r>
              <a:rPr sz="1500" b="1" i="0">
                <a:solidFill>
                  <a:srgbClr val="111111"/>
                </a:solidFill>
              </a:rPr>
              <a:t>Edit card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8BD128D8-AA1C-4AC8-BE84-A22CDC4A0C72}"/>
              </a:ext>
            </a:extLst>
          </p:cNvPr>
          <p:cNvSpPr>
            <a:spLocks noGrp="1"/>
          </p:cNvSpPr>
          <p:nvPr/>
        </p:nvSpPr>
        <p:spPr>
          <a:xfrm>
            <a:off x="5581650" y="5162550"/>
            <a:ext cx="3429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800" b="0" i="0">
                <a:solidFill>
                  <a:srgbClr val="5B5B5B"/>
                </a:solidFill>
              </a:defRPr>
            </a:pPr>
            <a:r>
              <a:rPr sz="1800" b="0" i="0">
                <a:solidFill>
                  <a:srgbClr val="5B5B5B"/>
                </a:solidFill>
              </a:rPr>
              <a:t>→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055D943D-F4AF-40E0-A723-C2DAF96880CB}"/>
              </a:ext>
            </a:extLst>
          </p:cNvPr>
          <p:cNvSpPr>
            <a:spLocks noGrp="1"/>
          </p:cNvSpPr>
          <p:nvPr/>
        </p:nvSpPr>
        <p:spPr>
          <a:xfrm>
            <a:off x="6000750" y="4905375"/>
            <a:ext cx="5143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 i="0">
                <a:solidFill>
                  <a:srgbClr val="5B5B5B"/>
                </a:solidFill>
              </a:defRPr>
            </a:pPr>
            <a:r>
              <a:rPr sz="1200" b="1" i="0">
                <a:solidFill>
                  <a:srgbClr val="5B5B5B"/>
                </a:solidFill>
              </a:rPr>
              <a:t>04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A0358432-4D0D-4F3B-8335-DADCD3B5208C}"/>
              </a:ext>
            </a:extLst>
          </p:cNvPr>
          <p:cNvSpPr>
            <a:spLocks noGrp="1"/>
          </p:cNvSpPr>
          <p:nvPr/>
        </p:nvSpPr>
        <p:spPr>
          <a:xfrm>
            <a:off x="6000750" y="5238750"/>
            <a:ext cx="13144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 i="0">
                <a:solidFill>
                  <a:srgbClr val="111111"/>
                </a:solidFill>
              </a:defRPr>
            </a:pPr>
            <a:r>
              <a:rPr sz="1500" b="1" i="0">
                <a:solidFill>
                  <a:srgbClr val="111111"/>
                </a:solidFill>
              </a:rPr>
              <a:t>Publish + share</a:t>
            </a: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882CF039-8403-4031-A683-1954A753E3BA}"/>
              </a:ext>
            </a:extLst>
          </p:cNvPr>
          <p:cNvSpPr>
            <a:spLocks noGrp="1"/>
          </p:cNvSpPr>
          <p:nvPr/>
        </p:nvSpPr>
        <p:spPr>
          <a:xfrm>
            <a:off x="8401050" y="1257300"/>
            <a:ext cx="2495550" cy="5029200"/>
          </a:xfrm>
          <a:prstGeom prst="roundRect">
            <a:avLst>
              <a:gd name="adj" fmla="val 3817"/>
            </a:avLst>
          </a:prstGeom>
          <a:solidFill>
            <a:srgbClr val="FFFFFF"/>
          </a:solidFill>
          <a:ln w="9525">
            <a:solidFill>
              <a:srgbClr val="111111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46" name="Picture 45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8545434" y="1295400"/>
            <a:ext cx="2206782" cy="4953000"/>
          </a:xfrm>
          <a:prstGeom prst="roundRect">
            <a:avLst>
              <a:gd name="adj" fmla="val 3150"/>
            </a:avLst>
          </a:prstGeom>
        </p:spPr>
      </p:pic>
    </p:spTree>
    <p:extLst>
      <p:ext uri="{BB962C8B-B14F-4D97-AF65-F5344CB8AC3E}">
        <p14:creationId xmlns:p14="http://schemas.microsoft.com/office/powerpoint/2010/main" val="17736824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slide-3-title">
            <a:extLst>
              <a:ext uri="{FF2B5EF4-FFF2-40B4-BE49-F238E27FC236}">
                <a16:creationId xmlns:a16="http://schemas.microsoft.com/office/drawing/2014/main" id="{07CBE818-CD2C-48A5-AF2F-4119E9D7CB2D}"/>
              </a:ext>
            </a:extLst>
          </p:cNvPr>
          <p:cNvSpPr>
            <a:spLocks noGrp="1"/>
          </p:cNvSpPr>
          <p:nvPr/>
        </p:nvSpPr>
        <p:spPr>
          <a:xfrm>
            <a:off x="685800" y="361950"/>
            <a:ext cx="108204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850" b="1" i="0">
                <a:solidFill>
                  <a:srgbClr val="111111"/>
                </a:solidFill>
              </a:defRPr>
            </a:pPr>
            <a:r>
              <a:rPr sz="2850" b="1" i="0">
                <a:solidFill>
                  <a:srgbClr val="111111"/>
                </a:solidFill>
              </a:rPr>
              <a:t>Part 3 extends one complete data-and-AI workflow</a:t>
            </a:r>
          </a:p>
        </p:txBody>
      </p:sp>
      <p:sp>
        <p:nvSpPr>
          <p:cNvPr id="2" name="Straight Connector 1">
            <a:extLst>
              <a:ext uri="{FF2B5EF4-FFF2-40B4-BE49-F238E27FC236}">
                <a16:creationId xmlns:a16="http://schemas.microsoft.com/office/drawing/2014/main" id="{E17F30DD-40D9-442F-8A3A-D9E3F7DBF091}"/>
              </a:ext>
            </a:extLst>
          </p:cNvPr>
          <p:cNvSpPr>
            <a:spLocks noGrp="1"/>
          </p:cNvSpPr>
          <p:nvPr/>
        </p:nvSpPr>
        <p:spPr>
          <a:xfrm>
            <a:off x="685800" y="1028700"/>
            <a:ext cx="10820400" cy="0"/>
          </a:xfrm>
          <a:prstGeom prst="line">
            <a:avLst/>
          </a:prstGeom>
          <a:noFill/>
          <a:ln w="13335">
            <a:solidFill>
              <a:srgbClr val="11111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Straight Connector 2">
            <a:extLst>
              <a:ext uri="{FF2B5EF4-FFF2-40B4-BE49-F238E27FC236}">
                <a16:creationId xmlns:a16="http://schemas.microsoft.com/office/drawing/2014/main" id="{05EB3F10-DBEE-4577-B39F-CA9B32F388EF}"/>
              </a:ext>
            </a:extLst>
          </p:cNvPr>
          <p:cNvSpPr>
            <a:spLocks noGrp="1"/>
          </p:cNvSpPr>
          <p:nvPr/>
        </p:nvSpPr>
        <p:spPr>
          <a:xfrm>
            <a:off x="685800" y="6457950"/>
            <a:ext cx="10820400" cy="0"/>
          </a:xfrm>
          <a:prstGeom prst="line">
            <a:avLst/>
          </a:prstGeom>
          <a:noFill/>
          <a:ln w="9525">
            <a:solidFill>
              <a:srgbClr val="D8D8D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FE16FEE-1406-4EB4-9F4E-A532AA7106BE}"/>
              </a:ext>
            </a:extLst>
          </p:cNvPr>
          <p:cNvSpPr>
            <a:spLocks noGrp="1"/>
          </p:cNvSpPr>
          <p:nvPr/>
        </p:nvSpPr>
        <p:spPr>
          <a:xfrm>
            <a:off x="685800" y="6515100"/>
            <a:ext cx="2857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 i="0">
                <a:solidFill>
                  <a:srgbClr val="5B5B5B"/>
                </a:solidFill>
              </a:defRPr>
            </a:pPr>
            <a:r>
              <a:rPr sz="1200" b="1" i="0">
                <a:solidFill>
                  <a:srgbClr val="5B5B5B"/>
                </a:solidFill>
              </a:rPr>
              <a:t>AURAFARM  •  PART 3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09E2E0B-27CD-4E2B-854C-811DE8306DEC}"/>
              </a:ext>
            </a:extLst>
          </p:cNvPr>
          <p:cNvSpPr>
            <a:spLocks noGrp="1"/>
          </p:cNvSpPr>
          <p:nvPr/>
        </p:nvSpPr>
        <p:spPr>
          <a:xfrm>
            <a:off x="11010900" y="6515100"/>
            <a:ext cx="495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200" b="1" i="0">
                <a:solidFill>
                  <a:srgbClr val="5B5B5B"/>
                </a:solidFill>
              </a:defRPr>
            </a:pPr>
            <a:r>
              <a:rPr sz="1200" b="1" i="0">
                <a:solidFill>
                  <a:srgbClr val="5B5B5B"/>
                </a:solidFill>
              </a:rPr>
              <a:t>03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3502257-6538-411A-8DE6-E3ACD7D7F7BD}"/>
              </a:ext>
            </a:extLst>
          </p:cNvPr>
          <p:cNvSpPr>
            <a:spLocks noGrp="1"/>
          </p:cNvSpPr>
          <p:nvPr/>
        </p:nvSpPr>
        <p:spPr>
          <a:xfrm>
            <a:off x="685800" y="1352550"/>
            <a:ext cx="238125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3900" b="1" i="0">
                <a:solidFill>
                  <a:srgbClr val="111111"/>
                </a:solidFill>
              </a:defRPr>
            </a:pPr>
            <a:r>
              <a:rPr lang="en-SG" sz="3900" b="1" dirty="0">
                <a:solidFill>
                  <a:srgbClr val="111111"/>
                </a:solidFill>
              </a:rPr>
              <a:t>5</a:t>
            </a:r>
            <a:endParaRPr sz="3900" b="1" i="0" dirty="0">
              <a:solidFill>
                <a:srgbClr val="111111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1036DA8-BA33-4C59-A8AB-51660302AA9A}"/>
              </a:ext>
            </a:extLst>
          </p:cNvPr>
          <p:cNvSpPr>
            <a:spLocks noGrp="1"/>
          </p:cNvSpPr>
          <p:nvPr/>
        </p:nvSpPr>
        <p:spPr>
          <a:xfrm>
            <a:off x="685800" y="1981200"/>
            <a:ext cx="23812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350" b="0" i="0">
                <a:solidFill>
                  <a:srgbClr val="5B5B5B"/>
                </a:solidFill>
              </a:defRPr>
            </a:pPr>
            <a:r>
              <a:rPr sz="1350" b="0" i="0">
                <a:solidFill>
                  <a:srgbClr val="5B5B5B"/>
                </a:solidFill>
              </a:rPr>
              <a:t>CRUD operations</a:t>
            </a:r>
          </a:p>
        </p:txBody>
      </p:sp>
      <p:sp>
        <p:nvSpPr>
          <p:cNvPr id="8" name="Straight Connector 7">
            <a:extLst>
              <a:ext uri="{FF2B5EF4-FFF2-40B4-BE49-F238E27FC236}">
                <a16:creationId xmlns:a16="http://schemas.microsoft.com/office/drawing/2014/main" id="{F3DBBC94-DB28-458D-8DAA-68A499569E88}"/>
              </a:ext>
            </a:extLst>
          </p:cNvPr>
          <p:cNvSpPr>
            <a:spLocks noGrp="1"/>
          </p:cNvSpPr>
          <p:nvPr/>
        </p:nvSpPr>
        <p:spPr>
          <a:xfrm>
            <a:off x="3267075" y="1381125"/>
            <a:ext cx="0" cy="990600"/>
          </a:xfrm>
          <a:prstGeom prst="line">
            <a:avLst/>
          </a:prstGeom>
          <a:noFill/>
          <a:ln w="9525">
            <a:solidFill>
              <a:srgbClr val="D8D8D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B322422-8E1A-4B3B-8F4D-F17BE9DA26E9}"/>
              </a:ext>
            </a:extLst>
          </p:cNvPr>
          <p:cNvSpPr>
            <a:spLocks noGrp="1"/>
          </p:cNvSpPr>
          <p:nvPr/>
        </p:nvSpPr>
        <p:spPr>
          <a:xfrm>
            <a:off x="3457575" y="1352550"/>
            <a:ext cx="238125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3900" b="1" i="0">
                <a:solidFill>
                  <a:srgbClr val="111111"/>
                </a:solidFill>
              </a:defRPr>
            </a:pPr>
            <a:r>
              <a:rPr sz="3900" b="1" i="0">
                <a:solidFill>
                  <a:srgbClr val="111111"/>
                </a:solidFill>
              </a:rPr>
              <a:t>5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D1AEE16-66BA-4D7D-A0B9-6C1AEBA0C3A9}"/>
              </a:ext>
            </a:extLst>
          </p:cNvPr>
          <p:cNvSpPr>
            <a:spLocks noGrp="1"/>
          </p:cNvSpPr>
          <p:nvPr/>
        </p:nvSpPr>
        <p:spPr>
          <a:xfrm>
            <a:off x="3457575" y="1981200"/>
            <a:ext cx="23812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350" b="0" i="0">
                <a:solidFill>
                  <a:srgbClr val="5B5B5B"/>
                </a:solidFill>
              </a:defRPr>
            </a:pPr>
            <a:r>
              <a:rPr sz="1350" b="0" i="0">
                <a:solidFill>
                  <a:srgbClr val="5B5B5B"/>
                </a:solidFill>
              </a:rPr>
              <a:t>query categories in the UI</a:t>
            </a:r>
          </a:p>
        </p:txBody>
      </p:sp>
      <p:sp>
        <p:nvSpPr>
          <p:cNvPr id="11" name="Straight Connector 10">
            <a:extLst>
              <a:ext uri="{FF2B5EF4-FFF2-40B4-BE49-F238E27FC236}">
                <a16:creationId xmlns:a16="http://schemas.microsoft.com/office/drawing/2014/main" id="{45E3B9A2-8293-43CE-9E2A-AB2611745395}"/>
              </a:ext>
            </a:extLst>
          </p:cNvPr>
          <p:cNvSpPr>
            <a:spLocks noGrp="1"/>
          </p:cNvSpPr>
          <p:nvPr/>
        </p:nvSpPr>
        <p:spPr>
          <a:xfrm>
            <a:off x="6038850" y="1381125"/>
            <a:ext cx="0" cy="990600"/>
          </a:xfrm>
          <a:prstGeom prst="line">
            <a:avLst/>
          </a:prstGeom>
          <a:noFill/>
          <a:ln w="9525">
            <a:solidFill>
              <a:srgbClr val="D8D8D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1A10D4C-59BD-48A9-8916-F0B4ABB08E16}"/>
              </a:ext>
            </a:extLst>
          </p:cNvPr>
          <p:cNvSpPr>
            <a:spLocks noGrp="1"/>
          </p:cNvSpPr>
          <p:nvPr/>
        </p:nvSpPr>
        <p:spPr>
          <a:xfrm>
            <a:off x="6229350" y="1352550"/>
            <a:ext cx="238125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3900" b="1" i="0">
                <a:solidFill>
                  <a:srgbClr val="111111"/>
                </a:solidFill>
              </a:defRPr>
            </a:pPr>
            <a:r>
              <a:rPr sz="3900" b="1" i="0">
                <a:solidFill>
                  <a:srgbClr val="111111"/>
                </a:solidFill>
              </a:rPr>
              <a:t>1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FC7C2A2-4CDE-4B09-BF8B-6B44E1BBF2B4}"/>
              </a:ext>
            </a:extLst>
          </p:cNvPr>
          <p:cNvSpPr>
            <a:spLocks noGrp="1"/>
          </p:cNvSpPr>
          <p:nvPr/>
        </p:nvSpPr>
        <p:spPr>
          <a:xfrm>
            <a:off x="6229350" y="1981200"/>
            <a:ext cx="23812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350" b="0" i="0">
                <a:solidFill>
                  <a:srgbClr val="5B5B5B"/>
                </a:solidFill>
              </a:defRPr>
            </a:pPr>
            <a:r>
              <a:rPr sz="1350" b="0" i="0">
                <a:solidFill>
                  <a:srgbClr val="5B5B5B"/>
                </a:solidFill>
              </a:rPr>
              <a:t>core AI workflow</a:t>
            </a:r>
          </a:p>
        </p:txBody>
      </p:sp>
      <p:sp>
        <p:nvSpPr>
          <p:cNvPr id="14" name="Straight Connector 13">
            <a:extLst>
              <a:ext uri="{FF2B5EF4-FFF2-40B4-BE49-F238E27FC236}">
                <a16:creationId xmlns:a16="http://schemas.microsoft.com/office/drawing/2014/main" id="{711C2EB7-99B5-4190-A0A2-D70B9E377FA5}"/>
              </a:ext>
            </a:extLst>
          </p:cNvPr>
          <p:cNvSpPr>
            <a:spLocks noGrp="1"/>
          </p:cNvSpPr>
          <p:nvPr/>
        </p:nvSpPr>
        <p:spPr>
          <a:xfrm>
            <a:off x="8810625" y="1381125"/>
            <a:ext cx="0" cy="990600"/>
          </a:xfrm>
          <a:prstGeom prst="line">
            <a:avLst/>
          </a:prstGeom>
          <a:noFill/>
          <a:ln w="9525">
            <a:solidFill>
              <a:srgbClr val="D8D8D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6388FB0E-1656-458E-BE27-5A4CC2DDAF28}"/>
              </a:ext>
            </a:extLst>
          </p:cNvPr>
          <p:cNvSpPr>
            <a:spLocks noGrp="1"/>
          </p:cNvSpPr>
          <p:nvPr/>
        </p:nvSpPr>
        <p:spPr>
          <a:xfrm>
            <a:off x="9001125" y="1352550"/>
            <a:ext cx="238125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3900" b="1" i="0">
                <a:solidFill>
                  <a:srgbClr val="111111"/>
                </a:solidFill>
              </a:defRPr>
            </a:pPr>
            <a:r>
              <a:rPr lang="en-SG" sz="3900" b="1" dirty="0">
                <a:solidFill>
                  <a:srgbClr val="111111"/>
                </a:solidFill>
              </a:rPr>
              <a:t>6</a:t>
            </a:r>
            <a:endParaRPr sz="3900" b="1" i="0" dirty="0">
              <a:solidFill>
                <a:srgbClr val="111111"/>
              </a:solidFill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9DB7ADC-6A5A-4F57-BFF6-DA19FAED0D5E}"/>
              </a:ext>
            </a:extLst>
          </p:cNvPr>
          <p:cNvSpPr>
            <a:spLocks noGrp="1"/>
          </p:cNvSpPr>
          <p:nvPr/>
        </p:nvSpPr>
        <p:spPr>
          <a:xfrm>
            <a:off x="9001125" y="1981200"/>
            <a:ext cx="23812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350" b="0" i="0">
                <a:solidFill>
                  <a:srgbClr val="5B5B5B"/>
                </a:solidFill>
              </a:defRPr>
            </a:pPr>
            <a:r>
              <a:rPr sz="1350" b="0" i="0">
                <a:solidFill>
                  <a:srgbClr val="5B5B5B"/>
                </a:solidFill>
              </a:rPr>
              <a:t>additional features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BFAE79ED-9E63-4785-B817-5A368C32F813}"/>
              </a:ext>
            </a:extLst>
          </p:cNvPr>
          <p:cNvSpPr>
            <a:spLocks noGrp="1"/>
          </p:cNvSpPr>
          <p:nvPr/>
        </p:nvSpPr>
        <p:spPr>
          <a:xfrm>
            <a:off x="685800" y="3028950"/>
            <a:ext cx="26670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1" i="0">
                <a:solidFill>
                  <a:srgbClr val="111111"/>
                </a:solidFill>
              </a:defRPr>
            </a:pPr>
            <a:r>
              <a:rPr sz="1800" b="1" i="0">
                <a:solidFill>
                  <a:srgbClr val="111111"/>
                </a:solidFill>
              </a:rPr>
              <a:t>Implementation path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D9E291C1-1CFB-4572-A03A-71A8AFD66A87}"/>
              </a:ext>
            </a:extLst>
          </p:cNvPr>
          <p:cNvSpPr>
            <a:spLocks noGrp="1"/>
          </p:cNvSpPr>
          <p:nvPr/>
        </p:nvSpPr>
        <p:spPr>
          <a:xfrm>
            <a:off x="685800" y="3657600"/>
            <a:ext cx="2000250" cy="1066800"/>
          </a:xfrm>
          <a:prstGeom prst="roundRect">
            <a:avLst>
              <a:gd name="adj" fmla="val 8929"/>
            </a:avLst>
          </a:prstGeom>
          <a:solidFill>
            <a:srgbClr val="FFFFFF"/>
          </a:solidFill>
          <a:ln w="11430">
            <a:solidFill>
              <a:srgbClr val="11111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76217F78-B7C9-4D2A-8BB0-90FF338C34E0}"/>
              </a:ext>
            </a:extLst>
          </p:cNvPr>
          <p:cNvSpPr>
            <a:spLocks noGrp="1"/>
          </p:cNvSpPr>
          <p:nvPr/>
        </p:nvSpPr>
        <p:spPr>
          <a:xfrm>
            <a:off x="819150" y="3886200"/>
            <a:ext cx="17335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650" b="1" i="0">
                <a:solidFill>
                  <a:srgbClr val="111111"/>
                </a:solidFill>
              </a:defRPr>
            </a:pPr>
            <a:r>
              <a:rPr sz="1650" b="1" i="0">
                <a:solidFill>
                  <a:srgbClr val="111111"/>
                </a:solidFill>
              </a:rPr>
              <a:t>Flutter UI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CFA32954-63AE-4A57-AB6E-C9BEAC1511C5}"/>
              </a:ext>
            </a:extLst>
          </p:cNvPr>
          <p:cNvSpPr>
            <a:spLocks noGrp="1"/>
          </p:cNvSpPr>
          <p:nvPr/>
        </p:nvSpPr>
        <p:spPr>
          <a:xfrm>
            <a:off x="819150" y="4276725"/>
            <a:ext cx="17335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00" b="0" i="0">
                <a:solidFill>
                  <a:srgbClr val="5B5B5B"/>
                </a:solidFill>
              </a:defRPr>
            </a:pPr>
            <a:r>
              <a:rPr sz="1200" b="0" i="0">
                <a:solidFill>
                  <a:srgbClr val="5B5B5B"/>
                </a:solidFill>
              </a:rPr>
              <a:t>screens + widgets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796227C3-4F25-4A73-9EAC-F3E1CD848386}"/>
              </a:ext>
            </a:extLst>
          </p:cNvPr>
          <p:cNvSpPr>
            <a:spLocks noGrp="1"/>
          </p:cNvSpPr>
          <p:nvPr/>
        </p:nvSpPr>
        <p:spPr>
          <a:xfrm>
            <a:off x="2809875" y="3990975"/>
            <a:ext cx="4572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950" b="0" i="0">
                <a:solidFill>
                  <a:srgbClr val="5B5B5B"/>
                </a:solidFill>
              </a:defRPr>
            </a:pPr>
            <a:r>
              <a:rPr sz="1950" b="0" i="0">
                <a:solidFill>
                  <a:srgbClr val="5B5B5B"/>
                </a:solidFill>
              </a:rPr>
              <a:t>→</a:t>
            </a: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E8871700-4D31-4519-A294-C53D0EACB221}"/>
              </a:ext>
            </a:extLst>
          </p:cNvPr>
          <p:cNvSpPr>
            <a:spLocks noGrp="1"/>
          </p:cNvSpPr>
          <p:nvPr/>
        </p:nvSpPr>
        <p:spPr>
          <a:xfrm>
            <a:off x="3390900" y="3657600"/>
            <a:ext cx="2000250" cy="1066800"/>
          </a:xfrm>
          <a:prstGeom prst="roundRect">
            <a:avLst>
              <a:gd name="adj" fmla="val 8929"/>
            </a:avLst>
          </a:prstGeom>
          <a:solidFill>
            <a:srgbClr val="FFFFFF"/>
          </a:solidFill>
          <a:ln w="11430">
            <a:solidFill>
              <a:srgbClr val="11111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7C1C1CE4-E22B-4104-BC1F-E6B09EEE605D}"/>
              </a:ext>
            </a:extLst>
          </p:cNvPr>
          <p:cNvSpPr>
            <a:spLocks noGrp="1"/>
          </p:cNvSpPr>
          <p:nvPr/>
        </p:nvSpPr>
        <p:spPr>
          <a:xfrm>
            <a:off x="3524250" y="3886200"/>
            <a:ext cx="17335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650" b="1" i="0">
                <a:solidFill>
                  <a:srgbClr val="111111"/>
                </a:solidFill>
              </a:defRPr>
            </a:pPr>
            <a:r>
              <a:rPr sz="1650" b="1" i="0">
                <a:solidFill>
                  <a:srgbClr val="111111"/>
                </a:solidFill>
              </a:rPr>
              <a:t>Riverpod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370F14DA-FD84-4A08-A9A8-61793CA917FC}"/>
              </a:ext>
            </a:extLst>
          </p:cNvPr>
          <p:cNvSpPr>
            <a:spLocks noGrp="1"/>
          </p:cNvSpPr>
          <p:nvPr/>
        </p:nvSpPr>
        <p:spPr>
          <a:xfrm>
            <a:off x="3524250" y="4276725"/>
            <a:ext cx="17335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00" b="0" i="0">
                <a:solidFill>
                  <a:srgbClr val="5B5B5B"/>
                </a:solidFill>
              </a:defRPr>
            </a:pPr>
            <a:r>
              <a:rPr sz="1200" b="0" i="0">
                <a:solidFill>
                  <a:srgbClr val="5B5B5B"/>
                </a:solidFill>
              </a:rPr>
              <a:t>async state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8F76DA68-54E9-4DF8-AB58-45C1321966F6}"/>
              </a:ext>
            </a:extLst>
          </p:cNvPr>
          <p:cNvSpPr>
            <a:spLocks noGrp="1"/>
          </p:cNvSpPr>
          <p:nvPr/>
        </p:nvSpPr>
        <p:spPr>
          <a:xfrm>
            <a:off x="5514975" y="3990975"/>
            <a:ext cx="4572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950" b="0" i="0">
                <a:solidFill>
                  <a:srgbClr val="5B5B5B"/>
                </a:solidFill>
              </a:defRPr>
            </a:pPr>
            <a:r>
              <a:rPr sz="1950" b="0" i="0">
                <a:solidFill>
                  <a:srgbClr val="5B5B5B"/>
                </a:solidFill>
              </a:rPr>
              <a:t>→</a:t>
            </a: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F4425D83-BD2A-4629-B3B5-B757D0E9BD65}"/>
              </a:ext>
            </a:extLst>
          </p:cNvPr>
          <p:cNvSpPr>
            <a:spLocks noGrp="1"/>
          </p:cNvSpPr>
          <p:nvPr/>
        </p:nvSpPr>
        <p:spPr>
          <a:xfrm>
            <a:off x="6096000" y="3657600"/>
            <a:ext cx="2000250" cy="1066800"/>
          </a:xfrm>
          <a:prstGeom prst="roundRect">
            <a:avLst>
              <a:gd name="adj" fmla="val 8929"/>
            </a:avLst>
          </a:prstGeom>
          <a:solidFill>
            <a:srgbClr val="FFFFFF"/>
          </a:solidFill>
          <a:ln w="11430">
            <a:solidFill>
              <a:srgbClr val="11111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9D366414-4C57-4B98-81F2-EF3D0C710A6B}"/>
              </a:ext>
            </a:extLst>
          </p:cNvPr>
          <p:cNvSpPr>
            <a:spLocks noGrp="1"/>
          </p:cNvSpPr>
          <p:nvPr/>
        </p:nvSpPr>
        <p:spPr>
          <a:xfrm>
            <a:off x="6229350" y="3886200"/>
            <a:ext cx="17335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650" b="1" i="0">
                <a:solidFill>
                  <a:srgbClr val="111111"/>
                </a:solidFill>
              </a:defRPr>
            </a:pPr>
            <a:r>
              <a:rPr sz="1650" b="1" i="0">
                <a:solidFill>
                  <a:srgbClr val="111111"/>
                </a:solidFill>
              </a:rPr>
              <a:t>Services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4864D782-60FC-416F-933E-84E25B6D59D5}"/>
              </a:ext>
            </a:extLst>
          </p:cNvPr>
          <p:cNvSpPr>
            <a:spLocks noGrp="1"/>
          </p:cNvSpPr>
          <p:nvPr/>
        </p:nvSpPr>
        <p:spPr>
          <a:xfrm>
            <a:off x="6229350" y="4276725"/>
            <a:ext cx="17335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00" b="0" i="0">
                <a:solidFill>
                  <a:srgbClr val="5B5B5B"/>
                </a:solidFill>
              </a:defRPr>
            </a:pPr>
            <a:r>
              <a:rPr sz="1200" b="0" i="0">
                <a:solidFill>
                  <a:srgbClr val="5B5B5B"/>
                </a:solidFill>
              </a:rPr>
              <a:t>auth • data • AI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54824AA8-0AA3-4929-AEA8-1A29216FE13B}"/>
              </a:ext>
            </a:extLst>
          </p:cNvPr>
          <p:cNvSpPr>
            <a:spLocks noGrp="1"/>
          </p:cNvSpPr>
          <p:nvPr/>
        </p:nvSpPr>
        <p:spPr>
          <a:xfrm>
            <a:off x="8220075" y="3990975"/>
            <a:ext cx="4572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950" b="0" i="0">
                <a:solidFill>
                  <a:srgbClr val="5B5B5B"/>
                </a:solidFill>
              </a:defRPr>
            </a:pPr>
            <a:r>
              <a:rPr sz="1950" b="0" i="0">
                <a:solidFill>
                  <a:srgbClr val="5B5B5B"/>
                </a:solidFill>
              </a:rPr>
              <a:t>→</a:t>
            </a:r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4D5362DB-199D-4001-9E42-BDA1D2D90555}"/>
              </a:ext>
            </a:extLst>
          </p:cNvPr>
          <p:cNvSpPr>
            <a:spLocks noGrp="1"/>
          </p:cNvSpPr>
          <p:nvPr/>
        </p:nvSpPr>
        <p:spPr>
          <a:xfrm>
            <a:off x="8801100" y="3657600"/>
            <a:ext cx="2000250" cy="1066800"/>
          </a:xfrm>
          <a:prstGeom prst="roundRect">
            <a:avLst>
              <a:gd name="adj" fmla="val 8929"/>
            </a:avLst>
          </a:prstGeom>
          <a:solidFill>
            <a:srgbClr val="FFFFFF"/>
          </a:solidFill>
          <a:ln w="11430">
            <a:solidFill>
              <a:srgbClr val="11111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94B46952-4D90-405F-B024-C57D0F661970}"/>
              </a:ext>
            </a:extLst>
          </p:cNvPr>
          <p:cNvSpPr>
            <a:spLocks noGrp="1"/>
          </p:cNvSpPr>
          <p:nvPr/>
        </p:nvSpPr>
        <p:spPr>
          <a:xfrm>
            <a:off x="8934450" y="3886200"/>
            <a:ext cx="17335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650" b="1" i="0">
                <a:solidFill>
                  <a:srgbClr val="111111"/>
                </a:solidFill>
              </a:defRPr>
            </a:pPr>
            <a:r>
              <a:rPr sz="1650" b="1" i="0">
                <a:solidFill>
                  <a:srgbClr val="111111"/>
                </a:solidFill>
              </a:rPr>
              <a:t>External systems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42F80EA6-E10D-499B-92BA-46B3ACF59453}"/>
              </a:ext>
            </a:extLst>
          </p:cNvPr>
          <p:cNvSpPr>
            <a:spLocks noGrp="1"/>
          </p:cNvSpPr>
          <p:nvPr/>
        </p:nvSpPr>
        <p:spPr>
          <a:xfrm>
            <a:off x="8934450" y="4276725"/>
            <a:ext cx="17335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00" b="0" i="0">
                <a:solidFill>
                  <a:srgbClr val="5B5B5B"/>
                </a:solidFill>
              </a:defRPr>
            </a:pPr>
            <a:r>
              <a:rPr sz="1200" b="0" i="0" dirty="0">
                <a:solidFill>
                  <a:srgbClr val="5B5B5B"/>
                </a:solidFill>
              </a:rPr>
              <a:t>Firebase • Gemini • music</a:t>
            </a:r>
            <a:r>
              <a:rPr lang="en-SG" sz="1200" b="0" i="0" dirty="0">
                <a:solidFill>
                  <a:srgbClr val="5B5B5B"/>
                </a:solidFill>
              </a:rPr>
              <a:t> (iTunes)</a:t>
            </a:r>
            <a:endParaRPr sz="1200" b="0" i="0" dirty="0">
              <a:solidFill>
                <a:srgbClr val="5B5B5B"/>
              </a:solidFill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685800" y="4983480"/>
            <a:ext cx="36576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111111"/>
                </a:solidFill>
                <a:latin typeface="Calibri"/>
              </a:rPr>
              <a:t>Authentication carried over from Part 2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85800" y="5394960"/>
            <a:ext cx="108173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50">
                <a:solidFill>
                  <a:srgbClr val="5B5B5B"/>
                </a:solidFill>
                <a:latin typeface="Calibri"/>
              </a:rPr>
              <a:t>Email sign-up and login, password reset, change password and email verification, plus Google and GitHub sign-in on web.</a:t>
            </a:r>
          </a:p>
        </p:txBody>
      </p:sp>
    </p:spTree>
    <p:extLst>
      <p:ext uri="{BB962C8B-B14F-4D97-AF65-F5344CB8AC3E}">
        <p14:creationId xmlns:p14="http://schemas.microsoft.com/office/powerpoint/2010/main" val="133385966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slide-4-title">
            <a:extLst>
              <a:ext uri="{FF2B5EF4-FFF2-40B4-BE49-F238E27FC236}">
                <a16:creationId xmlns:a16="http://schemas.microsoft.com/office/drawing/2014/main" id="{3C603B68-D017-4D0B-B09D-52FEA8C6B8EA}"/>
              </a:ext>
            </a:extLst>
          </p:cNvPr>
          <p:cNvSpPr>
            <a:spLocks noGrp="1"/>
          </p:cNvSpPr>
          <p:nvPr/>
        </p:nvSpPr>
        <p:spPr>
          <a:xfrm>
            <a:off x="685800" y="361950"/>
            <a:ext cx="108204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850" b="1" i="0">
                <a:solidFill>
                  <a:srgbClr val="111111"/>
                </a:solidFill>
              </a:defRPr>
            </a:pPr>
            <a:r>
              <a:rPr sz="2850" b="1" i="0" dirty="0">
                <a:solidFill>
                  <a:srgbClr val="111111"/>
                </a:solidFill>
              </a:rPr>
              <a:t>One Vibe Card domain completes all five CRUD operations</a:t>
            </a:r>
          </a:p>
        </p:txBody>
      </p:sp>
      <p:sp>
        <p:nvSpPr>
          <p:cNvPr id="2" name="Straight Connector 1">
            <a:extLst>
              <a:ext uri="{FF2B5EF4-FFF2-40B4-BE49-F238E27FC236}">
                <a16:creationId xmlns:a16="http://schemas.microsoft.com/office/drawing/2014/main" id="{A362CDC5-5905-48B8-954B-561BFCBB105E}"/>
              </a:ext>
            </a:extLst>
          </p:cNvPr>
          <p:cNvSpPr>
            <a:spLocks noGrp="1"/>
          </p:cNvSpPr>
          <p:nvPr/>
        </p:nvSpPr>
        <p:spPr>
          <a:xfrm>
            <a:off x="685800" y="1028700"/>
            <a:ext cx="10820400" cy="0"/>
          </a:xfrm>
          <a:prstGeom prst="line">
            <a:avLst/>
          </a:prstGeom>
          <a:noFill/>
          <a:ln w="13335">
            <a:solidFill>
              <a:srgbClr val="11111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Straight Connector 2">
            <a:extLst>
              <a:ext uri="{FF2B5EF4-FFF2-40B4-BE49-F238E27FC236}">
                <a16:creationId xmlns:a16="http://schemas.microsoft.com/office/drawing/2014/main" id="{7907F587-EE9F-4162-9237-ED6BFD68C18B}"/>
              </a:ext>
            </a:extLst>
          </p:cNvPr>
          <p:cNvSpPr>
            <a:spLocks noGrp="1"/>
          </p:cNvSpPr>
          <p:nvPr/>
        </p:nvSpPr>
        <p:spPr>
          <a:xfrm>
            <a:off x="685800" y="6457950"/>
            <a:ext cx="10820400" cy="0"/>
          </a:xfrm>
          <a:prstGeom prst="line">
            <a:avLst/>
          </a:prstGeom>
          <a:noFill/>
          <a:ln w="9525">
            <a:solidFill>
              <a:srgbClr val="D8D8D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C6C0EAC-9205-41C5-BA5D-079D60EE2CF2}"/>
              </a:ext>
            </a:extLst>
          </p:cNvPr>
          <p:cNvSpPr>
            <a:spLocks noGrp="1"/>
          </p:cNvSpPr>
          <p:nvPr/>
        </p:nvSpPr>
        <p:spPr>
          <a:xfrm>
            <a:off x="685800" y="6515100"/>
            <a:ext cx="2857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 i="0">
                <a:solidFill>
                  <a:srgbClr val="5B5B5B"/>
                </a:solidFill>
              </a:defRPr>
            </a:pPr>
            <a:r>
              <a:rPr sz="1200" b="1" i="0">
                <a:solidFill>
                  <a:srgbClr val="5B5B5B"/>
                </a:solidFill>
              </a:rPr>
              <a:t>AURAFARM  •  PART 3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887777B-08E6-4F32-9FBF-ACC99CC1AD3E}"/>
              </a:ext>
            </a:extLst>
          </p:cNvPr>
          <p:cNvSpPr>
            <a:spLocks noGrp="1"/>
          </p:cNvSpPr>
          <p:nvPr/>
        </p:nvSpPr>
        <p:spPr>
          <a:xfrm>
            <a:off x="11010900" y="6515100"/>
            <a:ext cx="495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200" b="1" i="0">
                <a:solidFill>
                  <a:srgbClr val="5B5B5B"/>
                </a:solidFill>
              </a:defRPr>
            </a:pPr>
            <a:r>
              <a:rPr sz="1200" b="1" i="0">
                <a:solidFill>
                  <a:srgbClr val="5B5B5B"/>
                </a:solidFill>
              </a:rPr>
              <a:t>04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5992DB1-ACAA-410F-B2CA-74B694E1026B}"/>
              </a:ext>
            </a:extLst>
          </p:cNvPr>
          <p:cNvSpPr>
            <a:spLocks noGrp="1"/>
          </p:cNvSpPr>
          <p:nvPr/>
        </p:nvSpPr>
        <p:spPr>
          <a:xfrm>
            <a:off x="685800" y="1390650"/>
            <a:ext cx="5334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 i="0">
                <a:solidFill>
                  <a:srgbClr val="5B5B5B"/>
                </a:solidFill>
              </a:defRPr>
            </a:pPr>
            <a:r>
              <a:rPr sz="1350" b="1" i="0">
                <a:solidFill>
                  <a:srgbClr val="5B5B5B"/>
                </a:solidFill>
              </a:rPr>
              <a:t>01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B3528DB-5AC2-4312-8073-3965064D754A}"/>
              </a:ext>
            </a:extLst>
          </p:cNvPr>
          <p:cNvSpPr>
            <a:spLocks noGrp="1"/>
          </p:cNvSpPr>
          <p:nvPr/>
        </p:nvSpPr>
        <p:spPr>
          <a:xfrm>
            <a:off x="1352550" y="1352550"/>
            <a:ext cx="1428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1" i="0">
                <a:solidFill>
                  <a:srgbClr val="111111"/>
                </a:solidFill>
              </a:defRPr>
            </a:pPr>
            <a:r>
              <a:rPr sz="1800" b="1" i="0">
                <a:solidFill>
                  <a:srgbClr val="111111"/>
                </a:solidFill>
              </a:rPr>
              <a:t>Insert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187EE08-D172-415C-B044-6D03E20D2B68}"/>
              </a:ext>
            </a:extLst>
          </p:cNvPr>
          <p:cNvSpPr>
            <a:spLocks noGrp="1"/>
          </p:cNvSpPr>
          <p:nvPr/>
        </p:nvSpPr>
        <p:spPr>
          <a:xfrm>
            <a:off x="2857500" y="1371600"/>
            <a:ext cx="47625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 i="0">
                <a:solidFill>
                  <a:srgbClr val="5B5B5B"/>
                </a:solidFill>
              </a:defRPr>
            </a:pPr>
            <a:r>
              <a:rPr sz="1350" b="0" i="0">
                <a:solidFill>
                  <a:srgbClr val="5B5B5B"/>
                </a:solidFill>
              </a:rPr>
              <a:t>The editor writes a completed card to Firestore.</a:t>
            </a:r>
          </a:p>
        </p:txBody>
      </p:sp>
      <p:sp>
        <p:nvSpPr>
          <p:cNvPr id="13" name="Straight Connector 12">
            <a:extLst>
              <a:ext uri="{FF2B5EF4-FFF2-40B4-BE49-F238E27FC236}">
                <a16:creationId xmlns:a16="http://schemas.microsoft.com/office/drawing/2014/main" id="{E807CA59-8D10-4D12-91EB-5CC7FCD52E69}"/>
              </a:ext>
            </a:extLst>
          </p:cNvPr>
          <p:cNvSpPr>
            <a:spLocks noGrp="1"/>
          </p:cNvSpPr>
          <p:nvPr/>
        </p:nvSpPr>
        <p:spPr>
          <a:xfrm>
            <a:off x="685800" y="1981201"/>
            <a:ext cx="6858000" cy="0"/>
          </a:xfrm>
          <a:prstGeom prst="line">
            <a:avLst/>
          </a:prstGeom>
          <a:noFill/>
          <a:ln w="9525">
            <a:solidFill>
              <a:srgbClr val="D8D8D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79B3C94-6FD6-42CE-B54F-AFA83CA95879}"/>
              </a:ext>
            </a:extLst>
          </p:cNvPr>
          <p:cNvSpPr>
            <a:spLocks noGrp="1"/>
          </p:cNvSpPr>
          <p:nvPr/>
        </p:nvSpPr>
        <p:spPr>
          <a:xfrm>
            <a:off x="685800" y="3181351"/>
            <a:ext cx="5334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 i="0">
                <a:solidFill>
                  <a:srgbClr val="5B5B5B"/>
                </a:solidFill>
              </a:defRPr>
            </a:pPr>
            <a:r>
              <a:rPr sz="1350" b="1" i="0" dirty="0">
                <a:solidFill>
                  <a:srgbClr val="5B5B5B"/>
                </a:solidFill>
              </a:rPr>
              <a:t>03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2134BE5-6F9A-49E5-AB55-6899D0F98572}"/>
              </a:ext>
            </a:extLst>
          </p:cNvPr>
          <p:cNvSpPr>
            <a:spLocks noGrp="1"/>
          </p:cNvSpPr>
          <p:nvPr/>
        </p:nvSpPr>
        <p:spPr>
          <a:xfrm>
            <a:off x="1352550" y="3143251"/>
            <a:ext cx="1428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1" i="0">
                <a:solidFill>
                  <a:srgbClr val="111111"/>
                </a:solidFill>
              </a:defRPr>
            </a:pPr>
            <a:r>
              <a:rPr sz="1800" b="1" i="0">
                <a:solidFill>
                  <a:srgbClr val="111111"/>
                </a:solidFill>
              </a:rPr>
              <a:t>Select one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AA5741E-E0C4-4175-9ED3-0039865CB9F3}"/>
              </a:ext>
            </a:extLst>
          </p:cNvPr>
          <p:cNvSpPr>
            <a:spLocks noGrp="1"/>
          </p:cNvSpPr>
          <p:nvPr/>
        </p:nvSpPr>
        <p:spPr>
          <a:xfrm>
            <a:off x="2857500" y="3162301"/>
            <a:ext cx="47625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 i="0">
                <a:solidFill>
                  <a:srgbClr val="5B5B5B"/>
                </a:solidFill>
              </a:defRPr>
            </a:pPr>
            <a:r>
              <a:rPr sz="1350" b="0" i="0">
                <a:solidFill>
                  <a:srgbClr val="5B5B5B"/>
                </a:solidFill>
              </a:rPr>
              <a:t>Detail streams one ID; edit loads one snapshot.</a:t>
            </a:r>
          </a:p>
        </p:txBody>
      </p:sp>
      <p:sp>
        <p:nvSpPr>
          <p:cNvPr id="17" name="Straight Connector 16">
            <a:extLst>
              <a:ext uri="{FF2B5EF4-FFF2-40B4-BE49-F238E27FC236}">
                <a16:creationId xmlns:a16="http://schemas.microsoft.com/office/drawing/2014/main" id="{3DDBC588-2028-4999-830E-3AB44CB6C5F7}"/>
              </a:ext>
            </a:extLst>
          </p:cNvPr>
          <p:cNvSpPr>
            <a:spLocks noGrp="1"/>
          </p:cNvSpPr>
          <p:nvPr/>
        </p:nvSpPr>
        <p:spPr>
          <a:xfrm>
            <a:off x="685800" y="3810001"/>
            <a:ext cx="6858000" cy="0"/>
          </a:xfrm>
          <a:prstGeom prst="line">
            <a:avLst/>
          </a:prstGeom>
          <a:noFill/>
          <a:ln w="9525">
            <a:solidFill>
              <a:srgbClr val="D8D8D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60455B60-6DDA-4EE6-A19A-54F2DCEA79FB}"/>
              </a:ext>
            </a:extLst>
          </p:cNvPr>
          <p:cNvSpPr>
            <a:spLocks noGrp="1"/>
          </p:cNvSpPr>
          <p:nvPr/>
        </p:nvSpPr>
        <p:spPr>
          <a:xfrm>
            <a:off x="685800" y="4095751"/>
            <a:ext cx="5334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 i="0">
                <a:solidFill>
                  <a:srgbClr val="5B5B5B"/>
                </a:solidFill>
              </a:defRPr>
            </a:pPr>
            <a:r>
              <a:rPr sz="1350" b="1" i="0" dirty="0">
                <a:solidFill>
                  <a:srgbClr val="5B5B5B"/>
                </a:solidFill>
              </a:rPr>
              <a:t>04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582EDEBF-A8E6-4A29-BE6C-947F2977BD3B}"/>
              </a:ext>
            </a:extLst>
          </p:cNvPr>
          <p:cNvSpPr>
            <a:spLocks noGrp="1"/>
          </p:cNvSpPr>
          <p:nvPr/>
        </p:nvSpPr>
        <p:spPr>
          <a:xfrm>
            <a:off x="1352550" y="4057650"/>
            <a:ext cx="1428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1" i="0">
                <a:solidFill>
                  <a:srgbClr val="111111"/>
                </a:solidFill>
              </a:defRPr>
            </a:pPr>
            <a:r>
              <a:rPr sz="1800" b="1" i="0">
                <a:solidFill>
                  <a:srgbClr val="111111"/>
                </a:solidFill>
              </a:rPr>
              <a:t>Update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A25DA1CB-6C1D-49F5-9B50-BA1A5D28C6CD}"/>
              </a:ext>
            </a:extLst>
          </p:cNvPr>
          <p:cNvSpPr>
            <a:spLocks noGrp="1"/>
          </p:cNvSpPr>
          <p:nvPr/>
        </p:nvSpPr>
        <p:spPr>
          <a:xfrm>
            <a:off x="2857500" y="4076701"/>
            <a:ext cx="47625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 i="0">
                <a:solidFill>
                  <a:srgbClr val="5B5B5B"/>
                </a:solidFill>
              </a:defRPr>
            </a:pPr>
            <a:r>
              <a:rPr sz="1350" b="0" i="0">
                <a:solidFill>
                  <a:srgbClr val="5B5B5B"/>
                </a:solidFill>
              </a:rPr>
              <a:t>Only editable fields are written back.</a:t>
            </a:r>
          </a:p>
        </p:txBody>
      </p:sp>
      <p:sp>
        <p:nvSpPr>
          <p:cNvPr id="21" name="Straight Connector 20">
            <a:extLst>
              <a:ext uri="{FF2B5EF4-FFF2-40B4-BE49-F238E27FC236}">
                <a16:creationId xmlns:a16="http://schemas.microsoft.com/office/drawing/2014/main" id="{24C260B6-4F96-44C5-9946-EA6BB90A40E2}"/>
              </a:ext>
            </a:extLst>
          </p:cNvPr>
          <p:cNvSpPr>
            <a:spLocks noGrp="1"/>
          </p:cNvSpPr>
          <p:nvPr/>
        </p:nvSpPr>
        <p:spPr>
          <a:xfrm>
            <a:off x="685800" y="4724401"/>
            <a:ext cx="6858000" cy="0"/>
          </a:xfrm>
          <a:prstGeom prst="line">
            <a:avLst/>
          </a:prstGeom>
          <a:noFill/>
          <a:ln w="9525">
            <a:solidFill>
              <a:srgbClr val="D8D8D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285C09AA-5C2C-4D6D-94A8-0A03F3E585E1}"/>
              </a:ext>
            </a:extLst>
          </p:cNvPr>
          <p:cNvSpPr>
            <a:spLocks noGrp="1"/>
          </p:cNvSpPr>
          <p:nvPr/>
        </p:nvSpPr>
        <p:spPr>
          <a:xfrm>
            <a:off x="685800" y="5010151"/>
            <a:ext cx="5334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 i="0">
                <a:solidFill>
                  <a:srgbClr val="5B5B5B"/>
                </a:solidFill>
              </a:defRPr>
            </a:pPr>
            <a:r>
              <a:rPr sz="1350" b="1" i="0" dirty="0">
                <a:solidFill>
                  <a:srgbClr val="5B5B5B"/>
                </a:solidFill>
              </a:rPr>
              <a:t>05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99BFE19D-6156-4943-8E93-7AF0D1BBBB63}"/>
              </a:ext>
            </a:extLst>
          </p:cNvPr>
          <p:cNvSpPr>
            <a:spLocks noGrp="1"/>
          </p:cNvSpPr>
          <p:nvPr/>
        </p:nvSpPr>
        <p:spPr>
          <a:xfrm>
            <a:off x="1352550" y="4972051"/>
            <a:ext cx="1428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1" i="0">
                <a:solidFill>
                  <a:srgbClr val="111111"/>
                </a:solidFill>
              </a:defRPr>
            </a:pPr>
            <a:r>
              <a:rPr sz="1800" b="1" i="0">
                <a:solidFill>
                  <a:srgbClr val="111111"/>
                </a:solidFill>
              </a:rPr>
              <a:t>Delete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A10806D0-3364-4624-82AE-8F1A6C4763D9}"/>
              </a:ext>
            </a:extLst>
          </p:cNvPr>
          <p:cNvSpPr>
            <a:spLocks noGrp="1"/>
          </p:cNvSpPr>
          <p:nvPr/>
        </p:nvSpPr>
        <p:spPr>
          <a:xfrm>
            <a:off x="2857500" y="4991101"/>
            <a:ext cx="47625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 i="0">
                <a:solidFill>
                  <a:srgbClr val="5B5B5B"/>
                </a:solidFill>
              </a:defRPr>
            </a:pPr>
            <a:r>
              <a:rPr sz="1350" b="0" i="0">
                <a:solidFill>
                  <a:srgbClr val="5B5B5B"/>
                </a:solidFill>
              </a:rPr>
              <a:t>The owner confirms before permanent removal.</a:t>
            </a:r>
          </a:p>
        </p:txBody>
      </p:sp>
      <p:sp>
        <p:nvSpPr>
          <p:cNvPr id="25" name="Straight Connector 24">
            <a:extLst>
              <a:ext uri="{FF2B5EF4-FFF2-40B4-BE49-F238E27FC236}">
                <a16:creationId xmlns:a16="http://schemas.microsoft.com/office/drawing/2014/main" id="{8838DF98-7DD5-41C7-B923-5CC252A2CF6F}"/>
              </a:ext>
            </a:extLst>
          </p:cNvPr>
          <p:cNvSpPr>
            <a:spLocks noGrp="1"/>
          </p:cNvSpPr>
          <p:nvPr/>
        </p:nvSpPr>
        <p:spPr>
          <a:xfrm>
            <a:off x="685800" y="5638801"/>
            <a:ext cx="6858000" cy="0"/>
          </a:xfrm>
          <a:prstGeom prst="line">
            <a:avLst/>
          </a:prstGeom>
          <a:noFill/>
          <a:ln w="9525">
            <a:solidFill>
              <a:srgbClr val="D8D8D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8C1BC1BF-C1F9-4A65-BF00-5F8A6B4A3350}"/>
              </a:ext>
            </a:extLst>
          </p:cNvPr>
          <p:cNvSpPr>
            <a:spLocks noGrp="1"/>
          </p:cNvSpPr>
          <p:nvPr/>
        </p:nvSpPr>
        <p:spPr>
          <a:xfrm>
            <a:off x="8553450" y="1238250"/>
            <a:ext cx="2457450" cy="5029200"/>
          </a:xfrm>
          <a:prstGeom prst="roundRect">
            <a:avLst>
              <a:gd name="adj" fmla="val 3876"/>
            </a:avLst>
          </a:prstGeom>
          <a:solidFill>
            <a:srgbClr val="FFFFFF"/>
          </a:solidFill>
          <a:ln w="9525">
            <a:solidFill>
              <a:srgbClr val="111111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54" name="Picture 53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8679695" y="1278395"/>
            <a:ext cx="2204960" cy="4948911"/>
          </a:xfrm>
          <a:prstGeom prst="roundRect">
            <a:avLst>
              <a:gd name="adj" fmla="val 3200"/>
            </a:avLst>
          </a:prstGeom>
        </p:spPr>
      </p:pic>
      <p:sp>
        <p:nvSpPr>
          <p:cNvPr id="9" name="Rectangle 6">
            <a:extLst>
              <a:ext uri="{FF2B5EF4-FFF2-40B4-BE49-F238E27FC236}">
                <a16:creationId xmlns:a16="http://schemas.microsoft.com/office/drawing/2014/main" id="{DB3528DB-5AC2-4312-8073-3965064D754A}"/>
              </a:ext>
            </a:extLst>
          </p:cNvPr>
          <p:cNvSpPr>
            <a:spLocks noGrp="1"/>
          </p:cNvSpPr>
          <p:nvPr/>
        </p:nvSpPr>
        <p:spPr>
          <a:xfrm>
            <a:off x="1352550" y="2231136"/>
            <a:ext cx="1428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1" i="0">
                <a:solidFill>
                  <a:srgbClr val="111111"/>
                </a:solidFill>
              </a:defRPr>
            </a:pPr>
            <a:r>
              <a:rPr sz="1800" b="1" i="0">
                <a:solidFill>
                  <a:srgbClr val="111111"/>
                </a:solidFill>
              </a:rPr>
              <a:t>Select all</a:t>
            </a:r>
          </a:p>
        </p:txBody>
      </p:sp>
      <p:sp>
        <p:nvSpPr>
          <p:cNvPr id="10" name="Rectangle 7">
            <a:extLst>
              <a:ext uri="{FF2B5EF4-FFF2-40B4-BE49-F238E27FC236}">
                <a16:creationId xmlns:a16="http://schemas.microsoft.com/office/drawing/2014/main" id="{8187EE08-D172-415C-B044-6D03E20D2B68}"/>
              </a:ext>
            </a:extLst>
          </p:cNvPr>
          <p:cNvSpPr>
            <a:spLocks noGrp="1"/>
          </p:cNvSpPr>
          <p:nvPr/>
        </p:nvSpPr>
        <p:spPr>
          <a:xfrm>
            <a:off x="2857500" y="2249424"/>
            <a:ext cx="47625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 i="0">
                <a:solidFill>
                  <a:srgbClr val="5B5B5B"/>
                </a:solidFill>
              </a:defRPr>
            </a:pPr>
            <a:r>
              <a:rPr sz="1350" b="0" i="0">
                <a:solidFill>
                  <a:srgbClr val="5B5B5B"/>
                </a:solidFill>
              </a:rPr>
              <a:t>The home feed streams every card in the posts collection.</a:t>
            </a:r>
          </a:p>
        </p:txBody>
      </p:sp>
      <p:sp>
        <p:nvSpPr>
          <p:cNvPr id="11" name="Rectangle 5">
            <a:extLst>
              <a:ext uri="{FF2B5EF4-FFF2-40B4-BE49-F238E27FC236}">
                <a16:creationId xmlns:a16="http://schemas.microsoft.com/office/drawing/2014/main" id="{25992DB1-ACAA-410F-B2CA-74B694E1026B}"/>
              </a:ext>
            </a:extLst>
          </p:cNvPr>
          <p:cNvSpPr>
            <a:spLocks noGrp="1"/>
          </p:cNvSpPr>
          <p:nvPr/>
        </p:nvSpPr>
        <p:spPr>
          <a:xfrm>
            <a:off x="685800" y="2267712"/>
            <a:ext cx="5334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 i="0">
                <a:solidFill>
                  <a:srgbClr val="5B5B5B"/>
                </a:solidFill>
              </a:defRPr>
            </a:pPr>
            <a:r>
              <a:rPr sz="1350" b="1" i="0">
                <a:solidFill>
                  <a:srgbClr val="5B5B5B"/>
                </a:solidFill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5895994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slide-5-title">
            <a:extLst>
              <a:ext uri="{FF2B5EF4-FFF2-40B4-BE49-F238E27FC236}">
                <a16:creationId xmlns:a16="http://schemas.microsoft.com/office/drawing/2014/main" id="{5EDFDEE1-6CE3-41CE-B1F2-07ED556AEAFD}"/>
              </a:ext>
            </a:extLst>
          </p:cNvPr>
          <p:cNvSpPr>
            <a:spLocks noGrp="1"/>
          </p:cNvSpPr>
          <p:nvPr/>
        </p:nvSpPr>
        <p:spPr>
          <a:xfrm>
            <a:off x="685800" y="361950"/>
            <a:ext cx="108204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850" b="1" i="0">
                <a:solidFill>
                  <a:srgbClr val="111111"/>
                </a:solidFill>
              </a:defRPr>
            </a:pPr>
            <a:r>
              <a:rPr sz="2850" b="1" i="0">
                <a:solidFill>
                  <a:srgbClr val="111111"/>
                </a:solidFill>
              </a:rPr>
              <a:t>Five required advanced-query categories are implemented</a:t>
            </a:r>
          </a:p>
        </p:txBody>
      </p:sp>
      <p:sp>
        <p:nvSpPr>
          <p:cNvPr id="2" name="Straight Connector 1">
            <a:extLst>
              <a:ext uri="{FF2B5EF4-FFF2-40B4-BE49-F238E27FC236}">
                <a16:creationId xmlns:a16="http://schemas.microsoft.com/office/drawing/2014/main" id="{CF21C306-DE05-4EE1-8599-4D7ECE89BB2E}"/>
              </a:ext>
            </a:extLst>
          </p:cNvPr>
          <p:cNvSpPr>
            <a:spLocks noGrp="1"/>
          </p:cNvSpPr>
          <p:nvPr/>
        </p:nvSpPr>
        <p:spPr>
          <a:xfrm>
            <a:off x="685800" y="1028700"/>
            <a:ext cx="10820400" cy="0"/>
          </a:xfrm>
          <a:prstGeom prst="line">
            <a:avLst/>
          </a:prstGeom>
          <a:noFill/>
          <a:ln w="13335">
            <a:solidFill>
              <a:srgbClr val="11111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Straight Connector 2">
            <a:extLst>
              <a:ext uri="{FF2B5EF4-FFF2-40B4-BE49-F238E27FC236}">
                <a16:creationId xmlns:a16="http://schemas.microsoft.com/office/drawing/2014/main" id="{B3D29342-D467-455A-9677-784F23DC151C}"/>
              </a:ext>
            </a:extLst>
          </p:cNvPr>
          <p:cNvSpPr>
            <a:spLocks noGrp="1"/>
          </p:cNvSpPr>
          <p:nvPr/>
        </p:nvSpPr>
        <p:spPr>
          <a:xfrm>
            <a:off x="685800" y="6457950"/>
            <a:ext cx="10820400" cy="0"/>
          </a:xfrm>
          <a:prstGeom prst="line">
            <a:avLst/>
          </a:prstGeom>
          <a:noFill/>
          <a:ln w="9525">
            <a:solidFill>
              <a:srgbClr val="D8D8D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48D107C-DC88-4371-94E4-CA9099C28D33}"/>
              </a:ext>
            </a:extLst>
          </p:cNvPr>
          <p:cNvSpPr>
            <a:spLocks noGrp="1"/>
          </p:cNvSpPr>
          <p:nvPr/>
        </p:nvSpPr>
        <p:spPr>
          <a:xfrm>
            <a:off x="685800" y="6515100"/>
            <a:ext cx="2857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 i="0">
                <a:solidFill>
                  <a:srgbClr val="5B5B5B"/>
                </a:solidFill>
              </a:defRPr>
            </a:pPr>
            <a:r>
              <a:rPr sz="1200" b="1" i="0">
                <a:solidFill>
                  <a:srgbClr val="5B5B5B"/>
                </a:solidFill>
              </a:rPr>
              <a:t>AURAFARM  •  PART 3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5140E88-EB69-46EE-BDF5-77A061A40825}"/>
              </a:ext>
            </a:extLst>
          </p:cNvPr>
          <p:cNvSpPr>
            <a:spLocks noGrp="1"/>
          </p:cNvSpPr>
          <p:nvPr/>
        </p:nvSpPr>
        <p:spPr>
          <a:xfrm>
            <a:off x="11010900" y="6515100"/>
            <a:ext cx="495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200" b="1" i="0">
                <a:solidFill>
                  <a:srgbClr val="5B5B5B"/>
                </a:solidFill>
              </a:defRPr>
            </a:pPr>
            <a:r>
              <a:rPr sz="1200" b="1" i="0">
                <a:solidFill>
                  <a:srgbClr val="5B5B5B"/>
                </a:solidFill>
              </a:rPr>
              <a:t>05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7AAEAF5-87FF-4007-85AF-58D76981139F}"/>
              </a:ext>
            </a:extLst>
          </p:cNvPr>
          <p:cNvSpPr>
            <a:spLocks noGrp="1"/>
          </p:cNvSpPr>
          <p:nvPr/>
        </p:nvSpPr>
        <p:spPr>
          <a:xfrm>
            <a:off x="685800" y="1295400"/>
            <a:ext cx="2381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 i="0">
                <a:solidFill>
                  <a:srgbClr val="111111"/>
                </a:solidFill>
              </a:defRPr>
            </a:pPr>
            <a:r>
              <a:rPr sz="1350" b="1" i="0">
                <a:solidFill>
                  <a:srgbClr val="111111"/>
                </a:solidFill>
              </a:rPr>
              <a:t>Rubric category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3641B4D-562A-4D72-9A86-EABD4FDCBE88}"/>
              </a:ext>
            </a:extLst>
          </p:cNvPr>
          <p:cNvSpPr>
            <a:spLocks noGrp="1"/>
          </p:cNvSpPr>
          <p:nvPr/>
        </p:nvSpPr>
        <p:spPr>
          <a:xfrm>
            <a:off x="3371850" y="1295400"/>
            <a:ext cx="3429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 i="0">
                <a:solidFill>
                  <a:srgbClr val="111111"/>
                </a:solidFill>
              </a:defRPr>
            </a:pPr>
            <a:r>
              <a:rPr sz="1350" b="1" i="0">
                <a:solidFill>
                  <a:srgbClr val="111111"/>
                </a:solidFill>
              </a:rPr>
              <a:t>Firestore logic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D7E2C39-AF16-4F8D-8E04-5E1485230FF9}"/>
              </a:ext>
            </a:extLst>
          </p:cNvPr>
          <p:cNvSpPr>
            <a:spLocks noGrp="1"/>
          </p:cNvSpPr>
          <p:nvPr/>
        </p:nvSpPr>
        <p:spPr>
          <a:xfrm>
            <a:off x="7239000" y="1295400"/>
            <a:ext cx="4191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 i="0">
                <a:solidFill>
                  <a:srgbClr val="111111"/>
                </a:solidFill>
              </a:defRPr>
            </a:pPr>
            <a:r>
              <a:rPr sz="1350" b="1" i="0">
                <a:solidFill>
                  <a:srgbClr val="111111"/>
                </a:solidFill>
              </a:rPr>
              <a:t>Visible proof</a:t>
            </a:r>
          </a:p>
        </p:txBody>
      </p:sp>
      <p:sp>
        <p:nvSpPr>
          <p:cNvPr id="9" name="Straight Connector 8">
            <a:extLst>
              <a:ext uri="{FF2B5EF4-FFF2-40B4-BE49-F238E27FC236}">
                <a16:creationId xmlns:a16="http://schemas.microsoft.com/office/drawing/2014/main" id="{8F760388-9E2C-47CE-A68B-A3E69C0FA0ED}"/>
              </a:ext>
            </a:extLst>
          </p:cNvPr>
          <p:cNvSpPr>
            <a:spLocks noGrp="1"/>
          </p:cNvSpPr>
          <p:nvPr/>
        </p:nvSpPr>
        <p:spPr>
          <a:xfrm>
            <a:off x="685800" y="1657350"/>
            <a:ext cx="10820400" cy="0"/>
          </a:xfrm>
          <a:prstGeom prst="line">
            <a:avLst/>
          </a:prstGeom>
          <a:noFill/>
          <a:ln w="11430">
            <a:solidFill>
              <a:srgbClr val="11111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091519A-8132-43D5-BF6A-2FD28F791B1D}"/>
              </a:ext>
            </a:extLst>
          </p:cNvPr>
          <p:cNvSpPr>
            <a:spLocks noGrp="1"/>
          </p:cNvSpPr>
          <p:nvPr/>
        </p:nvSpPr>
        <p:spPr>
          <a:xfrm>
            <a:off x="685800" y="1847850"/>
            <a:ext cx="23812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 i="0">
                <a:solidFill>
                  <a:srgbClr val="111111"/>
                </a:solidFill>
              </a:defRPr>
            </a:pPr>
            <a:r>
              <a:rPr sz="1500" b="1" i="0">
                <a:solidFill>
                  <a:srgbClr val="111111"/>
                </a:solidFill>
              </a:rPr>
              <a:t>One non-ID filter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93810EF-715A-4D6B-B706-2B5F945AF1E0}"/>
              </a:ext>
            </a:extLst>
          </p:cNvPr>
          <p:cNvSpPr>
            <a:spLocks noGrp="1"/>
          </p:cNvSpPr>
          <p:nvPr/>
        </p:nvSpPr>
        <p:spPr>
          <a:xfrm>
            <a:off x="3371850" y="1847850"/>
            <a:ext cx="34290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 i="0">
                <a:solidFill>
                  <a:srgbClr val="5B5B5B"/>
                </a:solidFill>
              </a:defRPr>
            </a:pPr>
            <a:r>
              <a:rPr sz="1350" b="0" i="0">
                <a:solidFill>
                  <a:srgbClr val="5B5B5B"/>
                </a:solidFill>
              </a:rPr>
              <a:t>memeName == value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BB01347-E638-4661-821D-9019749D8E0F}"/>
              </a:ext>
            </a:extLst>
          </p:cNvPr>
          <p:cNvSpPr>
            <a:spLocks noGrp="1"/>
          </p:cNvSpPr>
          <p:nvPr/>
        </p:nvSpPr>
        <p:spPr>
          <a:xfrm>
            <a:off x="7239000" y="1847850"/>
            <a:ext cx="40957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 i="0">
                <a:solidFill>
                  <a:srgbClr val="5B5B5B"/>
                </a:solidFill>
              </a:defRPr>
            </a:pPr>
            <a:r>
              <a:rPr sz="1350" b="0" i="0">
                <a:solidFill>
                  <a:srgbClr val="5B5B5B"/>
                </a:solidFill>
              </a:rPr>
              <a:t>Meme filter result</a:t>
            </a:r>
          </a:p>
        </p:txBody>
      </p:sp>
      <p:sp>
        <p:nvSpPr>
          <p:cNvPr id="13" name="Straight Connector 12">
            <a:extLst>
              <a:ext uri="{FF2B5EF4-FFF2-40B4-BE49-F238E27FC236}">
                <a16:creationId xmlns:a16="http://schemas.microsoft.com/office/drawing/2014/main" id="{A46DB30F-4B45-4573-BD84-C73B4997B9FC}"/>
              </a:ext>
            </a:extLst>
          </p:cNvPr>
          <p:cNvSpPr>
            <a:spLocks noGrp="1"/>
          </p:cNvSpPr>
          <p:nvPr/>
        </p:nvSpPr>
        <p:spPr>
          <a:xfrm>
            <a:off x="685800" y="2457450"/>
            <a:ext cx="10820400" cy="0"/>
          </a:xfrm>
          <a:prstGeom prst="line">
            <a:avLst/>
          </a:prstGeom>
          <a:noFill/>
          <a:ln w="9525">
            <a:solidFill>
              <a:srgbClr val="D8D8D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6E41F2C-8ABB-4EF5-A981-7F56C3544E8A}"/>
              </a:ext>
            </a:extLst>
          </p:cNvPr>
          <p:cNvSpPr>
            <a:spLocks noGrp="1"/>
          </p:cNvSpPr>
          <p:nvPr/>
        </p:nvSpPr>
        <p:spPr>
          <a:xfrm>
            <a:off x="685800" y="2686050"/>
            <a:ext cx="23812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 i="0">
                <a:solidFill>
                  <a:srgbClr val="111111"/>
                </a:solidFill>
              </a:defRPr>
            </a:pPr>
            <a:r>
              <a:rPr sz="1500" b="1" i="0">
                <a:solidFill>
                  <a:srgbClr val="111111"/>
                </a:solidFill>
              </a:rPr>
              <a:t>Same-field criteria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7733EDF2-250C-4025-A8DA-D8839D3D7523}"/>
              </a:ext>
            </a:extLst>
          </p:cNvPr>
          <p:cNvSpPr>
            <a:spLocks noGrp="1"/>
          </p:cNvSpPr>
          <p:nvPr/>
        </p:nvSpPr>
        <p:spPr>
          <a:xfrm>
            <a:off x="3371850" y="2686050"/>
            <a:ext cx="34290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 i="0">
                <a:solidFill>
                  <a:srgbClr val="5B5B5B"/>
                </a:solidFill>
              </a:defRPr>
            </a:pPr>
            <a:r>
              <a:rPr sz="1350" b="0" i="0">
                <a:solidFill>
                  <a:srgbClr val="5B5B5B"/>
                </a:solidFill>
              </a:rPr>
              <a:t>likes ≥ minimum  AND  likes ≤ maximum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C4CC500-C615-4FD8-A544-504607F16CFC}"/>
              </a:ext>
            </a:extLst>
          </p:cNvPr>
          <p:cNvSpPr>
            <a:spLocks noGrp="1"/>
          </p:cNvSpPr>
          <p:nvPr/>
        </p:nvSpPr>
        <p:spPr>
          <a:xfrm>
            <a:off x="7239000" y="2686050"/>
            <a:ext cx="40957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 i="0">
                <a:solidFill>
                  <a:srgbClr val="5B5B5B"/>
                </a:solidFill>
              </a:defRPr>
            </a:pPr>
            <a:r>
              <a:rPr sz="1350" b="0" i="0">
                <a:solidFill>
                  <a:srgbClr val="5B5B5B"/>
                </a:solidFill>
              </a:rPr>
              <a:t>Likes-range result</a:t>
            </a:r>
          </a:p>
        </p:txBody>
      </p:sp>
      <p:sp>
        <p:nvSpPr>
          <p:cNvPr id="17" name="Straight Connector 16">
            <a:extLst>
              <a:ext uri="{FF2B5EF4-FFF2-40B4-BE49-F238E27FC236}">
                <a16:creationId xmlns:a16="http://schemas.microsoft.com/office/drawing/2014/main" id="{ED93650A-9EE3-4920-BB64-57D0E41C5623}"/>
              </a:ext>
            </a:extLst>
          </p:cNvPr>
          <p:cNvSpPr>
            <a:spLocks noGrp="1"/>
          </p:cNvSpPr>
          <p:nvPr/>
        </p:nvSpPr>
        <p:spPr>
          <a:xfrm>
            <a:off x="685800" y="3295650"/>
            <a:ext cx="10820400" cy="0"/>
          </a:xfrm>
          <a:prstGeom prst="line">
            <a:avLst/>
          </a:prstGeom>
          <a:noFill/>
          <a:ln w="9525">
            <a:solidFill>
              <a:srgbClr val="D8D8D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83EE28D8-AD8B-424F-819B-D6168753C2DD}"/>
              </a:ext>
            </a:extLst>
          </p:cNvPr>
          <p:cNvSpPr>
            <a:spLocks noGrp="1"/>
          </p:cNvSpPr>
          <p:nvPr/>
        </p:nvSpPr>
        <p:spPr>
          <a:xfrm>
            <a:off x="685800" y="3524250"/>
            <a:ext cx="23812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 i="0">
                <a:solidFill>
                  <a:srgbClr val="111111"/>
                </a:solidFill>
              </a:defRPr>
            </a:pPr>
            <a:r>
              <a:rPr sz="1500" b="1" i="0">
                <a:solidFill>
                  <a:srgbClr val="111111"/>
                </a:solidFill>
              </a:rPr>
              <a:t>Different fields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99D1D599-8FCF-4AD1-B5E7-C1C53A98C04A}"/>
              </a:ext>
            </a:extLst>
          </p:cNvPr>
          <p:cNvSpPr>
            <a:spLocks noGrp="1"/>
          </p:cNvSpPr>
          <p:nvPr/>
        </p:nvSpPr>
        <p:spPr>
          <a:xfrm>
            <a:off x="3371850" y="3524250"/>
            <a:ext cx="34290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 i="0">
                <a:solidFill>
                  <a:srgbClr val="5B5B5B"/>
                </a:solidFill>
              </a:defRPr>
            </a:pPr>
            <a:r>
              <a:rPr sz="1350" b="0" i="0">
                <a:solidFill>
                  <a:srgbClr val="5B5B5B"/>
                </a:solidFill>
              </a:rPr>
              <a:t>memeName == value  AND  likes in range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D34D87B7-319C-4DB8-AA45-D685CE1A4916}"/>
              </a:ext>
            </a:extLst>
          </p:cNvPr>
          <p:cNvSpPr>
            <a:spLocks noGrp="1"/>
          </p:cNvSpPr>
          <p:nvPr/>
        </p:nvSpPr>
        <p:spPr>
          <a:xfrm>
            <a:off x="7239000" y="3524250"/>
            <a:ext cx="40957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 i="0">
                <a:solidFill>
                  <a:srgbClr val="5B5B5B"/>
                </a:solidFill>
              </a:defRPr>
            </a:pPr>
            <a:r>
              <a:rPr sz="1350" b="0" i="0">
                <a:solidFill>
                  <a:srgbClr val="5B5B5B"/>
                </a:solidFill>
              </a:rPr>
              <a:t>Meme + likes result</a:t>
            </a:r>
          </a:p>
        </p:txBody>
      </p:sp>
      <p:sp>
        <p:nvSpPr>
          <p:cNvPr id="21" name="Straight Connector 20">
            <a:extLst>
              <a:ext uri="{FF2B5EF4-FFF2-40B4-BE49-F238E27FC236}">
                <a16:creationId xmlns:a16="http://schemas.microsoft.com/office/drawing/2014/main" id="{509EB7EE-5448-4872-A111-3B10EC396490}"/>
              </a:ext>
            </a:extLst>
          </p:cNvPr>
          <p:cNvSpPr>
            <a:spLocks noGrp="1"/>
          </p:cNvSpPr>
          <p:nvPr/>
        </p:nvSpPr>
        <p:spPr>
          <a:xfrm>
            <a:off x="685800" y="4133850"/>
            <a:ext cx="10820400" cy="0"/>
          </a:xfrm>
          <a:prstGeom prst="line">
            <a:avLst/>
          </a:prstGeom>
          <a:noFill/>
          <a:ln w="9525">
            <a:solidFill>
              <a:srgbClr val="D8D8D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45E1FC78-635D-490F-BCF6-6BF4BF18D779}"/>
              </a:ext>
            </a:extLst>
          </p:cNvPr>
          <p:cNvSpPr>
            <a:spLocks noGrp="1"/>
          </p:cNvSpPr>
          <p:nvPr/>
        </p:nvSpPr>
        <p:spPr>
          <a:xfrm>
            <a:off x="685800" y="4362450"/>
            <a:ext cx="23812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 i="0">
                <a:solidFill>
                  <a:srgbClr val="111111"/>
                </a:solidFill>
              </a:defRPr>
            </a:pPr>
            <a:r>
              <a:rPr sz="1500" b="1" i="0">
                <a:solidFill>
                  <a:srgbClr val="111111"/>
                </a:solidFill>
              </a:rPr>
              <a:t>Sort order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9F4D743C-D70E-48BF-BA50-B9F8A441BE59}"/>
              </a:ext>
            </a:extLst>
          </p:cNvPr>
          <p:cNvSpPr>
            <a:spLocks noGrp="1"/>
          </p:cNvSpPr>
          <p:nvPr/>
        </p:nvSpPr>
        <p:spPr>
          <a:xfrm>
            <a:off x="3371850" y="4362450"/>
            <a:ext cx="34290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 i="0">
                <a:solidFill>
                  <a:srgbClr val="5B5B5B"/>
                </a:solidFill>
              </a:defRPr>
            </a:pPr>
            <a:r>
              <a:rPr sz="1350" b="0" i="0">
                <a:solidFill>
                  <a:srgbClr val="5B5B5B"/>
                </a:solidFill>
              </a:rPr>
              <a:t>orderBy(createdAt)  /  orderBy(likes)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34EE370F-87C8-4E2D-89DC-EA99C17D8F11}"/>
              </a:ext>
            </a:extLst>
          </p:cNvPr>
          <p:cNvSpPr>
            <a:spLocks noGrp="1"/>
          </p:cNvSpPr>
          <p:nvPr/>
        </p:nvSpPr>
        <p:spPr>
          <a:xfrm>
            <a:off x="7239000" y="4362450"/>
            <a:ext cx="40957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 i="0">
                <a:solidFill>
                  <a:srgbClr val="5B5B5B"/>
                </a:solidFill>
              </a:defRPr>
            </a:pPr>
            <a:r>
              <a:rPr sz="1350" b="0" i="0">
                <a:solidFill>
                  <a:srgbClr val="5B5B5B"/>
                </a:solidFill>
              </a:rPr>
              <a:t>Newest vs Trending</a:t>
            </a:r>
          </a:p>
        </p:txBody>
      </p:sp>
      <p:sp>
        <p:nvSpPr>
          <p:cNvPr id="25" name="Straight Connector 24">
            <a:extLst>
              <a:ext uri="{FF2B5EF4-FFF2-40B4-BE49-F238E27FC236}">
                <a16:creationId xmlns:a16="http://schemas.microsoft.com/office/drawing/2014/main" id="{3C4C578F-8E34-4DBA-B8D1-1033632BF90C}"/>
              </a:ext>
            </a:extLst>
          </p:cNvPr>
          <p:cNvSpPr>
            <a:spLocks noGrp="1"/>
          </p:cNvSpPr>
          <p:nvPr/>
        </p:nvSpPr>
        <p:spPr>
          <a:xfrm>
            <a:off x="685800" y="4972050"/>
            <a:ext cx="10820400" cy="0"/>
          </a:xfrm>
          <a:prstGeom prst="line">
            <a:avLst/>
          </a:prstGeom>
          <a:noFill/>
          <a:ln w="9525">
            <a:solidFill>
              <a:srgbClr val="D8D8D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AB5436C0-22D1-4857-9525-F37EA4C73A4A}"/>
              </a:ext>
            </a:extLst>
          </p:cNvPr>
          <p:cNvSpPr>
            <a:spLocks noGrp="1"/>
          </p:cNvSpPr>
          <p:nvPr/>
        </p:nvSpPr>
        <p:spPr>
          <a:xfrm>
            <a:off x="685800" y="5200650"/>
            <a:ext cx="23812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 i="0">
                <a:solidFill>
                  <a:srgbClr val="111111"/>
                </a:solidFill>
              </a:defRPr>
            </a:pPr>
            <a:r>
              <a:rPr sz="1500" b="1" i="0">
                <a:solidFill>
                  <a:srgbClr val="111111"/>
                </a:solidFill>
              </a:rPr>
              <a:t>Aggregation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A6CD6A4C-22EA-4905-BD0E-7C08F0C84449}"/>
              </a:ext>
            </a:extLst>
          </p:cNvPr>
          <p:cNvSpPr>
            <a:spLocks noGrp="1"/>
          </p:cNvSpPr>
          <p:nvPr/>
        </p:nvSpPr>
        <p:spPr>
          <a:xfrm>
            <a:off x="3371850" y="5200650"/>
            <a:ext cx="34290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 i="0">
                <a:solidFill>
                  <a:srgbClr val="5B5B5B"/>
                </a:solidFill>
              </a:defRPr>
            </a:pPr>
            <a:r>
              <a:rPr sz="1350" b="0" i="0">
                <a:solidFill>
                  <a:srgbClr val="5B5B5B"/>
                </a:solidFill>
              </a:rPr>
              <a:t>count  +  sum(likes)  +  average(likes)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4BC9248D-1DAA-4718-898F-4A19B0BA278A}"/>
              </a:ext>
            </a:extLst>
          </p:cNvPr>
          <p:cNvSpPr>
            <a:spLocks noGrp="1"/>
          </p:cNvSpPr>
          <p:nvPr/>
        </p:nvSpPr>
        <p:spPr>
          <a:xfrm>
            <a:off x="7239000" y="5200650"/>
            <a:ext cx="40957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 i="0">
                <a:solidFill>
                  <a:srgbClr val="5B5B5B"/>
                </a:solidFill>
              </a:defRPr>
            </a:pPr>
            <a:r>
              <a:rPr sz="1350" b="0" i="0">
                <a:solidFill>
                  <a:srgbClr val="5B5B5B"/>
                </a:solidFill>
              </a:rPr>
              <a:t>Profile statistics</a:t>
            </a:r>
          </a:p>
        </p:txBody>
      </p:sp>
      <p:sp>
        <p:nvSpPr>
          <p:cNvPr id="29" name="Straight Connector 28">
            <a:extLst>
              <a:ext uri="{FF2B5EF4-FFF2-40B4-BE49-F238E27FC236}">
                <a16:creationId xmlns:a16="http://schemas.microsoft.com/office/drawing/2014/main" id="{1DB4CA65-2B81-4688-B9AA-546AB16AAFB2}"/>
              </a:ext>
            </a:extLst>
          </p:cNvPr>
          <p:cNvSpPr>
            <a:spLocks noGrp="1"/>
          </p:cNvSpPr>
          <p:nvPr/>
        </p:nvSpPr>
        <p:spPr>
          <a:xfrm>
            <a:off x="685800" y="5810250"/>
            <a:ext cx="10820400" cy="0"/>
          </a:xfrm>
          <a:prstGeom prst="line">
            <a:avLst/>
          </a:prstGeom>
          <a:noFill/>
          <a:ln w="9525">
            <a:solidFill>
              <a:srgbClr val="D8D8D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CF42B984-EC49-47B7-B04D-BD666974EC40}"/>
              </a:ext>
            </a:extLst>
          </p:cNvPr>
          <p:cNvSpPr>
            <a:spLocks noGrp="1"/>
          </p:cNvSpPr>
          <p:nvPr/>
        </p:nvSpPr>
        <p:spPr>
          <a:xfrm>
            <a:off x="685800" y="6115050"/>
            <a:ext cx="108204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 i="1">
                <a:solidFill>
                  <a:srgbClr val="5B5B5B"/>
                </a:solidFill>
              </a:defRPr>
            </a:pPr>
            <a:r>
              <a:rPr sz="1200" b="0" i="1">
                <a:solidFill>
                  <a:srgbClr val="5B5B5B"/>
                </a:solidFill>
              </a:rPr>
              <a:t>All five categories are reachable in the UI, like ranges do not overlap, and every composite index is deployed.</a:t>
            </a:r>
          </a:p>
        </p:txBody>
      </p:sp>
    </p:spTree>
    <p:extLst>
      <p:ext uri="{BB962C8B-B14F-4D97-AF65-F5344CB8AC3E}">
        <p14:creationId xmlns:p14="http://schemas.microsoft.com/office/powerpoint/2010/main" val="130903654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slide-7-title">
            <a:extLst>
              <a:ext uri="{FF2B5EF4-FFF2-40B4-BE49-F238E27FC236}">
                <a16:creationId xmlns:a16="http://schemas.microsoft.com/office/drawing/2014/main" id="{26FB79DC-AFD2-43AE-986C-7299188B1B8B}"/>
              </a:ext>
            </a:extLst>
          </p:cNvPr>
          <p:cNvSpPr>
            <a:spLocks noGrp="1"/>
          </p:cNvSpPr>
          <p:nvPr/>
        </p:nvSpPr>
        <p:spPr>
          <a:xfrm>
            <a:off x="685800" y="361950"/>
            <a:ext cx="108204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850" b="1" i="0">
                <a:solidFill>
                  <a:srgbClr val="111111"/>
                </a:solidFill>
              </a:defRPr>
            </a:pPr>
            <a:r>
              <a:rPr sz="2850" b="1" i="0">
                <a:solidFill>
                  <a:srgbClr val="111111"/>
                </a:solidFill>
              </a:rPr>
              <a:t>Every query category is proven against real records</a:t>
            </a:r>
          </a:p>
        </p:txBody>
      </p:sp>
      <p:sp>
        <p:nvSpPr>
          <p:cNvPr id="2" name="Straight Connector 1">
            <a:extLst>
              <a:ext uri="{FF2B5EF4-FFF2-40B4-BE49-F238E27FC236}">
                <a16:creationId xmlns:a16="http://schemas.microsoft.com/office/drawing/2014/main" id="{77D2D430-A7D7-4E8F-AB8E-546270C46D07}"/>
              </a:ext>
            </a:extLst>
          </p:cNvPr>
          <p:cNvSpPr>
            <a:spLocks noGrp="1"/>
          </p:cNvSpPr>
          <p:nvPr/>
        </p:nvSpPr>
        <p:spPr>
          <a:xfrm>
            <a:off x="685800" y="1028700"/>
            <a:ext cx="10820400" cy="0"/>
          </a:xfrm>
          <a:prstGeom prst="line">
            <a:avLst/>
          </a:prstGeom>
          <a:noFill/>
          <a:ln w="13335">
            <a:solidFill>
              <a:srgbClr val="11111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Straight Connector 2">
            <a:extLst>
              <a:ext uri="{FF2B5EF4-FFF2-40B4-BE49-F238E27FC236}">
                <a16:creationId xmlns:a16="http://schemas.microsoft.com/office/drawing/2014/main" id="{BBC49733-E701-4451-A1D7-48AB5EF80D40}"/>
              </a:ext>
            </a:extLst>
          </p:cNvPr>
          <p:cNvSpPr>
            <a:spLocks noGrp="1"/>
          </p:cNvSpPr>
          <p:nvPr/>
        </p:nvSpPr>
        <p:spPr>
          <a:xfrm>
            <a:off x="685800" y="6457950"/>
            <a:ext cx="10820400" cy="0"/>
          </a:xfrm>
          <a:prstGeom prst="line">
            <a:avLst/>
          </a:prstGeom>
          <a:noFill/>
          <a:ln w="9525">
            <a:solidFill>
              <a:srgbClr val="D8D8D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26F129C-8B95-42F9-9F9C-1C60AEDD18CB}"/>
              </a:ext>
            </a:extLst>
          </p:cNvPr>
          <p:cNvSpPr>
            <a:spLocks noGrp="1"/>
          </p:cNvSpPr>
          <p:nvPr/>
        </p:nvSpPr>
        <p:spPr>
          <a:xfrm>
            <a:off x="685800" y="6515100"/>
            <a:ext cx="2857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 i="0">
                <a:solidFill>
                  <a:srgbClr val="5B5B5B"/>
                </a:solidFill>
              </a:defRPr>
            </a:pPr>
            <a:r>
              <a:rPr sz="1200" b="1" i="0">
                <a:solidFill>
                  <a:srgbClr val="5B5B5B"/>
                </a:solidFill>
              </a:rPr>
              <a:t>AURAFARM  •  PART 3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253BBF5-149B-4BAD-B64A-B653009A2DB5}"/>
              </a:ext>
            </a:extLst>
          </p:cNvPr>
          <p:cNvSpPr>
            <a:spLocks noGrp="1"/>
          </p:cNvSpPr>
          <p:nvPr/>
        </p:nvSpPr>
        <p:spPr>
          <a:xfrm>
            <a:off x="11010900" y="6515100"/>
            <a:ext cx="495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200" b="1" i="0">
                <a:solidFill>
                  <a:srgbClr val="5B5B5B"/>
                </a:solidFill>
              </a:defRPr>
            </a:pPr>
            <a:r>
              <a:rPr sz="1200" b="1" i="0">
                <a:solidFill>
                  <a:srgbClr val="5B5B5B"/>
                </a:solidFill>
              </a:rPr>
              <a:t>06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1197864"/>
            <a:ext cx="1081735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5B5B5B"/>
                </a:solidFill>
                <a:latin typeface="Calibri"/>
              </a:rPr>
              <a:t>The filter runs a Firestore query on the server, not a client-side filter over an already-downloaded list.</a:t>
            </a:r>
          </a:p>
        </p:txBody>
      </p:sp>
      <p:pic>
        <p:nvPicPr>
          <p:cNvPr id="21" name="Picture 20" descr="Screenshot_178628676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1737360"/>
            <a:ext cx="1812956" cy="406908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868680" y="5907024"/>
            <a:ext cx="2926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111111"/>
                </a:solidFill>
                <a:latin typeface="Calibri"/>
              </a:rPr>
              <a:t>Meme + likes, one query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6093" y="5964173"/>
            <a:ext cx="329184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50" b="0" dirty="0" err="1">
                <a:solidFill>
                  <a:srgbClr val="5B5B5B"/>
                </a:solidFill>
                <a:latin typeface="Calibri"/>
              </a:rPr>
              <a:t>memeName</a:t>
            </a:r>
            <a:r>
              <a:rPr sz="1350" b="0" dirty="0">
                <a:solidFill>
                  <a:srgbClr val="5B5B5B"/>
                </a:solidFill>
                <a:latin typeface="Calibri"/>
              </a:rPr>
              <a:t> == 'Cat Stare'  AND  likes 0-999</a:t>
            </a:r>
            <a:r>
              <a:rPr lang="en-SG" sz="1350" b="0" dirty="0">
                <a:solidFill>
                  <a:srgbClr val="5B5B5B"/>
                </a:solidFill>
                <a:latin typeface="Calibri"/>
              </a:rPr>
              <a:t> (Filter)</a:t>
            </a:r>
            <a:endParaRPr sz="1100" b="0" dirty="0">
              <a:solidFill>
                <a:srgbClr val="9A93B0"/>
              </a:solidFill>
              <a:latin typeface="Calibri"/>
            </a:endParaRPr>
          </a:p>
        </p:txBody>
      </p:sp>
      <p:pic>
        <p:nvPicPr>
          <p:cNvPr id="24" name="Picture 23" descr="Screenshot 2026-08-09 22505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60520" y="1615281"/>
            <a:ext cx="7040880" cy="4256088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4160520" y="5138928"/>
            <a:ext cx="5486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 dirty="0">
                <a:solidFill>
                  <a:srgbClr val="111111"/>
                </a:solidFill>
                <a:latin typeface="Calibri"/>
              </a:rPr>
              <a:t>Composite indexes deployed and enabled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160520" y="5394960"/>
            <a:ext cx="7040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50" b="0">
                <a:solidFill>
                  <a:srgbClr val="5B5B5B"/>
                </a:solidFill>
                <a:latin typeface="Calibri"/>
              </a:rPr>
              <a:t>An equality on one field plus a range on another cannot use the automatic single-field indexes, so this pair is declared explicitly.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slide-6-title">
            <a:extLst>
              <a:ext uri="{FF2B5EF4-FFF2-40B4-BE49-F238E27FC236}">
                <a16:creationId xmlns:a16="http://schemas.microsoft.com/office/drawing/2014/main" id="{43298280-0E4E-4B02-BE8E-93C1F030A7AC}"/>
              </a:ext>
            </a:extLst>
          </p:cNvPr>
          <p:cNvSpPr>
            <a:spLocks noGrp="1"/>
          </p:cNvSpPr>
          <p:nvPr/>
        </p:nvSpPr>
        <p:spPr>
          <a:xfrm>
            <a:off x="685800" y="361950"/>
            <a:ext cx="108204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850" b="1" i="0">
                <a:solidFill>
                  <a:srgbClr val="111111"/>
                </a:solidFill>
              </a:defRPr>
            </a:pPr>
            <a:r>
              <a:rPr sz="2850" b="1" i="0">
                <a:solidFill>
                  <a:srgbClr val="111111"/>
                </a:solidFill>
              </a:rPr>
              <a:t>Reliable evidence depends on data, validation and feedback</a:t>
            </a:r>
          </a:p>
        </p:txBody>
      </p:sp>
      <p:sp>
        <p:nvSpPr>
          <p:cNvPr id="2" name="Straight Connector 1">
            <a:extLst>
              <a:ext uri="{FF2B5EF4-FFF2-40B4-BE49-F238E27FC236}">
                <a16:creationId xmlns:a16="http://schemas.microsoft.com/office/drawing/2014/main" id="{B72E351A-BBB0-457A-B348-367CA95E015E}"/>
              </a:ext>
            </a:extLst>
          </p:cNvPr>
          <p:cNvSpPr>
            <a:spLocks noGrp="1"/>
          </p:cNvSpPr>
          <p:nvPr/>
        </p:nvSpPr>
        <p:spPr>
          <a:xfrm>
            <a:off x="685800" y="1028700"/>
            <a:ext cx="10820400" cy="0"/>
          </a:xfrm>
          <a:prstGeom prst="line">
            <a:avLst/>
          </a:prstGeom>
          <a:noFill/>
          <a:ln w="13335">
            <a:solidFill>
              <a:srgbClr val="11111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Straight Connector 2">
            <a:extLst>
              <a:ext uri="{FF2B5EF4-FFF2-40B4-BE49-F238E27FC236}">
                <a16:creationId xmlns:a16="http://schemas.microsoft.com/office/drawing/2014/main" id="{10285A51-FCA5-46AC-8DAC-38516B1508D4}"/>
              </a:ext>
            </a:extLst>
          </p:cNvPr>
          <p:cNvSpPr>
            <a:spLocks noGrp="1"/>
          </p:cNvSpPr>
          <p:nvPr/>
        </p:nvSpPr>
        <p:spPr>
          <a:xfrm>
            <a:off x="685800" y="6457950"/>
            <a:ext cx="10820400" cy="0"/>
          </a:xfrm>
          <a:prstGeom prst="line">
            <a:avLst/>
          </a:prstGeom>
          <a:noFill/>
          <a:ln w="9525">
            <a:solidFill>
              <a:srgbClr val="D8D8D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0E2ED21-F63F-4CB4-953A-021A80A38F07}"/>
              </a:ext>
            </a:extLst>
          </p:cNvPr>
          <p:cNvSpPr>
            <a:spLocks noGrp="1"/>
          </p:cNvSpPr>
          <p:nvPr/>
        </p:nvSpPr>
        <p:spPr>
          <a:xfrm>
            <a:off x="685800" y="6515100"/>
            <a:ext cx="2857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 i="0">
                <a:solidFill>
                  <a:srgbClr val="5B5B5B"/>
                </a:solidFill>
              </a:defRPr>
            </a:pPr>
            <a:r>
              <a:rPr sz="1200" b="1" i="0">
                <a:solidFill>
                  <a:srgbClr val="5B5B5B"/>
                </a:solidFill>
              </a:rPr>
              <a:t>AURAFARM  •  PART 3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AE0494E-1BB6-4191-98C7-AD4F3B4361E4}"/>
              </a:ext>
            </a:extLst>
          </p:cNvPr>
          <p:cNvSpPr>
            <a:spLocks noGrp="1"/>
          </p:cNvSpPr>
          <p:nvPr/>
        </p:nvSpPr>
        <p:spPr>
          <a:xfrm>
            <a:off x="11010900" y="6515100"/>
            <a:ext cx="495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200" b="1" i="0">
                <a:solidFill>
                  <a:srgbClr val="5B5B5B"/>
                </a:solidFill>
              </a:defRPr>
            </a:pPr>
            <a:r>
              <a:rPr sz="1200" b="1" i="0">
                <a:solidFill>
                  <a:srgbClr val="5B5B5B"/>
                </a:solidFill>
              </a:rPr>
              <a:t>07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1F34D29E-6C2A-4351-A418-F781F896EE36}"/>
              </a:ext>
            </a:extLst>
          </p:cNvPr>
          <p:cNvSpPr>
            <a:spLocks noGrp="1"/>
          </p:cNvSpPr>
          <p:nvPr/>
        </p:nvSpPr>
        <p:spPr>
          <a:xfrm>
            <a:off x="742950" y="1295400"/>
            <a:ext cx="2400300" cy="4933950"/>
          </a:xfrm>
          <a:prstGeom prst="roundRect">
            <a:avLst>
              <a:gd name="adj" fmla="val 3968"/>
            </a:avLst>
          </a:prstGeom>
          <a:solidFill>
            <a:srgbClr val="FFFFFF"/>
          </a:solidFill>
          <a:ln w="9525">
            <a:solidFill>
              <a:srgbClr val="111111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23" name="Picture 22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860927" y="1333500"/>
            <a:ext cx="2164344" cy="4857750"/>
          </a:xfrm>
          <a:prstGeom prst="roundRect">
            <a:avLst>
              <a:gd name="adj" fmla="val 3279"/>
            </a:avLst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528A38BF-5238-41F1-9AF3-272AA1BA42EE}"/>
              </a:ext>
            </a:extLst>
          </p:cNvPr>
          <p:cNvSpPr>
            <a:spLocks noGrp="1"/>
          </p:cNvSpPr>
          <p:nvPr/>
        </p:nvSpPr>
        <p:spPr>
          <a:xfrm>
            <a:off x="3714750" y="1447800"/>
            <a:ext cx="6953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1" i="0">
                <a:solidFill>
                  <a:srgbClr val="111111"/>
                </a:solidFill>
              </a:defRPr>
            </a:pPr>
            <a:r>
              <a:rPr sz="1800" b="1" i="0">
                <a:solidFill>
                  <a:srgbClr val="111111"/>
                </a:solidFill>
              </a:rPr>
              <a:t>Meaningful records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4149905-EB42-4955-99E8-D12790C25E1B}"/>
              </a:ext>
            </a:extLst>
          </p:cNvPr>
          <p:cNvSpPr>
            <a:spLocks noGrp="1"/>
          </p:cNvSpPr>
          <p:nvPr/>
        </p:nvSpPr>
        <p:spPr>
          <a:xfrm>
            <a:off x="3714750" y="1809750"/>
            <a:ext cx="69532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 i="0">
                <a:solidFill>
                  <a:srgbClr val="5B5B5B"/>
                </a:solidFill>
              </a:defRPr>
            </a:pPr>
            <a:r>
              <a:rPr sz="1350" b="0" i="0">
                <a:solidFill>
                  <a:srgbClr val="5B5B5B"/>
                </a:solidFill>
              </a:rPr>
              <a:t>Varied users, vibes, public states, timestamps and like totals make every query observable.</a:t>
            </a:r>
          </a:p>
        </p:txBody>
      </p:sp>
      <p:sp>
        <p:nvSpPr>
          <p:cNvPr id="10" name="Straight Connector 9">
            <a:extLst>
              <a:ext uri="{FF2B5EF4-FFF2-40B4-BE49-F238E27FC236}">
                <a16:creationId xmlns:a16="http://schemas.microsoft.com/office/drawing/2014/main" id="{91A58398-43D9-4519-B578-66C854819101}"/>
              </a:ext>
            </a:extLst>
          </p:cNvPr>
          <p:cNvSpPr>
            <a:spLocks noGrp="1"/>
          </p:cNvSpPr>
          <p:nvPr/>
        </p:nvSpPr>
        <p:spPr>
          <a:xfrm>
            <a:off x="3714750" y="2476500"/>
            <a:ext cx="6953250" cy="0"/>
          </a:xfrm>
          <a:prstGeom prst="line">
            <a:avLst/>
          </a:prstGeom>
          <a:noFill/>
          <a:ln w="9525">
            <a:solidFill>
              <a:srgbClr val="D8D8D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884BBD9-FACD-455E-A09A-817492385D72}"/>
              </a:ext>
            </a:extLst>
          </p:cNvPr>
          <p:cNvSpPr>
            <a:spLocks noGrp="1"/>
          </p:cNvSpPr>
          <p:nvPr/>
        </p:nvSpPr>
        <p:spPr>
          <a:xfrm>
            <a:off x="3714750" y="2781300"/>
            <a:ext cx="6953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1" i="0">
                <a:solidFill>
                  <a:srgbClr val="111111"/>
                </a:solidFill>
              </a:defRPr>
            </a:pPr>
            <a:r>
              <a:rPr sz="1800" b="1" i="0">
                <a:solidFill>
                  <a:srgbClr val="111111"/>
                </a:solidFill>
              </a:rPr>
              <a:t>Every input is validated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3AA11CB-B78E-476F-A558-F40942E255C7}"/>
              </a:ext>
            </a:extLst>
          </p:cNvPr>
          <p:cNvSpPr>
            <a:spLocks noGrp="1"/>
          </p:cNvSpPr>
          <p:nvPr/>
        </p:nvSpPr>
        <p:spPr>
          <a:xfrm>
            <a:off x="3714750" y="3143250"/>
            <a:ext cx="69532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 i="0">
                <a:solidFill>
                  <a:srgbClr val="5B5B5B"/>
                </a:solidFill>
              </a:defRPr>
            </a:pPr>
            <a:r>
              <a:rPr sz="1350" b="0" i="0">
                <a:solidFill>
                  <a:srgbClr val="5B5B5B"/>
                </a:solidFill>
              </a:rPr>
              <a:t>Forms check required values and boundaries before Firebase or AI is called.</a:t>
            </a:r>
          </a:p>
        </p:txBody>
      </p:sp>
      <p:sp>
        <p:nvSpPr>
          <p:cNvPr id="13" name="Straight Connector 12">
            <a:extLst>
              <a:ext uri="{FF2B5EF4-FFF2-40B4-BE49-F238E27FC236}">
                <a16:creationId xmlns:a16="http://schemas.microsoft.com/office/drawing/2014/main" id="{E7FE6D1D-A445-4BEF-A55E-0EEABAA2AACF}"/>
              </a:ext>
            </a:extLst>
          </p:cNvPr>
          <p:cNvSpPr>
            <a:spLocks noGrp="1"/>
          </p:cNvSpPr>
          <p:nvPr/>
        </p:nvSpPr>
        <p:spPr>
          <a:xfrm>
            <a:off x="3714750" y="3810000"/>
            <a:ext cx="6953250" cy="0"/>
          </a:xfrm>
          <a:prstGeom prst="line">
            <a:avLst/>
          </a:prstGeom>
          <a:noFill/>
          <a:ln w="9525">
            <a:solidFill>
              <a:srgbClr val="D8D8D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3B54290-DAD3-4DD2-810D-943353BB76CF}"/>
              </a:ext>
            </a:extLst>
          </p:cNvPr>
          <p:cNvSpPr>
            <a:spLocks noGrp="1"/>
          </p:cNvSpPr>
          <p:nvPr/>
        </p:nvSpPr>
        <p:spPr>
          <a:xfrm>
            <a:off x="3714750" y="4114800"/>
            <a:ext cx="6953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1" i="0">
                <a:solidFill>
                  <a:srgbClr val="111111"/>
                </a:solidFill>
              </a:defRPr>
            </a:pPr>
            <a:r>
              <a:rPr sz="1800" b="1" i="0">
                <a:solidFill>
                  <a:srgbClr val="111111"/>
                </a:solidFill>
              </a:rPr>
              <a:t>Feedback supports recovery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EB4D68F-BB24-4F43-B2E7-D9835D08144A}"/>
              </a:ext>
            </a:extLst>
          </p:cNvPr>
          <p:cNvSpPr>
            <a:spLocks noGrp="1"/>
          </p:cNvSpPr>
          <p:nvPr/>
        </p:nvSpPr>
        <p:spPr>
          <a:xfrm>
            <a:off x="3714750" y="4476750"/>
            <a:ext cx="6953250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 i="0">
                <a:solidFill>
                  <a:srgbClr val="5B5B5B"/>
                </a:solidFill>
              </a:defRPr>
            </a:pPr>
            <a:r>
              <a:rPr sz="1350" b="0" i="0">
                <a:solidFill>
                  <a:srgbClr val="5B5B5B"/>
                </a:solidFill>
              </a:rPr>
              <a:t>Inline errors, SnackBars, AlertDialogs, loading states and the offline banner explain what happened and what to do next.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06D1DE3-EE55-4D50-B4C2-27A60B947939}"/>
              </a:ext>
            </a:extLst>
          </p:cNvPr>
          <p:cNvSpPr>
            <a:spLocks noGrp="1"/>
          </p:cNvSpPr>
          <p:nvPr/>
        </p:nvSpPr>
        <p:spPr>
          <a:xfrm>
            <a:off x="3714750" y="5619750"/>
            <a:ext cx="69532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 i="0">
                <a:solidFill>
                  <a:srgbClr val="111111"/>
                </a:solidFill>
              </a:defRPr>
            </a:pPr>
            <a:r>
              <a:rPr sz="1500" b="1" i="0">
                <a:solidFill>
                  <a:srgbClr val="111111"/>
                </a:solidFill>
              </a:rPr>
              <a:t>Final evidence: prepared Firestore records + known results + visible validation states</a:t>
            </a:r>
          </a:p>
        </p:txBody>
      </p:sp>
    </p:spTree>
    <p:extLst>
      <p:ext uri="{BB962C8B-B14F-4D97-AF65-F5344CB8AC3E}">
        <p14:creationId xmlns:p14="http://schemas.microsoft.com/office/powerpoint/2010/main" val="96821475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slide-7-title">
            <a:extLst>
              <a:ext uri="{FF2B5EF4-FFF2-40B4-BE49-F238E27FC236}">
                <a16:creationId xmlns:a16="http://schemas.microsoft.com/office/drawing/2014/main" id="{26FB79DC-AFD2-43AE-986C-7299188B1B8B}"/>
              </a:ext>
            </a:extLst>
          </p:cNvPr>
          <p:cNvSpPr>
            <a:spLocks noGrp="1"/>
          </p:cNvSpPr>
          <p:nvPr/>
        </p:nvSpPr>
        <p:spPr>
          <a:xfrm>
            <a:off x="685800" y="361950"/>
            <a:ext cx="108204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850" b="1" i="0">
                <a:solidFill>
                  <a:srgbClr val="111111"/>
                </a:solidFill>
              </a:defRPr>
            </a:pPr>
            <a:r>
              <a:rPr sz="2850" b="1" i="0">
                <a:solidFill>
                  <a:srgbClr val="111111"/>
                </a:solidFill>
              </a:rPr>
              <a:t>Applied AI drives the core creation workflow</a:t>
            </a:r>
          </a:p>
        </p:txBody>
      </p:sp>
      <p:sp>
        <p:nvSpPr>
          <p:cNvPr id="2" name="Straight Connector 1">
            <a:extLst>
              <a:ext uri="{FF2B5EF4-FFF2-40B4-BE49-F238E27FC236}">
                <a16:creationId xmlns:a16="http://schemas.microsoft.com/office/drawing/2014/main" id="{77D2D430-A7D7-4E8F-AB8E-546270C46D07}"/>
              </a:ext>
            </a:extLst>
          </p:cNvPr>
          <p:cNvSpPr>
            <a:spLocks noGrp="1"/>
          </p:cNvSpPr>
          <p:nvPr/>
        </p:nvSpPr>
        <p:spPr>
          <a:xfrm>
            <a:off x="685800" y="1028700"/>
            <a:ext cx="10820400" cy="0"/>
          </a:xfrm>
          <a:prstGeom prst="line">
            <a:avLst/>
          </a:prstGeom>
          <a:noFill/>
          <a:ln w="13335">
            <a:solidFill>
              <a:srgbClr val="11111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Straight Connector 2">
            <a:extLst>
              <a:ext uri="{FF2B5EF4-FFF2-40B4-BE49-F238E27FC236}">
                <a16:creationId xmlns:a16="http://schemas.microsoft.com/office/drawing/2014/main" id="{BBC49733-E701-4451-A1D7-48AB5EF80D40}"/>
              </a:ext>
            </a:extLst>
          </p:cNvPr>
          <p:cNvSpPr>
            <a:spLocks noGrp="1"/>
          </p:cNvSpPr>
          <p:nvPr/>
        </p:nvSpPr>
        <p:spPr>
          <a:xfrm>
            <a:off x="685800" y="6457950"/>
            <a:ext cx="10820400" cy="0"/>
          </a:xfrm>
          <a:prstGeom prst="line">
            <a:avLst/>
          </a:prstGeom>
          <a:noFill/>
          <a:ln w="9525">
            <a:solidFill>
              <a:srgbClr val="D8D8D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26F129C-8B95-42F9-9F9C-1C60AEDD18CB}"/>
              </a:ext>
            </a:extLst>
          </p:cNvPr>
          <p:cNvSpPr>
            <a:spLocks noGrp="1"/>
          </p:cNvSpPr>
          <p:nvPr/>
        </p:nvSpPr>
        <p:spPr>
          <a:xfrm>
            <a:off x="685800" y="6515100"/>
            <a:ext cx="2857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 i="0">
                <a:solidFill>
                  <a:srgbClr val="5B5B5B"/>
                </a:solidFill>
              </a:defRPr>
            </a:pPr>
            <a:r>
              <a:rPr sz="1200" b="1" i="0">
                <a:solidFill>
                  <a:srgbClr val="5B5B5B"/>
                </a:solidFill>
              </a:rPr>
              <a:t>AURAFARM  •  PART 3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253BBF5-149B-4BAD-B64A-B653009A2DB5}"/>
              </a:ext>
            </a:extLst>
          </p:cNvPr>
          <p:cNvSpPr>
            <a:spLocks noGrp="1"/>
          </p:cNvSpPr>
          <p:nvPr/>
        </p:nvSpPr>
        <p:spPr>
          <a:xfrm>
            <a:off x="11010900" y="6515100"/>
            <a:ext cx="495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200" b="1" i="0">
                <a:solidFill>
                  <a:srgbClr val="5B5B5B"/>
                </a:solidFill>
              </a:defRPr>
            </a:pPr>
            <a:r>
              <a:rPr sz="1200" b="1" i="0">
                <a:solidFill>
                  <a:srgbClr val="5B5B5B"/>
                </a:solidFill>
              </a:rPr>
              <a:t>08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347FBD4-53EC-4E93-9B63-59EC5F762408}"/>
              </a:ext>
            </a:extLst>
          </p:cNvPr>
          <p:cNvSpPr>
            <a:spLocks noGrp="1"/>
          </p:cNvSpPr>
          <p:nvPr/>
        </p:nvSpPr>
        <p:spPr>
          <a:xfrm>
            <a:off x="685800" y="1200150"/>
            <a:ext cx="108204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650" b="0" i="0">
                <a:solidFill>
                  <a:srgbClr val="5B5B5B"/>
                </a:solidFill>
              </a:defRPr>
            </a:pPr>
            <a:r>
              <a:rPr sz="1650" b="0" i="0">
                <a:solidFill>
                  <a:srgbClr val="5B5B5B"/>
                </a:solidFill>
              </a:rPr>
              <a:t>A multimodal Gemini request returns structured, editable suggestions for the card.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24F3F5B6-5BBB-4F9D-B4AC-67537E38C119}"/>
              </a:ext>
            </a:extLst>
          </p:cNvPr>
          <p:cNvSpPr>
            <a:spLocks noGrp="1"/>
          </p:cNvSpPr>
          <p:nvPr/>
        </p:nvSpPr>
        <p:spPr>
          <a:xfrm>
            <a:off x="723900" y="1638300"/>
            <a:ext cx="2028825" cy="4076700"/>
          </a:xfrm>
          <a:prstGeom prst="roundRect">
            <a:avLst>
              <a:gd name="adj" fmla="val 4695"/>
            </a:avLst>
          </a:prstGeom>
          <a:solidFill>
            <a:srgbClr val="FFFFFF"/>
          </a:solidFill>
          <a:ln w="9525">
            <a:solidFill>
              <a:srgbClr val="111111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26" name="Picture 25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847112" y="1676400"/>
            <a:ext cx="1782400" cy="4000500"/>
          </a:xfrm>
          <a:prstGeom prst="roundRect">
            <a:avLst>
              <a:gd name="adj" fmla="val 3902"/>
            </a:avLst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06537D8F-4953-4520-9D26-465D0322CA6B}"/>
              </a:ext>
            </a:extLst>
          </p:cNvPr>
          <p:cNvSpPr>
            <a:spLocks noGrp="1"/>
          </p:cNvSpPr>
          <p:nvPr/>
        </p:nvSpPr>
        <p:spPr>
          <a:xfrm>
            <a:off x="3162300" y="3409950"/>
            <a:ext cx="6667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2700" b="0" i="0">
                <a:solidFill>
                  <a:srgbClr val="5B5B5B"/>
                </a:solidFill>
              </a:defRPr>
            </a:pPr>
            <a:r>
              <a:rPr sz="2700" b="0" i="0">
                <a:solidFill>
                  <a:srgbClr val="5B5B5B"/>
                </a:solidFill>
              </a:rPr>
              <a:t>→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3C4A6F8A-96C6-41BB-B9F9-7738A1673E77}"/>
              </a:ext>
            </a:extLst>
          </p:cNvPr>
          <p:cNvSpPr>
            <a:spLocks noGrp="1"/>
          </p:cNvSpPr>
          <p:nvPr/>
        </p:nvSpPr>
        <p:spPr>
          <a:xfrm>
            <a:off x="4010025" y="1638300"/>
            <a:ext cx="2028825" cy="4076700"/>
          </a:xfrm>
          <a:prstGeom prst="roundRect">
            <a:avLst>
              <a:gd name="adj" fmla="val 4695"/>
            </a:avLst>
          </a:prstGeom>
          <a:solidFill>
            <a:srgbClr val="FFFFFF"/>
          </a:solidFill>
          <a:ln w="9525">
            <a:solidFill>
              <a:srgbClr val="111111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29" name="Picture 28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4260387" y="1961780"/>
            <a:ext cx="1528101" cy="3429740"/>
          </a:xfrm>
          <a:prstGeom prst="roundRect">
            <a:avLst>
              <a:gd name="adj" fmla="val 3902"/>
            </a:avLst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E7159CDE-3B01-451F-BA57-F51F7BCA219E}"/>
              </a:ext>
            </a:extLst>
          </p:cNvPr>
          <p:cNvSpPr>
            <a:spLocks noGrp="1"/>
          </p:cNvSpPr>
          <p:nvPr/>
        </p:nvSpPr>
        <p:spPr>
          <a:xfrm>
            <a:off x="6448425" y="3409950"/>
            <a:ext cx="6667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2700" b="0" i="0">
                <a:solidFill>
                  <a:srgbClr val="5B5B5B"/>
                </a:solidFill>
              </a:defRPr>
            </a:pPr>
            <a:r>
              <a:rPr sz="2700" b="0" i="0">
                <a:solidFill>
                  <a:srgbClr val="5B5B5B"/>
                </a:solidFill>
              </a:rPr>
              <a:t>→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E8432948-1DA5-4C4E-8E84-C1EE3F5129CE}"/>
              </a:ext>
            </a:extLst>
          </p:cNvPr>
          <p:cNvSpPr>
            <a:spLocks noGrp="1"/>
          </p:cNvSpPr>
          <p:nvPr/>
        </p:nvSpPr>
        <p:spPr>
          <a:xfrm>
            <a:off x="7296150" y="1638300"/>
            <a:ext cx="2028825" cy="4076700"/>
          </a:xfrm>
          <a:prstGeom prst="roundRect">
            <a:avLst>
              <a:gd name="adj" fmla="val 4695"/>
            </a:avLst>
          </a:prstGeom>
          <a:solidFill>
            <a:srgbClr val="FFFFFF"/>
          </a:solidFill>
          <a:ln w="9525">
            <a:solidFill>
              <a:srgbClr val="111111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32" name="Picture 31"/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7419362" y="1676400"/>
            <a:ext cx="1782400" cy="4000500"/>
          </a:xfrm>
          <a:prstGeom prst="roundRect">
            <a:avLst>
              <a:gd name="adj" fmla="val 3902"/>
            </a:avLst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1A4409D5-D2A9-4539-935C-2090EF4614D1}"/>
              </a:ext>
            </a:extLst>
          </p:cNvPr>
          <p:cNvSpPr>
            <a:spLocks noGrp="1"/>
          </p:cNvSpPr>
          <p:nvPr/>
        </p:nvSpPr>
        <p:spPr>
          <a:xfrm>
            <a:off x="762000" y="5867400"/>
            <a:ext cx="195262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350" b="1" i="0">
                <a:solidFill>
                  <a:srgbClr val="111111"/>
                </a:solidFill>
              </a:defRPr>
            </a:pPr>
            <a:r>
              <a:rPr sz="1350" b="1" i="0">
                <a:solidFill>
                  <a:srgbClr val="111111"/>
                </a:solidFill>
              </a:rPr>
              <a:t>1  •  Fit + face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EC9174CE-8536-46F3-89D5-6AE44A1BD2DC}"/>
              </a:ext>
            </a:extLst>
          </p:cNvPr>
          <p:cNvSpPr>
            <a:spLocks noGrp="1"/>
          </p:cNvSpPr>
          <p:nvPr/>
        </p:nvSpPr>
        <p:spPr>
          <a:xfrm>
            <a:off x="4048125" y="5867400"/>
            <a:ext cx="195262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350" b="1" i="0">
                <a:solidFill>
                  <a:srgbClr val="111111"/>
                </a:solidFill>
              </a:defRPr>
            </a:pPr>
            <a:r>
              <a:rPr sz="1350" b="1" i="0">
                <a:solidFill>
                  <a:srgbClr val="111111"/>
                </a:solidFill>
              </a:rPr>
              <a:t>2  •  JSON suggestions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D7D77D67-4F85-4DB6-ACF9-41749D88F301}"/>
              </a:ext>
            </a:extLst>
          </p:cNvPr>
          <p:cNvSpPr>
            <a:spLocks noGrp="1"/>
          </p:cNvSpPr>
          <p:nvPr/>
        </p:nvSpPr>
        <p:spPr>
          <a:xfrm>
            <a:off x="7334250" y="5867400"/>
            <a:ext cx="195262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350" b="1" i="0">
                <a:solidFill>
                  <a:srgbClr val="111111"/>
                </a:solidFill>
              </a:defRPr>
            </a:pPr>
            <a:r>
              <a:rPr sz="1350" b="1" i="0">
                <a:solidFill>
                  <a:srgbClr val="111111"/>
                </a:solidFill>
              </a:rPr>
              <a:t>3  •  User edits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F89F7376-8119-4285-8B40-902725C9C37B}"/>
              </a:ext>
            </a:extLst>
          </p:cNvPr>
          <p:cNvSpPr>
            <a:spLocks noGrp="1"/>
          </p:cNvSpPr>
          <p:nvPr/>
        </p:nvSpPr>
        <p:spPr>
          <a:xfrm>
            <a:off x="9544050" y="2495550"/>
            <a:ext cx="1809750" cy="2190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350" b="0" i="0">
                <a:solidFill>
                  <a:srgbClr val="5B5B5B"/>
                </a:solidFill>
              </a:defRPr>
            </a:pPr>
            <a:r>
              <a:rPr sz="1350" b="0" i="0">
                <a:solidFill>
                  <a:srgbClr val="5B5B5B"/>
                </a:solidFill>
              </a:rPr>
              <a:t>Prompt-constrained category  •  Free-text expression label  •  User approves before storage</a:t>
            </a:r>
          </a:p>
        </p:txBody>
      </p:sp>
    </p:spTree>
    <p:extLst>
      <p:ext uri="{BB962C8B-B14F-4D97-AF65-F5344CB8AC3E}">
        <p14:creationId xmlns:p14="http://schemas.microsoft.com/office/powerpoint/2010/main" val="73717599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slide-8-title">
            <a:extLst>
              <a:ext uri="{FF2B5EF4-FFF2-40B4-BE49-F238E27FC236}">
                <a16:creationId xmlns:a16="http://schemas.microsoft.com/office/drawing/2014/main" id="{CE68D87F-49D7-4F0B-AA75-33AF6F6A4FAD}"/>
              </a:ext>
            </a:extLst>
          </p:cNvPr>
          <p:cNvSpPr>
            <a:spLocks noGrp="1"/>
          </p:cNvSpPr>
          <p:nvPr/>
        </p:nvSpPr>
        <p:spPr>
          <a:xfrm>
            <a:off x="685800" y="361950"/>
            <a:ext cx="108204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850" b="1" i="0">
                <a:solidFill>
                  <a:srgbClr val="111111"/>
                </a:solidFill>
              </a:defRPr>
            </a:pPr>
            <a:r>
              <a:rPr sz="2850" b="1" i="0">
                <a:solidFill>
                  <a:srgbClr val="111111"/>
                </a:solidFill>
              </a:rPr>
              <a:t>Four advanced and two simple additional features</a:t>
            </a:r>
          </a:p>
        </p:txBody>
      </p:sp>
      <p:sp>
        <p:nvSpPr>
          <p:cNvPr id="2" name="Straight Connector 1">
            <a:extLst>
              <a:ext uri="{FF2B5EF4-FFF2-40B4-BE49-F238E27FC236}">
                <a16:creationId xmlns:a16="http://schemas.microsoft.com/office/drawing/2014/main" id="{4E2A436B-99F5-4FB9-ACE2-ABFAE4154BAA}"/>
              </a:ext>
            </a:extLst>
          </p:cNvPr>
          <p:cNvSpPr>
            <a:spLocks noGrp="1"/>
          </p:cNvSpPr>
          <p:nvPr/>
        </p:nvSpPr>
        <p:spPr>
          <a:xfrm>
            <a:off x="685800" y="1028700"/>
            <a:ext cx="10820400" cy="0"/>
          </a:xfrm>
          <a:prstGeom prst="line">
            <a:avLst/>
          </a:prstGeom>
          <a:noFill/>
          <a:ln w="13335">
            <a:solidFill>
              <a:srgbClr val="11111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Straight Connector 2">
            <a:extLst>
              <a:ext uri="{FF2B5EF4-FFF2-40B4-BE49-F238E27FC236}">
                <a16:creationId xmlns:a16="http://schemas.microsoft.com/office/drawing/2014/main" id="{5E117D52-3D65-4F3F-A220-AFFE350C9597}"/>
              </a:ext>
            </a:extLst>
          </p:cNvPr>
          <p:cNvSpPr>
            <a:spLocks noGrp="1"/>
          </p:cNvSpPr>
          <p:nvPr/>
        </p:nvSpPr>
        <p:spPr>
          <a:xfrm>
            <a:off x="685800" y="6457950"/>
            <a:ext cx="10820400" cy="0"/>
          </a:xfrm>
          <a:prstGeom prst="line">
            <a:avLst/>
          </a:prstGeom>
          <a:noFill/>
          <a:ln w="9525">
            <a:solidFill>
              <a:srgbClr val="D8D8D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4115AEF-197A-4118-9D1B-AD5478A068E3}"/>
              </a:ext>
            </a:extLst>
          </p:cNvPr>
          <p:cNvSpPr>
            <a:spLocks noGrp="1"/>
          </p:cNvSpPr>
          <p:nvPr/>
        </p:nvSpPr>
        <p:spPr>
          <a:xfrm>
            <a:off x="685800" y="6515100"/>
            <a:ext cx="2857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 i="0">
                <a:solidFill>
                  <a:srgbClr val="5B5B5B"/>
                </a:solidFill>
              </a:defRPr>
            </a:pPr>
            <a:r>
              <a:rPr sz="1200" b="1" i="0">
                <a:solidFill>
                  <a:srgbClr val="5B5B5B"/>
                </a:solidFill>
              </a:rPr>
              <a:t>AURAFARM  •  PART 3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215BA4B-327D-435B-B6D1-155BD8804DB8}"/>
              </a:ext>
            </a:extLst>
          </p:cNvPr>
          <p:cNvSpPr>
            <a:spLocks noGrp="1"/>
          </p:cNvSpPr>
          <p:nvPr/>
        </p:nvSpPr>
        <p:spPr>
          <a:xfrm>
            <a:off x="11010900" y="6515100"/>
            <a:ext cx="495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200" b="1" i="0">
                <a:solidFill>
                  <a:srgbClr val="5B5B5B"/>
                </a:solidFill>
              </a:defRPr>
            </a:pPr>
            <a:r>
              <a:rPr sz="1200" b="1" i="0">
                <a:solidFill>
                  <a:srgbClr val="5B5B5B"/>
                </a:solidFill>
              </a:rPr>
              <a:t>09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55FAD8C6-BA9E-40D3-A566-F9004339AB28}"/>
              </a:ext>
            </a:extLst>
          </p:cNvPr>
          <p:cNvSpPr>
            <a:spLocks noGrp="1"/>
          </p:cNvSpPr>
          <p:nvPr/>
        </p:nvSpPr>
        <p:spPr>
          <a:xfrm>
            <a:off x="666750" y="1295400"/>
            <a:ext cx="2438400" cy="4972050"/>
          </a:xfrm>
          <a:prstGeom prst="roundRect">
            <a:avLst>
              <a:gd name="adj" fmla="val 3906"/>
            </a:avLst>
          </a:prstGeom>
          <a:solidFill>
            <a:srgbClr val="FFFFFF"/>
          </a:solidFill>
          <a:ln w="9525">
            <a:solidFill>
              <a:srgbClr val="111111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28" name="Picture 27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795291" y="1333500"/>
            <a:ext cx="2181319" cy="4895850"/>
          </a:xfrm>
          <a:prstGeom prst="roundRect">
            <a:avLst>
              <a:gd name="adj" fmla="val 3226"/>
            </a:avLst>
          </a:prstGeom>
        </p:spPr>
      </p:pic>
      <p:sp>
        <p:nvSpPr>
          <p:cNvPr id="8" name="Straight Connector 7">
            <a:extLst>
              <a:ext uri="{FF2B5EF4-FFF2-40B4-BE49-F238E27FC236}">
                <a16:creationId xmlns:a16="http://schemas.microsoft.com/office/drawing/2014/main" id="{85D46C38-7929-4C35-AF4D-8EBEC32F34F5}"/>
              </a:ext>
            </a:extLst>
          </p:cNvPr>
          <p:cNvSpPr>
            <a:spLocks noGrp="1"/>
          </p:cNvSpPr>
          <p:nvPr/>
        </p:nvSpPr>
        <p:spPr>
          <a:xfrm>
            <a:off x="3467100" y="1371600"/>
            <a:ext cx="0" cy="4762500"/>
          </a:xfrm>
          <a:prstGeom prst="line">
            <a:avLst/>
          </a:prstGeom>
          <a:noFill/>
          <a:ln w="9525">
            <a:solidFill>
              <a:srgbClr val="D8D8D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B1C0BB0-DE67-423C-ACCF-E0AF175EBDAC}"/>
              </a:ext>
            </a:extLst>
          </p:cNvPr>
          <p:cNvSpPr>
            <a:spLocks noGrp="1"/>
          </p:cNvSpPr>
          <p:nvPr/>
        </p:nvSpPr>
        <p:spPr>
          <a:xfrm>
            <a:off x="3886200" y="1409700"/>
            <a:ext cx="3238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1" i="0">
                <a:solidFill>
                  <a:srgbClr val="111111"/>
                </a:solidFill>
              </a:defRPr>
            </a:pPr>
            <a:r>
              <a:rPr sz="1800" b="1" i="0">
                <a:solidFill>
                  <a:srgbClr val="111111"/>
                </a:solidFill>
              </a:rPr>
              <a:t>Vibe Card export  (advanced)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A30D5C0-1A70-4E94-B007-DBF4C646BBB6}"/>
              </a:ext>
            </a:extLst>
          </p:cNvPr>
          <p:cNvSpPr>
            <a:spLocks noGrp="1"/>
          </p:cNvSpPr>
          <p:nvPr/>
        </p:nvSpPr>
        <p:spPr>
          <a:xfrm>
            <a:off x="3886200" y="1771650"/>
            <a:ext cx="32385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 i="0">
                <a:solidFill>
                  <a:srgbClr val="5B5B5B"/>
                </a:solidFill>
              </a:defRPr>
            </a:pPr>
            <a:r>
              <a:rPr sz="1350" b="0" i="0" dirty="0">
                <a:solidFill>
                  <a:srgbClr val="5B5B5B"/>
                </a:solidFill>
              </a:rPr>
              <a:t>The card is rendered into a single exportable image, then shared through the system sheet or saved to the device.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2A46136-3698-474B-B09E-D40D1DDEE1C8}"/>
              </a:ext>
            </a:extLst>
          </p:cNvPr>
          <p:cNvSpPr>
            <a:spLocks noGrp="1"/>
          </p:cNvSpPr>
          <p:nvPr/>
        </p:nvSpPr>
        <p:spPr>
          <a:xfrm>
            <a:off x="3886200" y="2724150"/>
            <a:ext cx="3238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1" i="0">
                <a:solidFill>
                  <a:srgbClr val="111111"/>
                </a:solidFill>
              </a:defRPr>
            </a:pPr>
            <a:r>
              <a:rPr sz="1800" b="1" i="0">
                <a:solidFill>
                  <a:srgbClr val="111111"/>
                </a:solidFill>
              </a:rPr>
              <a:t>Offline handling  (advanced)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E8C48E7-1AAB-47DA-B28E-33482619CA00}"/>
              </a:ext>
            </a:extLst>
          </p:cNvPr>
          <p:cNvSpPr>
            <a:spLocks noGrp="1"/>
          </p:cNvSpPr>
          <p:nvPr/>
        </p:nvSpPr>
        <p:spPr>
          <a:xfrm>
            <a:off x="3886200" y="3086100"/>
            <a:ext cx="32385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 i="0">
                <a:solidFill>
                  <a:srgbClr val="5B5B5B"/>
                </a:solidFill>
              </a:defRPr>
            </a:pPr>
            <a:r>
              <a:rPr sz="1350" b="0" i="0">
                <a:solidFill>
                  <a:srgbClr val="5B5B5B"/>
                </a:solidFill>
              </a:rPr>
              <a:t>A connectivity stream blocks AI generation and posting before the call, rather than letting them fail.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15A2A0E-7C18-4774-BC57-5768FB6D5980}"/>
              </a:ext>
            </a:extLst>
          </p:cNvPr>
          <p:cNvSpPr>
            <a:spLocks noGrp="1"/>
          </p:cNvSpPr>
          <p:nvPr/>
        </p:nvSpPr>
        <p:spPr>
          <a:xfrm>
            <a:off x="3886200" y="4038600"/>
            <a:ext cx="3238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1" i="0">
                <a:solidFill>
                  <a:srgbClr val="111111"/>
                </a:solidFill>
              </a:defRPr>
            </a:pPr>
            <a:r>
              <a:rPr sz="1800" b="1" i="0">
                <a:solidFill>
                  <a:srgbClr val="111111"/>
                </a:solidFill>
              </a:rPr>
              <a:t>Web service consumption  (simple)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80C4485-990C-4F9B-AA16-C03C0097BD46}"/>
              </a:ext>
            </a:extLst>
          </p:cNvPr>
          <p:cNvSpPr>
            <a:spLocks noGrp="1"/>
          </p:cNvSpPr>
          <p:nvPr/>
        </p:nvSpPr>
        <p:spPr>
          <a:xfrm>
            <a:off x="3886200" y="4618902"/>
            <a:ext cx="32385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 i="0">
                <a:solidFill>
                  <a:srgbClr val="5B5B5B"/>
                </a:solidFill>
              </a:defRPr>
            </a:pPr>
            <a:r>
              <a:rPr sz="1350" b="0" i="0" dirty="0">
                <a:solidFill>
                  <a:srgbClr val="5B5B5B"/>
                </a:solidFill>
              </a:rPr>
              <a:t>The iTunes Search API returns album artwork and a 30-second clip, verified against the artist name.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22ADF3F9-D35D-48AD-9321-CB12EE163BDB}"/>
              </a:ext>
            </a:extLst>
          </p:cNvPr>
          <p:cNvSpPr>
            <a:spLocks noGrp="1"/>
          </p:cNvSpPr>
          <p:nvPr/>
        </p:nvSpPr>
        <p:spPr>
          <a:xfrm>
            <a:off x="7810500" y="1409700"/>
            <a:ext cx="3238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1" i="0">
                <a:solidFill>
                  <a:srgbClr val="111111"/>
                </a:solidFill>
              </a:defRPr>
            </a:pPr>
            <a:r>
              <a:rPr sz="1800" b="1" i="0">
                <a:solidFill>
                  <a:srgbClr val="111111"/>
                </a:solidFill>
              </a:rPr>
              <a:t>Biometric authentication  (advanced)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612A275-E24C-48A9-8E4A-FF97CA36FB1E}"/>
              </a:ext>
            </a:extLst>
          </p:cNvPr>
          <p:cNvSpPr>
            <a:spLocks noGrp="1"/>
          </p:cNvSpPr>
          <p:nvPr/>
        </p:nvSpPr>
        <p:spPr>
          <a:xfrm>
            <a:off x="7810500" y="1968522"/>
            <a:ext cx="32385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 i="0">
                <a:solidFill>
                  <a:srgbClr val="5B5B5B"/>
                </a:solidFill>
              </a:defRPr>
            </a:pPr>
            <a:r>
              <a:rPr sz="1350" b="0" i="0" dirty="0" err="1">
                <a:solidFill>
                  <a:srgbClr val="5B5B5B"/>
                </a:solidFill>
              </a:rPr>
              <a:t>local_auth</a:t>
            </a:r>
            <a:r>
              <a:rPr sz="1350" b="0" i="0" dirty="0">
                <a:solidFill>
                  <a:srgbClr val="5B5B5B"/>
                </a:solidFill>
              </a:rPr>
              <a:t> gates the remembered Firebase session; device PIN remains an accessible fallback.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BA271D0A-CB31-41FE-99E7-119DA3D27D69}"/>
              </a:ext>
            </a:extLst>
          </p:cNvPr>
          <p:cNvSpPr>
            <a:spLocks noGrp="1"/>
          </p:cNvSpPr>
          <p:nvPr/>
        </p:nvSpPr>
        <p:spPr>
          <a:xfrm>
            <a:off x="7810500" y="2724150"/>
            <a:ext cx="3238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1" i="0">
                <a:solidFill>
                  <a:srgbClr val="111111"/>
                </a:solidFill>
              </a:defRPr>
            </a:pPr>
            <a:r>
              <a:rPr sz="1800" b="1" i="0">
                <a:solidFill>
                  <a:srgbClr val="111111"/>
                </a:solidFill>
              </a:rPr>
              <a:t>Song preview playback  (advanced)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FE437A07-3D5E-45BA-88F2-A9821B9EB641}"/>
              </a:ext>
            </a:extLst>
          </p:cNvPr>
          <p:cNvSpPr>
            <a:spLocks noGrp="1"/>
          </p:cNvSpPr>
          <p:nvPr/>
        </p:nvSpPr>
        <p:spPr>
          <a:xfrm>
            <a:off x="7810500" y="3285599"/>
            <a:ext cx="32385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 i="0">
                <a:solidFill>
                  <a:srgbClr val="5B5B5B"/>
                </a:solidFill>
              </a:defRPr>
            </a:pPr>
            <a:r>
              <a:rPr sz="1350" b="0" i="0" dirty="0">
                <a:solidFill>
                  <a:srgbClr val="5B5B5B"/>
                </a:solidFill>
              </a:rPr>
              <a:t>One shared </a:t>
            </a:r>
            <a:r>
              <a:rPr sz="1350" b="0" i="0" dirty="0" err="1">
                <a:solidFill>
                  <a:srgbClr val="5B5B5B"/>
                </a:solidFill>
              </a:rPr>
              <a:t>just_audio</a:t>
            </a:r>
            <a:r>
              <a:rPr sz="1350" b="0" i="0" dirty="0">
                <a:solidFill>
                  <a:srgbClr val="5B5B5B"/>
                </a:solidFill>
              </a:rPr>
              <a:t> player with play, stop and state kept in sync across screens.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078944AA-17EB-4C58-B64D-6ECFAD6D1CFB}"/>
              </a:ext>
            </a:extLst>
          </p:cNvPr>
          <p:cNvSpPr>
            <a:spLocks noGrp="1"/>
          </p:cNvSpPr>
          <p:nvPr/>
        </p:nvSpPr>
        <p:spPr>
          <a:xfrm>
            <a:off x="7810500" y="4038600"/>
            <a:ext cx="3238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1" i="0">
                <a:solidFill>
                  <a:srgbClr val="111111"/>
                </a:solidFill>
              </a:defRPr>
            </a:pPr>
            <a:r>
              <a:rPr sz="1800" b="1" i="0">
                <a:solidFill>
                  <a:srgbClr val="111111"/>
                </a:solidFill>
              </a:rPr>
              <a:t>Camera and gallery access  (simple)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D4BA2AB3-1312-460A-8D70-74BE498EA309}"/>
              </a:ext>
            </a:extLst>
          </p:cNvPr>
          <p:cNvSpPr>
            <a:spLocks noGrp="1"/>
          </p:cNvSpPr>
          <p:nvPr/>
        </p:nvSpPr>
        <p:spPr>
          <a:xfrm>
            <a:off x="7810500" y="4618902"/>
            <a:ext cx="32385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 i="0">
                <a:solidFill>
                  <a:srgbClr val="5B5B5B"/>
                </a:solidFill>
              </a:defRPr>
            </a:pPr>
            <a:r>
              <a:rPr sz="1350" b="0" i="0" dirty="0" err="1">
                <a:solidFill>
                  <a:srgbClr val="5B5B5B"/>
                </a:solidFill>
              </a:rPr>
              <a:t>image_picker</a:t>
            </a:r>
            <a:r>
              <a:rPr sz="1350" b="0" i="0" dirty="0">
                <a:solidFill>
                  <a:srgbClr val="5B5B5B"/>
                </a:solidFill>
              </a:rPr>
              <a:t> supplies both source photos and the profile picture, resized as they are picked.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CBE6884F-B064-4FE0-8D94-079CF106BC9F}"/>
              </a:ext>
            </a:extLst>
          </p:cNvPr>
          <p:cNvSpPr>
            <a:spLocks noGrp="1"/>
          </p:cNvSpPr>
          <p:nvPr/>
        </p:nvSpPr>
        <p:spPr>
          <a:xfrm>
            <a:off x="3886200" y="5619750"/>
            <a:ext cx="71628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 i="1">
                <a:solidFill>
                  <a:srgbClr val="5B5B5B"/>
                </a:solidFill>
              </a:defRPr>
            </a:pPr>
            <a:r>
              <a:rPr sz="1350" b="0" i="1">
                <a:solidFill>
                  <a:srgbClr val="5B5B5B"/>
                </a:solidFill>
              </a:rPr>
              <a:t>The spec classifies web service consumption and camera access as simple; the other four are device or render capabilities.</a:t>
            </a:r>
          </a:p>
        </p:txBody>
      </p:sp>
    </p:spTree>
    <p:extLst>
      <p:ext uri="{BB962C8B-B14F-4D97-AF65-F5344CB8AC3E}">
        <p14:creationId xmlns:p14="http://schemas.microsoft.com/office/powerpoint/2010/main" val="145605620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lide-9-title">
            <a:extLst>
              <a:ext uri="{FF2B5EF4-FFF2-40B4-BE49-F238E27FC236}">
                <a16:creationId xmlns:a16="http://schemas.microsoft.com/office/drawing/2014/main" id="{F9734294-705A-4A6A-9691-C45FA81FBD3C}"/>
              </a:ext>
            </a:extLst>
          </p:cNvPr>
          <p:cNvSpPr>
            <a:spLocks noGrp="1"/>
          </p:cNvSpPr>
          <p:nvPr/>
        </p:nvSpPr>
        <p:spPr>
          <a:xfrm>
            <a:off x="685800" y="361950"/>
            <a:ext cx="108204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850" b="1" i="0">
                <a:solidFill>
                  <a:srgbClr val="111111"/>
                </a:solidFill>
              </a:defRPr>
            </a:pPr>
            <a:r>
              <a:rPr sz="2850" b="1" i="0">
                <a:solidFill>
                  <a:srgbClr val="111111"/>
                </a:solidFill>
              </a:rPr>
              <a:t>Personalisation supports a focused market position</a:t>
            </a:r>
          </a:p>
        </p:txBody>
      </p:sp>
      <p:sp>
        <p:nvSpPr>
          <p:cNvPr id="2" name="Straight Connector 1">
            <a:extLst>
              <a:ext uri="{FF2B5EF4-FFF2-40B4-BE49-F238E27FC236}">
                <a16:creationId xmlns:a16="http://schemas.microsoft.com/office/drawing/2014/main" id="{EAEA8E28-94F6-45B9-9134-68B4774C2CDB}"/>
              </a:ext>
            </a:extLst>
          </p:cNvPr>
          <p:cNvSpPr>
            <a:spLocks noGrp="1"/>
          </p:cNvSpPr>
          <p:nvPr/>
        </p:nvSpPr>
        <p:spPr>
          <a:xfrm>
            <a:off x="685800" y="1028700"/>
            <a:ext cx="10820400" cy="0"/>
          </a:xfrm>
          <a:prstGeom prst="line">
            <a:avLst/>
          </a:prstGeom>
          <a:noFill/>
          <a:ln w="13335">
            <a:solidFill>
              <a:srgbClr val="11111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Straight Connector 2">
            <a:extLst>
              <a:ext uri="{FF2B5EF4-FFF2-40B4-BE49-F238E27FC236}">
                <a16:creationId xmlns:a16="http://schemas.microsoft.com/office/drawing/2014/main" id="{E92B4331-E604-4FDC-BDE8-8D53ABC3098F}"/>
              </a:ext>
            </a:extLst>
          </p:cNvPr>
          <p:cNvSpPr>
            <a:spLocks noGrp="1"/>
          </p:cNvSpPr>
          <p:nvPr/>
        </p:nvSpPr>
        <p:spPr>
          <a:xfrm>
            <a:off x="685800" y="6457950"/>
            <a:ext cx="10820400" cy="0"/>
          </a:xfrm>
          <a:prstGeom prst="line">
            <a:avLst/>
          </a:prstGeom>
          <a:noFill/>
          <a:ln w="9525">
            <a:solidFill>
              <a:srgbClr val="D8D8D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8B5A5EB-FF13-486F-B1F8-8025242B8807}"/>
              </a:ext>
            </a:extLst>
          </p:cNvPr>
          <p:cNvSpPr>
            <a:spLocks noGrp="1"/>
          </p:cNvSpPr>
          <p:nvPr/>
        </p:nvSpPr>
        <p:spPr>
          <a:xfrm>
            <a:off x="685800" y="6515100"/>
            <a:ext cx="2857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 i="0">
                <a:solidFill>
                  <a:srgbClr val="5B5B5B"/>
                </a:solidFill>
              </a:defRPr>
            </a:pPr>
            <a:r>
              <a:rPr sz="1200" b="1" i="0">
                <a:solidFill>
                  <a:srgbClr val="5B5B5B"/>
                </a:solidFill>
              </a:rPr>
              <a:t>AURAFARM  •  PART 3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21ECE15-87F1-4255-A443-A0FB4BE7A4ED}"/>
              </a:ext>
            </a:extLst>
          </p:cNvPr>
          <p:cNvSpPr>
            <a:spLocks noGrp="1"/>
          </p:cNvSpPr>
          <p:nvPr/>
        </p:nvSpPr>
        <p:spPr>
          <a:xfrm>
            <a:off x="11010900" y="6515100"/>
            <a:ext cx="495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200" b="1" i="0">
                <a:solidFill>
                  <a:srgbClr val="5B5B5B"/>
                </a:solidFill>
              </a:defRPr>
            </a:pPr>
            <a:r>
              <a:rPr sz="1200" b="1" i="0">
                <a:solidFill>
                  <a:srgbClr val="5B5B5B"/>
                </a:solidFill>
              </a:rPr>
              <a:t>10</a:t>
            </a:r>
          </a:p>
        </p:txBody>
      </p:sp>
      <p:pic>
        <p:nvPicPr>
          <p:cNvPr id="29" name="Picture 28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1504950" y="1581150"/>
            <a:ext cx="1524000" cy="1524000"/>
          </a:xfrm>
          <a:prstGeom prst="roundRect">
            <a:avLst>
              <a:gd name="adj" fmla="val 15000"/>
            </a:avLst>
          </a:prstGeom>
        </p:spPr>
      </p:pic>
      <p:pic>
        <p:nvPicPr>
          <p:cNvPr id="30" name="Picture 29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1162050" y="3371850"/>
            <a:ext cx="2209800" cy="1104900"/>
          </a:xfrm>
          <a:prstGeom prst="roundRect">
            <a:avLst>
              <a:gd name="adj" fmla="val 10345"/>
            </a:avLst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E414FF78-C1D4-42B0-8FBE-ECDB34FF7B12}"/>
              </a:ext>
            </a:extLst>
          </p:cNvPr>
          <p:cNvSpPr>
            <a:spLocks noGrp="1"/>
          </p:cNvSpPr>
          <p:nvPr/>
        </p:nvSpPr>
        <p:spPr>
          <a:xfrm>
            <a:off x="685800" y="4724400"/>
            <a:ext cx="32766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500" b="1" i="0">
                <a:solidFill>
                  <a:srgbClr val="111111"/>
                </a:solidFill>
              </a:defRPr>
            </a:pPr>
            <a:r>
              <a:rPr sz="1500" b="1" i="0">
                <a:solidFill>
                  <a:srgbClr val="111111"/>
                </a:solidFill>
              </a:rPr>
              <a:t>Custom icon + splash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9C43103-8D73-425C-802B-9B2746D68DB5}"/>
              </a:ext>
            </a:extLst>
          </p:cNvPr>
          <p:cNvSpPr>
            <a:spLocks noGrp="1"/>
          </p:cNvSpPr>
          <p:nvPr/>
        </p:nvSpPr>
        <p:spPr>
          <a:xfrm>
            <a:off x="685800" y="5143500"/>
            <a:ext cx="32766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75" b="0" i="0">
                <a:solidFill>
                  <a:srgbClr val="5B5B5B"/>
                </a:solidFill>
              </a:defRPr>
            </a:pPr>
            <a:r>
              <a:rPr sz="1275" b="0" i="0">
                <a:solidFill>
                  <a:srgbClr val="5B5B5B"/>
                </a:solidFill>
              </a:rPr>
              <a:t>Five persisted palettes</a:t>
            </a:r>
          </a:p>
          <a:p>
            <a:pPr algn="ctr">
              <a:defRPr sz="1275" b="0" i="0">
                <a:solidFill>
                  <a:srgbClr val="5B5B5B"/>
                </a:solidFill>
              </a:defRPr>
            </a:pPr>
            <a:r>
              <a:rPr sz="1275" b="0" i="0">
                <a:solidFill>
                  <a:srgbClr val="5B5B5B"/>
                </a:solidFill>
              </a:rPr>
              <a:t>Neon Purple • Hot Pink • Cyber Cyan</a:t>
            </a:r>
          </a:p>
          <a:p>
            <a:pPr algn="ctr">
              <a:defRPr sz="1275" b="0" i="0">
                <a:solidFill>
                  <a:srgbClr val="5B5B5B"/>
                </a:solidFill>
              </a:defRPr>
            </a:pPr>
            <a:r>
              <a:rPr sz="1275" b="0" i="0">
                <a:solidFill>
                  <a:srgbClr val="5B5B5B"/>
                </a:solidFill>
              </a:rPr>
              <a:t>Golden Hour • Ice Blue</a:t>
            </a:r>
          </a:p>
        </p:txBody>
      </p:sp>
      <p:sp>
        <p:nvSpPr>
          <p:cNvPr id="10" name="Straight Connector 9">
            <a:extLst>
              <a:ext uri="{FF2B5EF4-FFF2-40B4-BE49-F238E27FC236}">
                <a16:creationId xmlns:a16="http://schemas.microsoft.com/office/drawing/2014/main" id="{41EC651E-320C-4C39-966E-B9508A914F0C}"/>
              </a:ext>
            </a:extLst>
          </p:cNvPr>
          <p:cNvSpPr>
            <a:spLocks noGrp="1"/>
          </p:cNvSpPr>
          <p:nvPr/>
        </p:nvSpPr>
        <p:spPr>
          <a:xfrm>
            <a:off x="4419600" y="1352550"/>
            <a:ext cx="0" cy="4686300"/>
          </a:xfrm>
          <a:prstGeom prst="line">
            <a:avLst/>
          </a:prstGeom>
          <a:noFill/>
          <a:ln w="9525">
            <a:solidFill>
              <a:srgbClr val="D8D8D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7EF7EFD-30F6-4A44-9649-94BE035A2D0D}"/>
              </a:ext>
            </a:extLst>
          </p:cNvPr>
          <p:cNvSpPr>
            <a:spLocks noGrp="1"/>
          </p:cNvSpPr>
          <p:nvPr/>
        </p:nvSpPr>
        <p:spPr>
          <a:xfrm>
            <a:off x="4914900" y="1390650"/>
            <a:ext cx="6096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1" i="0">
                <a:solidFill>
                  <a:srgbClr val="111111"/>
                </a:solidFill>
              </a:defRPr>
            </a:pPr>
            <a:r>
              <a:rPr sz="1800" b="1" i="0">
                <a:solidFill>
                  <a:srgbClr val="111111"/>
                </a:solidFill>
              </a:rPr>
              <a:t>Named comparison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8A6FACF-86A3-4001-80F6-F059DA4D64B3}"/>
              </a:ext>
            </a:extLst>
          </p:cNvPr>
          <p:cNvSpPr>
            <a:spLocks noGrp="1"/>
          </p:cNvSpPr>
          <p:nvPr/>
        </p:nvSpPr>
        <p:spPr>
          <a:xfrm>
            <a:off x="4914900" y="1943100"/>
            <a:ext cx="10668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 i="0">
                <a:solidFill>
                  <a:srgbClr val="111111"/>
                </a:solidFill>
              </a:defRPr>
            </a:pPr>
            <a:r>
              <a:rPr sz="1500" b="1" i="0">
                <a:solidFill>
                  <a:srgbClr val="111111"/>
                </a:solidFill>
              </a:rPr>
              <a:t>Canva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8D4C20A-7432-4882-A391-1311B9673D24}"/>
              </a:ext>
            </a:extLst>
          </p:cNvPr>
          <p:cNvSpPr>
            <a:spLocks noGrp="1"/>
          </p:cNvSpPr>
          <p:nvPr/>
        </p:nvSpPr>
        <p:spPr>
          <a:xfrm>
            <a:off x="6172200" y="1943100"/>
            <a:ext cx="48387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 i="0">
                <a:solidFill>
                  <a:srgbClr val="5B5B5B"/>
                </a:solidFill>
              </a:defRPr>
            </a:pPr>
            <a:r>
              <a:rPr sz="1350" b="0" i="0">
                <a:solidFill>
                  <a:srgbClr val="5B5B5B"/>
                </a:solidFill>
              </a:rPr>
              <a:t>Broad AI photo editing and template-led design.</a:t>
            </a:r>
          </a:p>
        </p:txBody>
      </p:sp>
      <p:sp>
        <p:nvSpPr>
          <p:cNvPr id="14" name="Straight Connector 13">
            <a:extLst>
              <a:ext uri="{FF2B5EF4-FFF2-40B4-BE49-F238E27FC236}">
                <a16:creationId xmlns:a16="http://schemas.microsoft.com/office/drawing/2014/main" id="{856C68CA-4B4C-4CBA-BF85-CCFE5FDAFADA}"/>
              </a:ext>
            </a:extLst>
          </p:cNvPr>
          <p:cNvSpPr>
            <a:spLocks noGrp="1"/>
          </p:cNvSpPr>
          <p:nvPr/>
        </p:nvSpPr>
        <p:spPr>
          <a:xfrm>
            <a:off x="4914900" y="2476500"/>
            <a:ext cx="6096000" cy="0"/>
          </a:xfrm>
          <a:prstGeom prst="line">
            <a:avLst/>
          </a:prstGeom>
          <a:noFill/>
          <a:ln w="9525">
            <a:solidFill>
              <a:srgbClr val="D8D8D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28574197-E71A-4D15-A19C-D17BDD138287}"/>
              </a:ext>
            </a:extLst>
          </p:cNvPr>
          <p:cNvSpPr>
            <a:spLocks noGrp="1"/>
          </p:cNvSpPr>
          <p:nvPr/>
        </p:nvSpPr>
        <p:spPr>
          <a:xfrm>
            <a:off x="4914900" y="2686050"/>
            <a:ext cx="10668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 i="0">
                <a:solidFill>
                  <a:srgbClr val="111111"/>
                </a:solidFill>
              </a:defRPr>
            </a:pPr>
            <a:r>
              <a:rPr sz="1500" b="1" i="0">
                <a:solidFill>
                  <a:srgbClr val="111111"/>
                </a:solidFill>
              </a:rPr>
              <a:t>TikTok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4714EAD-158B-44F8-88A2-12FBFCA8006B}"/>
              </a:ext>
            </a:extLst>
          </p:cNvPr>
          <p:cNvSpPr>
            <a:spLocks noGrp="1"/>
          </p:cNvSpPr>
          <p:nvPr/>
        </p:nvSpPr>
        <p:spPr>
          <a:xfrm>
            <a:off x="6172200" y="2686050"/>
            <a:ext cx="48387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 i="0">
                <a:solidFill>
                  <a:srgbClr val="5B5B5B"/>
                </a:solidFill>
              </a:defRPr>
            </a:pPr>
            <a:r>
              <a:rPr sz="1350" b="0" i="0">
                <a:solidFill>
                  <a:srgbClr val="5B5B5B"/>
                </a:solidFill>
              </a:rPr>
              <a:t>Sound-led creation and social publishing.</a:t>
            </a:r>
          </a:p>
        </p:txBody>
      </p:sp>
      <p:sp>
        <p:nvSpPr>
          <p:cNvPr id="17" name="Straight Connector 16">
            <a:extLst>
              <a:ext uri="{FF2B5EF4-FFF2-40B4-BE49-F238E27FC236}">
                <a16:creationId xmlns:a16="http://schemas.microsoft.com/office/drawing/2014/main" id="{50B2D36C-F163-4037-A69A-7E36A80CE2DD}"/>
              </a:ext>
            </a:extLst>
          </p:cNvPr>
          <p:cNvSpPr>
            <a:spLocks noGrp="1"/>
          </p:cNvSpPr>
          <p:nvPr/>
        </p:nvSpPr>
        <p:spPr>
          <a:xfrm>
            <a:off x="4914900" y="3219450"/>
            <a:ext cx="6096000" cy="0"/>
          </a:xfrm>
          <a:prstGeom prst="line">
            <a:avLst/>
          </a:prstGeom>
          <a:noFill/>
          <a:ln w="9525">
            <a:solidFill>
              <a:srgbClr val="D8D8D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7A08F59B-E8B7-43CE-B434-B214F5609705}"/>
              </a:ext>
            </a:extLst>
          </p:cNvPr>
          <p:cNvSpPr>
            <a:spLocks noGrp="1"/>
          </p:cNvSpPr>
          <p:nvPr/>
        </p:nvSpPr>
        <p:spPr>
          <a:xfrm>
            <a:off x="4914900" y="3429000"/>
            <a:ext cx="10668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 i="0">
                <a:solidFill>
                  <a:srgbClr val="111111"/>
                </a:solidFill>
              </a:defRPr>
            </a:pPr>
            <a:r>
              <a:rPr sz="1500" b="1" i="0">
                <a:solidFill>
                  <a:srgbClr val="111111"/>
                </a:solidFill>
              </a:rPr>
              <a:t>AuraFarm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B9C5F77-A0DD-41E3-8188-1A7E8464F01C}"/>
              </a:ext>
            </a:extLst>
          </p:cNvPr>
          <p:cNvSpPr>
            <a:spLocks noGrp="1"/>
          </p:cNvSpPr>
          <p:nvPr/>
        </p:nvSpPr>
        <p:spPr>
          <a:xfrm>
            <a:off x="6172200" y="3429000"/>
            <a:ext cx="48387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 i="0">
                <a:solidFill>
                  <a:srgbClr val="5B5B5B"/>
                </a:solidFill>
              </a:defRPr>
            </a:pPr>
            <a:r>
              <a:rPr sz="1350" b="0" i="0">
                <a:solidFill>
                  <a:srgbClr val="5B5B5B"/>
                </a:solidFill>
              </a:rPr>
              <a:t>Outfit + expression → editable vibe card with song and meme suggestions.</a:t>
            </a:r>
          </a:p>
        </p:txBody>
      </p:sp>
      <p:sp>
        <p:nvSpPr>
          <p:cNvPr id="20" name="Straight Connector 19">
            <a:extLst>
              <a:ext uri="{FF2B5EF4-FFF2-40B4-BE49-F238E27FC236}">
                <a16:creationId xmlns:a16="http://schemas.microsoft.com/office/drawing/2014/main" id="{EF9261D0-A89E-4A8C-BE6C-670C1B197B88}"/>
              </a:ext>
            </a:extLst>
          </p:cNvPr>
          <p:cNvSpPr>
            <a:spLocks noGrp="1"/>
          </p:cNvSpPr>
          <p:nvPr/>
        </p:nvSpPr>
        <p:spPr>
          <a:xfrm>
            <a:off x="4914900" y="4133850"/>
            <a:ext cx="6096000" cy="0"/>
          </a:xfrm>
          <a:prstGeom prst="line">
            <a:avLst/>
          </a:prstGeom>
          <a:noFill/>
          <a:ln w="9525">
            <a:solidFill>
              <a:srgbClr val="D8D8D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3A3686BD-3670-44AA-8E5D-34A77638698D}"/>
              </a:ext>
            </a:extLst>
          </p:cNvPr>
          <p:cNvSpPr>
            <a:spLocks noGrp="1"/>
          </p:cNvSpPr>
          <p:nvPr/>
        </p:nvSpPr>
        <p:spPr>
          <a:xfrm>
            <a:off x="4914900" y="4362450"/>
            <a:ext cx="6096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 i="0">
                <a:solidFill>
                  <a:srgbClr val="111111"/>
                </a:solidFill>
              </a:defRPr>
            </a:pPr>
            <a:r>
              <a:rPr sz="1500" b="1" i="0">
                <a:solidFill>
                  <a:srgbClr val="111111"/>
                </a:solidFill>
              </a:rPr>
              <a:t>Target + return loop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1B0EF240-87FB-462B-97D2-1C7F13475438}"/>
              </a:ext>
            </a:extLst>
          </p:cNvPr>
          <p:cNvSpPr>
            <a:spLocks noGrp="1"/>
          </p:cNvSpPr>
          <p:nvPr/>
        </p:nvSpPr>
        <p:spPr>
          <a:xfrm>
            <a:off x="4914900" y="4724400"/>
            <a:ext cx="60960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 i="0">
                <a:solidFill>
                  <a:srgbClr val="5B5B5B"/>
                </a:solidFill>
              </a:defRPr>
            </a:pPr>
            <a:r>
              <a:rPr sz="1350" b="0" i="0">
                <a:solidFill>
                  <a:srgbClr val="5B5B5B"/>
                </a:solidFill>
              </a:rPr>
              <a:t>Students and young adults, 15–25</a:t>
            </a:r>
          </a:p>
          <a:p>
            <a:pPr algn="l">
              <a:defRPr sz="1350" b="0" i="0">
                <a:solidFill>
                  <a:srgbClr val="5B5B5B"/>
                </a:solidFill>
              </a:defRPr>
            </a:pPr>
            <a:r>
              <a:rPr sz="1350" b="0" i="0">
                <a:solidFill>
                  <a:srgbClr val="5B5B5B"/>
                </a:solidFill>
              </a:rPr>
              <a:t>Create → personalise → share → discover → return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0EC8905E-6FA8-4628-950A-1B288C8E56B2}"/>
              </a:ext>
            </a:extLst>
          </p:cNvPr>
          <p:cNvSpPr>
            <a:spLocks noGrp="1"/>
          </p:cNvSpPr>
          <p:nvPr/>
        </p:nvSpPr>
        <p:spPr>
          <a:xfrm>
            <a:off x="4914900" y="5562600"/>
            <a:ext cx="60960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 i="1">
                <a:solidFill>
                  <a:srgbClr val="5B5B5B"/>
                </a:solidFill>
              </a:defRPr>
            </a:pPr>
            <a:r>
              <a:rPr sz="1275" b="0" i="1">
                <a:solidFill>
                  <a:srgbClr val="5B5B5B"/>
                </a:solidFill>
              </a:rPr>
              <a:t>Future Aura+: optional premium themes, layouts and exports; trusted payment verification remains server-side future work.</a:t>
            </a:r>
          </a:p>
        </p:txBody>
      </p:sp>
    </p:spTree>
    <p:extLst>
      <p:ext uri="{BB962C8B-B14F-4D97-AF65-F5344CB8AC3E}">
        <p14:creationId xmlns:p14="http://schemas.microsoft.com/office/powerpoint/2010/main" val="205048602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slide-6-title">
            <a:extLst>
              <a:ext uri="{FF2B5EF4-FFF2-40B4-BE49-F238E27FC236}">
                <a16:creationId xmlns:a16="http://schemas.microsoft.com/office/drawing/2014/main" id="{43298280-0E4E-4B02-BE8E-93C1F030A7AC}"/>
              </a:ext>
            </a:extLst>
          </p:cNvPr>
          <p:cNvSpPr>
            <a:spLocks noGrp="1"/>
          </p:cNvSpPr>
          <p:nvPr/>
        </p:nvSpPr>
        <p:spPr>
          <a:xfrm>
            <a:off x="685800" y="361950"/>
            <a:ext cx="108204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850" b="1" i="0">
                <a:solidFill>
                  <a:srgbClr val="111111"/>
                </a:solidFill>
              </a:defRPr>
            </a:pPr>
            <a:r>
              <a:rPr sz="2850" b="1" i="0" dirty="0">
                <a:solidFill>
                  <a:srgbClr val="111111"/>
                </a:solidFill>
              </a:rPr>
              <a:t>Implementation Decisions</a:t>
            </a:r>
          </a:p>
        </p:txBody>
      </p:sp>
      <p:sp>
        <p:nvSpPr>
          <p:cNvPr id="2" name="Straight Connector 1">
            <a:extLst>
              <a:ext uri="{FF2B5EF4-FFF2-40B4-BE49-F238E27FC236}">
                <a16:creationId xmlns:a16="http://schemas.microsoft.com/office/drawing/2014/main" id="{B72E351A-BBB0-457A-B348-367CA95E015E}"/>
              </a:ext>
            </a:extLst>
          </p:cNvPr>
          <p:cNvSpPr>
            <a:spLocks noGrp="1"/>
          </p:cNvSpPr>
          <p:nvPr/>
        </p:nvSpPr>
        <p:spPr>
          <a:xfrm>
            <a:off x="685800" y="1028700"/>
            <a:ext cx="10820400" cy="0"/>
          </a:xfrm>
          <a:prstGeom prst="line">
            <a:avLst/>
          </a:prstGeom>
          <a:noFill/>
          <a:ln w="13335">
            <a:solidFill>
              <a:srgbClr val="11111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Straight Connector 2">
            <a:extLst>
              <a:ext uri="{FF2B5EF4-FFF2-40B4-BE49-F238E27FC236}">
                <a16:creationId xmlns:a16="http://schemas.microsoft.com/office/drawing/2014/main" id="{10285A51-FCA5-46AC-8DAC-38516B1508D4}"/>
              </a:ext>
            </a:extLst>
          </p:cNvPr>
          <p:cNvSpPr>
            <a:spLocks noGrp="1"/>
          </p:cNvSpPr>
          <p:nvPr/>
        </p:nvSpPr>
        <p:spPr>
          <a:xfrm>
            <a:off x="685800" y="6457950"/>
            <a:ext cx="10820400" cy="0"/>
          </a:xfrm>
          <a:prstGeom prst="line">
            <a:avLst/>
          </a:prstGeom>
          <a:noFill/>
          <a:ln w="9525">
            <a:solidFill>
              <a:srgbClr val="D8D8D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0E2ED21-F63F-4CB4-953A-021A80A38F07}"/>
              </a:ext>
            </a:extLst>
          </p:cNvPr>
          <p:cNvSpPr>
            <a:spLocks noGrp="1"/>
          </p:cNvSpPr>
          <p:nvPr/>
        </p:nvSpPr>
        <p:spPr>
          <a:xfrm>
            <a:off x="685800" y="6515100"/>
            <a:ext cx="2857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 i="0">
                <a:solidFill>
                  <a:srgbClr val="5B5B5B"/>
                </a:solidFill>
              </a:defRPr>
            </a:pPr>
            <a:r>
              <a:rPr sz="1200" b="1" i="0">
                <a:solidFill>
                  <a:srgbClr val="5B5B5B"/>
                </a:solidFill>
              </a:rPr>
              <a:t>AURAFARM  •  PART 3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AE0494E-1BB6-4191-98C7-AD4F3B4361E4}"/>
              </a:ext>
            </a:extLst>
          </p:cNvPr>
          <p:cNvSpPr>
            <a:spLocks noGrp="1"/>
          </p:cNvSpPr>
          <p:nvPr/>
        </p:nvSpPr>
        <p:spPr>
          <a:xfrm>
            <a:off x="11010900" y="6515100"/>
            <a:ext cx="495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200" b="1" i="0">
                <a:solidFill>
                  <a:srgbClr val="5B5B5B"/>
                </a:solidFill>
              </a:defRPr>
            </a:pPr>
            <a:r>
              <a:rPr sz="1200" b="1" i="0">
                <a:solidFill>
                  <a:srgbClr val="5B5B5B"/>
                </a:solidFill>
              </a:rPr>
              <a:t>11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1554480"/>
            <a:ext cx="333756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111111"/>
                </a:solidFill>
                <a:latin typeface="Calibri"/>
              </a:rPr>
              <a:t>Cards keep their parts, not a flat picture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2212848"/>
            <a:ext cx="3337560" cy="13388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50" dirty="0">
                <a:solidFill>
                  <a:srgbClr val="5B5B5B"/>
                </a:solidFill>
                <a:latin typeface="Calibri"/>
              </a:rPr>
              <a:t>A card stores the two photos, where each overlay sits, the song and the meme, and is composed again every time it is drawn. That is why editing a card changes the card itself  and it stores less than the flattened image it replaced.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25696" y="1554480"/>
            <a:ext cx="333756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111111"/>
                </a:solidFill>
                <a:latin typeface="Calibri"/>
              </a:rPr>
              <a:t>Photos as base64 in Firestore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25696" y="2212848"/>
            <a:ext cx="333756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50" dirty="0">
                <a:solidFill>
                  <a:srgbClr val="5B5B5B"/>
                </a:solidFill>
                <a:latin typeface="Calibri"/>
              </a:rPr>
              <a:t>The specification rules out paid services, and Mini-Project 9 states that Cloud Storage requires a Blaze plan. Both photos are compressed as they are picked, so a document stays well under the 1 MiB limit.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65592" y="1554480"/>
            <a:ext cx="333756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111111"/>
                </a:solidFill>
                <a:latin typeface="Calibri"/>
              </a:rPr>
              <a:t>Eight proposed tables became one collection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65592" y="2212848"/>
            <a:ext cx="333756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50" dirty="0" err="1">
                <a:solidFill>
                  <a:srgbClr val="5B5B5B"/>
                </a:solidFill>
                <a:latin typeface="Calibri"/>
              </a:rPr>
              <a:t>Firestore</a:t>
            </a:r>
            <a:r>
              <a:rPr sz="1350" dirty="0">
                <a:solidFill>
                  <a:srgbClr val="5B5B5B"/>
                </a:solidFill>
                <a:latin typeface="Calibri"/>
              </a:rPr>
              <a:t> is document based and Part 3 grades one CRUD set, so song, meme and vibe live as fields on the post rather than as separate collections.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" y="4709160"/>
            <a:ext cx="1081735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50" i="1" dirty="0">
                <a:solidFill>
                  <a:srgbClr val="5B5B5B"/>
                </a:solidFill>
                <a:latin typeface="Calibri"/>
              </a:rPr>
              <a:t>NETS QR was proposed in Part 1 when it was compulsory. Once optional, it was dropped: the specification classifies it as a simple additional feature, and four advanced ones were already implemented.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slide-10-title">
            <a:extLst>
              <a:ext uri="{FF2B5EF4-FFF2-40B4-BE49-F238E27FC236}">
                <a16:creationId xmlns:a16="http://schemas.microsoft.com/office/drawing/2014/main" id="{BE1CFC2C-5697-4C96-BF1C-087C14A2866D}"/>
              </a:ext>
            </a:extLst>
          </p:cNvPr>
          <p:cNvSpPr>
            <a:spLocks noGrp="1"/>
          </p:cNvSpPr>
          <p:nvPr/>
        </p:nvSpPr>
        <p:spPr>
          <a:xfrm>
            <a:off x="685800" y="361950"/>
            <a:ext cx="108204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850" b="1" i="0">
                <a:solidFill>
                  <a:srgbClr val="111111"/>
                </a:solidFill>
              </a:defRPr>
            </a:pPr>
            <a:r>
              <a:rPr sz="2850" b="1" i="0" dirty="0" err="1">
                <a:solidFill>
                  <a:srgbClr val="111111"/>
                </a:solidFill>
              </a:rPr>
              <a:t>AuraFarm</a:t>
            </a:r>
            <a:r>
              <a:rPr sz="2850" b="1" i="0" dirty="0">
                <a:solidFill>
                  <a:srgbClr val="111111"/>
                </a:solidFill>
              </a:rPr>
              <a:t> </a:t>
            </a:r>
            <a:r>
              <a:rPr lang="en-SG" sz="2850" b="1" dirty="0">
                <a:solidFill>
                  <a:srgbClr val="111111"/>
                </a:solidFill>
              </a:rPr>
              <a:t>Video Demo</a:t>
            </a:r>
            <a:endParaRPr sz="2850" b="1" i="0" dirty="0">
              <a:solidFill>
                <a:srgbClr val="111111"/>
              </a:solidFill>
            </a:endParaRPr>
          </a:p>
        </p:txBody>
      </p:sp>
      <p:sp>
        <p:nvSpPr>
          <p:cNvPr id="2" name="Straight Connector 1">
            <a:extLst>
              <a:ext uri="{FF2B5EF4-FFF2-40B4-BE49-F238E27FC236}">
                <a16:creationId xmlns:a16="http://schemas.microsoft.com/office/drawing/2014/main" id="{C57A2E5D-006E-45EE-976A-3FC2B0B73854}"/>
              </a:ext>
            </a:extLst>
          </p:cNvPr>
          <p:cNvSpPr>
            <a:spLocks noGrp="1"/>
          </p:cNvSpPr>
          <p:nvPr/>
        </p:nvSpPr>
        <p:spPr>
          <a:xfrm>
            <a:off x="685800" y="1028700"/>
            <a:ext cx="10820400" cy="0"/>
          </a:xfrm>
          <a:prstGeom prst="line">
            <a:avLst/>
          </a:prstGeom>
          <a:noFill/>
          <a:ln w="13335">
            <a:solidFill>
              <a:srgbClr val="11111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Straight Connector 2">
            <a:extLst>
              <a:ext uri="{FF2B5EF4-FFF2-40B4-BE49-F238E27FC236}">
                <a16:creationId xmlns:a16="http://schemas.microsoft.com/office/drawing/2014/main" id="{62489828-3C4A-402A-A650-DB063A8B9FC7}"/>
              </a:ext>
            </a:extLst>
          </p:cNvPr>
          <p:cNvSpPr>
            <a:spLocks noGrp="1"/>
          </p:cNvSpPr>
          <p:nvPr/>
        </p:nvSpPr>
        <p:spPr>
          <a:xfrm>
            <a:off x="685800" y="6457950"/>
            <a:ext cx="10820400" cy="0"/>
          </a:xfrm>
          <a:prstGeom prst="line">
            <a:avLst/>
          </a:prstGeom>
          <a:noFill/>
          <a:ln w="9525">
            <a:solidFill>
              <a:srgbClr val="D8D8D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2961695-DF08-4C4C-A837-68965FF1BBA4}"/>
              </a:ext>
            </a:extLst>
          </p:cNvPr>
          <p:cNvSpPr>
            <a:spLocks noGrp="1"/>
          </p:cNvSpPr>
          <p:nvPr/>
        </p:nvSpPr>
        <p:spPr>
          <a:xfrm>
            <a:off x="685800" y="6515100"/>
            <a:ext cx="2857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 i="0">
                <a:solidFill>
                  <a:srgbClr val="5B5B5B"/>
                </a:solidFill>
              </a:defRPr>
            </a:pPr>
            <a:r>
              <a:rPr sz="1200" b="1" i="0">
                <a:solidFill>
                  <a:srgbClr val="5B5B5B"/>
                </a:solidFill>
              </a:rPr>
              <a:t>AURAFARM  •  PART 3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2935D82-5CAD-4B38-A2FF-41899E2A244B}"/>
              </a:ext>
            </a:extLst>
          </p:cNvPr>
          <p:cNvSpPr>
            <a:spLocks noGrp="1"/>
          </p:cNvSpPr>
          <p:nvPr/>
        </p:nvSpPr>
        <p:spPr>
          <a:xfrm>
            <a:off x="11010900" y="6515100"/>
            <a:ext cx="495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200" b="1" i="0">
                <a:solidFill>
                  <a:srgbClr val="5B5B5B"/>
                </a:solidFill>
              </a:defRPr>
            </a:pPr>
            <a:r>
              <a:rPr sz="1200" b="1" i="0">
                <a:solidFill>
                  <a:srgbClr val="5B5B5B"/>
                </a:solidFill>
              </a:rPr>
              <a:t>12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A0DC3007-ED72-42CC-947E-CBAE586E25CD}"/>
              </a:ext>
            </a:extLst>
          </p:cNvPr>
          <p:cNvSpPr>
            <a:spLocks noGrp="1"/>
          </p:cNvSpPr>
          <p:nvPr/>
        </p:nvSpPr>
        <p:spPr>
          <a:xfrm>
            <a:off x="932531" y="1683232"/>
            <a:ext cx="5334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1" i="0">
                <a:solidFill>
                  <a:srgbClr val="111111"/>
                </a:solidFill>
              </a:defRPr>
            </a:pPr>
            <a:r>
              <a:rPr sz="1800" b="1" i="0" dirty="0">
                <a:solidFill>
                  <a:srgbClr val="111111"/>
                </a:solidFill>
              </a:rPr>
              <a:t>Video demonstration  •  maximum 5 minutes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45E1B3C8-20A3-40F0-9E6A-ECAB4B30CCFE}"/>
              </a:ext>
            </a:extLst>
          </p:cNvPr>
          <p:cNvSpPr>
            <a:spLocks noGrp="1"/>
          </p:cNvSpPr>
          <p:nvPr/>
        </p:nvSpPr>
        <p:spPr>
          <a:xfrm>
            <a:off x="932531" y="2140432"/>
            <a:ext cx="9963150" cy="704850"/>
          </a:xfrm>
          <a:prstGeom prst="roundRect">
            <a:avLst>
              <a:gd name="adj" fmla="val 10811"/>
            </a:avLst>
          </a:prstGeom>
          <a:solidFill>
            <a:srgbClr val="F5F5F5"/>
          </a:solidFill>
          <a:ln w="9525">
            <a:solidFill>
              <a:srgbClr val="D8D8D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716F2C18-CC04-4FFD-B50D-F697345439E4}"/>
              </a:ext>
            </a:extLst>
          </p:cNvPr>
          <p:cNvSpPr>
            <a:spLocks noGrp="1"/>
          </p:cNvSpPr>
          <p:nvPr/>
        </p:nvSpPr>
        <p:spPr>
          <a:xfrm>
            <a:off x="1161131" y="2349982"/>
            <a:ext cx="95059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500" b="0" i="0">
                <a:solidFill>
                  <a:srgbClr val="5B5B5B"/>
                </a:solidFill>
              </a:defRPr>
            </a:pPr>
            <a:r>
              <a:rPr sz="1500" b="0" i="0" dirty="0">
                <a:solidFill>
                  <a:srgbClr val="5B5B5B"/>
                </a:solidFill>
              </a:rPr>
              <a:t>https://youtu</a:t>
            </a:r>
            <a:r>
              <a:rPr lang="en-SG" sz="1500" b="0" i="0" dirty="0">
                <a:solidFill>
                  <a:srgbClr val="5B5B5B"/>
                </a:solidFill>
              </a:rPr>
              <a:t>.</a:t>
            </a:r>
            <a:r>
              <a:rPr sz="1500" b="0" i="0" dirty="0">
                <a:solidFill>
                  <a:srgbClr val="5B5B5B"/>
                </a:solidFill>
              </a:rPr>
              <a:t>be/ePYmI5uU8bU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E2BE6BFC-925F-C0C2-F13B-6DEC6604E1BC}"/>
              </a:ext>
            </a:extLst>
          </p:cNvPr>
          <p:cNvSpPr>
            <a:spLocks noGrp="1"/>
          </p:cNvSpPr>
          <p:nvPr/>
        </p:nvSpPr>
        <p:spPr>
          <a:xfrm>
            <a:off x="2221231" y="2845282"/>
            <a:ext cx="80906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1" i="0">
                <a:solidFill>
                  <a:srgbClr val="111111"/>
                </a:solidFill>
              </a:defRPr>
            </a:pPr>
            <a:r>
              <a:rPr lang="en-SG" sz="1800" b="1" i="0" dirty="0">
                <a:solidFill>
                  <a:srgbClr val="111111"/>
                </a:solidFill>
              </a:rPr>
              <a:t>Demo goes through all parts of the app, additional features and CRUD</a:t>
            </a:r>
            <a:endParaRPr sz="1800" b="1" i="0" dirty="0">
              <a:solidFill>
                <a:srgbClr val="11111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7788874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1083</Words>
  <Application>Microsoft Office PowerPoint</Application>
  <PresentationFormat>Widescreen</PresentationFormat>
  <Paragraphs>168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Aptos</vt:lpstr>
      <vt:lpstr>Aptos Display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LEON JR CHUA</dc:creator>
  <cp:lastModifiedBy>LEON JR CHUA</cp:lastModifiedBy>
  <cp:revision>1</cp:revision>
  <dcterms:created xsi:type="dcterms:W3CDTF">2026-08-10T00:34:07Z</dcterms:created>
  <dcterms:modified xsi:type="dcterms:W3CDTF">2026-08-10T00:39:22Z</dcterms:modified>
</cp:coreProperties>
</file>