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81311" autoAdjust="0"/>
  </p:normalViewPr>
  <p:slideViewPr>
    <p:cSldViewPr snapToGrid="0" snapToObjects="1">
      <p:cViewPr>
        <p:scale>
          <a:sx n="90" d="100"/>
          <a:sy n="90" d="100"/>
        </p:scale>
        <p:origin x="1666" y="89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90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Leon. My project is Salarycalc, a developer salary estimator. The idea is simple: turn real survey data into a usable web app that helps developers understand what their profile may be worth in the market.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that developers often need salary evidence, especially when comparing roles or offers. My dataset is the 2025 Stack Overflow Developer Survey. It starts with 49,191 respondents and after filtering for employed developers with usable salary and experience data, I modelled 17,650 records. Since the target is yearly compensation in USD, this is a regression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approach, I focused on evidence. The task is regression, and I used MAE because the error is measured directly in dollars. I cleaned unrealistic salary values, engineered technology counts and key yes-no flags, and removed CompTotal because it would leak the answer. I compared linear regression, random forest, gradient boosting and decision tree. Linear regression was actually strongest before tuning, but I tuned ensembles to see if they could beat it. PCA and classification were tested but rejected because they did not serve the app goal as well.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is Gradient Boosting tuned for MAE. Its test MAE is 27,974 dollars, compared with 30,301 for the linear regression baseline on the same split, which is a 7.7 percent improvement. The cross-validation MAE is also very close to the test MAE, so the result looks consistent rather than lucky. For the business problem, this means the app gives users a more useful salary benchmark in understandable dollar terms.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Salarycalc is a decision-support tool. It is most useful in common salary ranges from about 50,000 to 250,000 dollars, and the most important drivers are country and experience. I am also clear about its limits: the survey is self-reported, and USD salary does not fully account for cost of living or tax. The next improvement would be country-specific normalisation and richer seniority or company features.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57200" y="6547104"/>
            <a:ext cx="11274552" cy="0"/>
          </a:xfrm>
          <a:prstGeom prst="line">
            <a:avLst/>
          </a:prstGeom>
          <a:noFill/>
          <a:ln w="9525">
            <a:solidFill>
              <a:srgbClr val="CAD5E3">
                <a:alpha val="80000"/>
              </a:srgbClr>
            </a:solidFill>
            <a:prstDash val="solid"/>
          </a:ln>
        </p:spPr>
        <p:txBody>
          <a:bodyPr/>
          <a:lstStyle/>
          <a:p>
            <a:endParaRPr lang="en-SG" dirty="0"/>
          </a:p>
        </p:txBody>
      </p:sp>
      <p:sp>
        <p:nvSpPr>
          <p:cNvPr id="3" name="Text 1"/>
          <p:cNvSpPr/>
          <p:nvPr/>
        </p:nvSpPr>
        <p:spPr>
          <a:xfrm>
            <a:off x="566928" y="6583680"/>
            <a:ext cx="2926080" cy="146304"/>
          </a:xfrm>
          <a:prstGeom prst="rect">
            <a:avLst/>
          </a:prstGeom>
          <a:noFill/>
          <a:ln/>
        </p:spPr>
        <p:txBody>
          <a:bodyPr wrap="square" rtlCol="0" anchor="ctr"/>
          <a:lstStyle/>
          <a:p>
            <a:pPr marL="0" indent="0">
              <a:buNone/>
            </a:pPr>
            <a:r>
              <a:rPr lang="en-US" sz="650" dirty="0">
                <a:solidFill>
                  <a:srgbClr val="6B7688"/>
                </a:solidFill>
                <a:latin typeface="Aptos" pitchFamily="34" charset="0"/>
                <a:ea typeface="Aptos" pitchFamily="34" charset="-122"/>
                <a:cs typeface="Aptos" pitchFamily="34" charset="-120"/>
              </a:rPr>
              <a:t>Salarycalc · MLDP CAI2C08</a:t>
            </a:r>
            <a:endParaRPr lang="en-US" sz="650" dirty="0"/>
          </a:p>
        </p:txBody>
      </p:sp>
      <p:sp>
        <p:nvSpPr>
          <p:cNvPr id="25" name="Slide Number Placeholder 0"/>
          <p:cNvSpPr>
            <a:spLocks noGrp="1"/>
          </p:cNvSpPr>
          <p:nvPr>
            <p:ph type="sldNum" sz="quarter" idx="4294967295"/>
          </p:nvPr>
        </p:nvSpPr>
        <p:spPr>
          <a:xfrm>
            <a:off x="1138428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B7688"/>
                </a:solidFill>
                <a:latin typeface="Aptos"/>
                <a:ea typeface="Aptos"/>
                <a:cs typeface="Aptos"/>
              </a:defRPr>
            </a:lvl1pPr>
          </a:lstStyle>
          <a:p>
            <a:pPr algn="l"/>
            <a:fld id="{F7021451-1387-4CA6-816F-3879F97B5CBC}" type="slidenum">
              <a:rPr lang="en-US" b="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B7688"/>
                </a:solidFill>
                <a:latin typeface="Aptos"/>
                <a:ea typeface="Aptos"/>
                <a:cs typeface="Aptos"/>
              </a:defRPr>
            </a:lvl1pPr>
          </a:lstStyle>
          <a:p>
            <a:pPr algn="l"/>
            <a:fld id="{F7021451-1387-4CA6-816F-3879F97B5CBC}" type="slidenum">
              <a:rPr lang="en-US" b="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txBody>
          <a:bodyPr/>
          <a:lstStyle/>
          <a:p>
            <a:endParaRPr lang="en-SG" dirty="0"/>
          </a:p>
        </p:txBody>
      </p:sp>
      <p:sp>
        <p:nvSpPr>
          <p:cNvPr id="3" name="Shape 1"/>
          <p:cNvSpPr/>
          <p:nvPr/>
        </p:nvSpPr>
        <p:spPr>
          <a:xfrm>
            <a:off x="0" y="0"/>
            <a:ext cx="12188952" cy="164592"/>
          </a:xfrm>
          <a:prstGeom prst="rect">
            <a:avLst/>
          </a:prstGeom>
          <a:solidFill>
            <a:srgbClr val="2563EB"/>
          </a:solidFill>
          <a:ln w="12700">
            <a:solidFill>
              <a:srgbClr val="333333">
                <a:alpha val="0"/>
              </a:srgbClr>
            </a:solidFill>
            <a:prstDash val="solid"/>
          </a:ln>
        </p:spPr>
        <p:txBody>
          <a:bodyPr/>
          <a:lstStyle/>
          <a:p>
            <a:endParaRPr lang="en-SG" dirty="0"/>
          </a:p>
        </p:txBody>
      </p:sp>
      <p:sp>
        <p:nvSpPr>
          <p:cNvPr id="4" name="Text 2"/>
          <p:cNvSpPr/>
          <p:nvPr/>
        </p:nvSpPr>
        <p:spPr>
          <a:xfrm>
            <a:off x="685800" y="1554480"/>
            <a:ext cx="6217920" cy="731520"/>
          </a:xfrm>
          <a:prstGeom prst="rect">
            <a:avLst/>
          </a:prstGeom>
          <a:noFill/>
          <a:ln/>
        </p:spPr>
        <p:txBody>
          <a:bodyPr wrap="square" lIns="0" tIns="0" rIns="0" bIns="0" rtlCol="0" anchor="ctr"/>
          <a:lstStyle/>
          <a:p>
            <a:pPr marL="0" indent="0">
              <a:buNone/>
            </a:pPr>
            <a:r>
              <a:rPr lang="en-US" sz="4600" b="1" dirty="0">
                <a:solidFill>
                  <a:srgbClr val="0B1E3A"/>
                </a:solidFill>
                <a:latin typeface="Aptos Display" pitchFamily="34" charset="0"/>
                <a:ea typeface="Aptos Display" pitchFamily="34" charset="-122"/>
                <a:cs typeface="Aptos Display" pitchFamily="34" charset="-120"/>
              </a:rPr>
              <a:t>Salarycalc</a:t>
            </a:r>
            <a:endParaRPr lang="en-US" sz="4600" dirty="0"/>
          </a:p>
        </p:txBody>
      </p:sp>
      <p:sp>
        <p:nvSpPr>
          <p:cNvPr id="5" name="Text 3"/>
          <p:cNvSpPr/>
          <p:nvPr/>
        </p:nvSpPr>
        <p:spPr>
          <a:xfrm>
            <a:off x="713232" y="2340864"/>
            <a:ext cx="6217920" cy="347472"/>
          </a:xfrm>
          <a:prstGeom prst="rect">
            <a:avLst/>
          </a:prstGeom>
          <a:noFill/>
          <a:ln/>
        </p:spPr>
        <p:txBody>
          <a:bodyPr wrap="square" lIns="0" tIns="0" rIns="0" bIns="0" rtlCol="0" anchor="ctr"/>
          <a:lstStyle/>
          <a:p>
            <a:pPr marL="0" indent="0">
              <a:buNone/>
            </a:pPr>
            <a:r>
              <a:rPr lang="en-US" sz="2000" b="1" dirty="0">
                <a:solidFill>
                  <a:srgbClr val="2563EB"/>
                </a:solidFill>
              </a:rPr>
              <a:t>Developer Salary Estimator</a:t>
            </a:r>
            <a:endParaRPr lang="en-US" sz="2000" dirty="0"/>
          </a:p>
        </p:txBody>
      </p:sp>
      <p:sp>
        <p:nvSpPr>
          <p:cNvPr id="6" name="Text 4"/>
          <p:cNvSpPr/>
          <p:nvPr/>
        </p:nvSpPr>
        <p:spPr>
          <a:xfrm>
            <a:off x="731520" y="2980944"/>
            <a:ext cx="6080760" cy="658368"/>
          </a:xfrm>
          <a:prstGeom prst="rect">
            <a:avLst/>
          </a:prstGeom>
          <a:noFill/>
          <a:ln/>
        </p:spPr>
        <p:txBody>
          <a:bodyPr wrap="square" lIns="254" tIns="254" rIns="254" bIns="254" rtlCol="0" anchor="ctr">
            <a:normAutofit/>
          </a:bodyPr>
          <a:lstStyle/>
          <a:p>
            <a:pPr marL="0" indent="0">
              <a:buNone/>
            </a:pPr>
            <a:r>
              <a:rPr lang="en-US" sz="1800" dirty="0">
                <a:solidFill>
                  <a:srgbClr val="64748B"/>
                </a:solidFill>
              </a:rPr>
              <a:t>A Streamlit machine learning web app that estimates annual developer compensation from real survey profiles</a:t>
            </a:r>
            <a:endParaRPr lang="en-US" sz="1800" dirty="0"/>
          </a:p>
        </p:txBody>
      </p:sp>
      <p:sp>
        <p:nvSpPr>
          <p:cNvPr id="7" name="Text 5"/>
          <p:cNvSpPr/>
          <p:nvPr/>
        </p:nvSpPr>
        <p:spPr>
          <a:xfrm>
            <a:off x="731520" y="3931920"/>
            <a:ext cx="1783080" cy="256032"/>
          </a:xfrm>
          <a:prstGeom prst="rect">
            <a:avLst/>
          </a:prstGeom>
          <a:solidFill>
            <a:srgbClr val="0B1E3A"/>
          </a:solidFill>
          <a:ln>
            <a:solidFill>
              <a:srgbClr val="0B1E3A">
                <a:alpha val="0"/>
              </a:srgbClr>
            </a:solidFill>
          </a:ln>
        </p:spPr>
        <p:txBody>
          <a:bodyPr wrap="square" lIns="381" tIns="381" rIns="381" bIns="381" rtlCol="0" anchor="ctr">
            <a:normAutofit/>
          </a:bodyPr>
          <a:lstStyle/>
          <a:p>
            <a:pPr marL="0" indent="0" algn="ctr">
              <a:buNone/>
            </a:pPr>
            <a:r>
              <a:rPr lang="en-US" sz="950" b="1" dirty="0">
                <a:solidFill>
                  <a:srgbClr val="FFFFFF"/>
                </a:solidFill>
              </a:rPr>
              <a:t>3-minute investor pitch</a:t>
            </a:r>
            <a:endParaRPr lang="en-US" sz="950" dirty="0"/>
          </a:p>
        </p:txBody>
      </p:sp>
      <p:sp>
        <p:nvSpPr>
          <p:cNvPr id="8" name="Text 6"/>
          <p:cNvSpPr/>
          <p:nvPr/>
        </p:nvSpPr>
        <p:spPr>
          <a:xfrm>
            <a:off x="2697480" y="3931920"/>
            <a:ext cx="1417320" cy="256032"/>
          </a:xfrm>
          <a:prstGeom prst="rect">
            <a:avLst/>
          </a:prstGeom>
          <a:solidFill>
            <a:srgbClr val="14B8A6"/>
          </a:solidFill>
          <a:ln>
            <a:solidFill>
              <a:srgbClr val="14B8A6">
                <a:alpha val="0"/>
              </a:srgbClr>
            </a:solidFill>
          </a:ln>
        </p:spPr>
        <p:txBody>
          <a:bodyPr wrap="square" lIns="381" tIns="381" rIns="381" bIns="381" rtlCol="0" anchor="ctr">
            <a:normAutofit/>
          </a:bodyPr>
          <a:lstStyle/>
          <a:p>
            <a:pPr marL="0" indent="0" algn="ctr">
              <a:buNone/>
            </a:pPr>
            <a:r>
              <a:rPr lang="en-US" sz="950" b="1" dirty="0">
                <a:solidFill>
                  <a:srgbClr val="FFFFFF"/>
                </a:solidFill>
              </a:rPr>
              <a:t>Regression model</a:t>
            </a:r>
            <a:endParaRPr lang="en-US" sz="950" dirty="0"/>
          </a:p>
        </p:txBody>
      </p:sp>
      <p:sp>
        <p:nvSpPr>
          <p:cNvPr id="9" name="Text 7"/>
          <p:cNvSpPr/>
          <p:nvPr/>
        </p:nvSpPr>
        <p:spPr>
          <a:xfrm>
            <a:off x="4279392" y="3931920"/>
            <a:ext cx="1188720" cy="256032"/>
          </a:xfrm>
          <a:prstGeom prst="rect">
            <a:avLst/>
          </a:prstGeom>
          <a:solidFill>
            <a:srgbClr val="7C3AED"/>
          </a:solidFill>
          <a:ln>
            <a:solidFill>
              <a:srgbClr val="7C3AED">
                <a:alpha val="0"/>
              </a:srgbClr>
            </a:solidFill>
          </a:ln>
        </p:spPr>
        <p:txBody>
          <a:bodyPr wrap="square" lIns="381" tIns="381" rIns="381" bIns="381" rtlCol="0" anchor="ctr">
            <a:normAutofit/>
          </a:bodyPr>
          <a:lstStyle/>
          <a:p>
            <a:pPr marL="0" indent="0" algn="ctr">
              <a:buNone/>
            </a:pPr>
            <a:r>
              <a:rPr lang="en-US" sz="950" b="1" dirty="0">
                <a:solidFill>
                  <a:srgbClr val="FFFFFF"/>
                </a:solidFill>
              </a:rPr>
              <a:t>Real dataset</a:t>
            </a:r>
            <a:endParaRPr lang="en-US" sz="950" dirty="0"/>
          </a:p>
        </p:txBody>
      </p:sp>
      <p:sp>
        <p:nvSpPr>
          <p:cNvPr id="10" name="Text 8"/>
          <p:cNvSpPr/>
          <p:nvPr/>
        </p:nvSpPr>
        <p:spPr>
          <a:xfrm>
            <a:off x="749808" y="5577840"/>
            <a:ext cx="4754880" cy="420624"/>
          </a:xfrm>
          <a:prstGeom prst="rect">
            <a:avLst/>
          </a:prstGeom>
          <a:noFill/>
          <a:ln/>
        </p:spPr>
        <p:txBody>
          <a:bodyPr wrap="square" lIns="0" tIns="0" rIns="0" bIns="0" rtlCol="0" anchor="ctr"/>
          <a:lstStyle/>
          <a:p>
            <a:pPr marL="0" indent="0">
              <a:buNone/>
            </a:pPr>
            <a:r>
              <a:rPr lang="en-US" sz="1150" dirty="0">
                <a:solidFill>
                  <a:srgbClr val="64748B"/>
                </a:solidFill>
              </a:rPr>
              <a:t>Leon Jr Chua · 2500593E</a:t>
            </a:r>
            <a:endParaRPr lang="en-US" sz="1150" dirty="0"/>
          </a:p>
          <a:p>
            <a:pPr marL="0" indent="0">
              <a:buNone/>
            </a:pPr>
            <a:r>
              <a:rPr lang="en-US" sz="1150" dirty="0">
                <a:solidFill>
                  <a:srgbClr val="64748B"/>
                </a:solidFill>
              </a:rPr>
              <a:t>Machine Learning for Developers (CAI2C08)</a:t>
            </a:r>
            <a:endParaRPr lang="en-US" sz="1150" dirty="0"/>
          </a:p>
        </p:txBody>
      </p:sp>
      <p:sp>
        <p:nvSpPr>
          <p:cNvPr id="11" name="Shape 9"/>
          <p:cNvSpPr/>
          <p:nvPr/>
        </p:nvSpPr>
        <p:spPr>
          <a:xfrm>
            <a:off x="7406640" y="960120"/>
            <a:ext cx="3566160" cy="3566160"/>
          </a:xfrm>
          <a:prstGeom prst="arc">
            <a:avLst/>
          </a:prstGeom>
          <a:solidFill>
            <a:srgbClr val="FFFFFF">
              <a:alpha val="0"/>
            </a:srgbClr>
          </a:solidFill>
          <a:ln w="50800">
            <a:solidFill>
              <a:srgbClr val="C7D2FE">
                <a:alpha val="90000"/>
              </a:srgbClr>
            </a:solidFill>
            <a:prstDash val="solid"/>
          </a:ln>
        </p:spPr>
        <p:txBody>
          <a:bodyPr/>
          <a:lstStyle/>
          <a:p>
            <a:endParaRPr lang="en-SG"/>
          </a:p>
        </p:txBody>
      </p:sp>
      <p:sp>
        <p:nvSpPr>
          <p:cNvPr id="12" name="Shape 10"/>
          <p:cNvSpPr/>
          <p:nvPr/>
        </p:nvSpPr>
        <p:spPr>
          <a:xfrm>
            <a:off x="7818120" y="1371600"/>
            <a:ext cx="2743200" cy="2743200"/>
          </a:xfrm>
          <a:prstGeom prst="arc">
            <a:avLst/>
          </a:prstGeom>
          <a:solidFill>
            <a:srgbClr val="FFFFFF">
              <a:alpha val="0"/>
            </a:srgbClr>
          </a:solidFill>
          <a:ln w="50800">
            <a:solidFill>
              <a:srgbClr val="2563EB"/>
            </a:solidFill>
            <a:prstDash val="solid"/>
          </a:ln>
        </p:spPr>
        <p:txBody>
          <a:bodyPr/>
          <a:lstStyle/>
          <a:p>
            <a:endParaRPr lang="en-SG"/>
          </a:p>
        </p:txBody>
      </p:sp>
      <p:sp>
        <p:nvSpPr>
          <p:cNvPr id="13" name="Text 11"/>
          <p:cNvSpPr/>
          <p:nvPr/>
        </p:nvSpPr>
        <p:spPr>
          <a:xfrm>
            <a:off x="8613648" y="1965960"/>
            <a:ext cx="1325880" cy="868680"/>
          </a:xfrm>
          <a:prstGeom prst="rect">
            <a:avLst/>
          </a:prstGeom>
          <a:noFill/>
          <a:ln/>
        </p:spPr>
        <p:txBody>
          <a:bodyPr wrap="square" lIns="0" tIns="0" rIns="0" bIns="0" rtlCol="0" anchor="ctr"/>
          <a:lstStyle/>
          <a:p>
            <a:pPr marL="0" indent="0" algn="ctr">
              <a:buNone/>
            </a:pPr>
            <a:r>
              <a:rPr lang="en-US" sz="5400" b="1" dirty="0">
                <a:solidFill>
                  <a:srgbClr val="2563EB"/>
                </a:solidFill>
              </a:rPr>
              <a:t>$</a:t>
            </a:r>
            <a:endParaRPr lang="en-US" sz="5400" dirty="0"/>
          </a:p>
        </p:txBody>
      </p:sp>
      <p:sp>
        <p:nvSpPr>
          <p:cNvPr id="14" name="Text 12"/>
          <p:cNvSpPr/>
          <p:nvPr/>
        </p:nvSpPr>
        <p:spPr>
          <a:xfrm>
            <a:off x="7635240" y="4572000"/>
            <a:ext cx="3063240" cy="256032"/>
          </a:xfrm>
          <a:prstGeom prst="rect">
            <a:avLst/>
          </a:prstGeom>
          <a:noFill/>
          <a:ln/>
        </p:spPr>
        <p:txBody>
          <a:bodyPr wrap="square" lIns="0" tIns="0" rIns="0" bIns="0" rtlCol="0" anchor="ctr"/>
          <a:lstStyle/>
          <a:p>
            <a:pPr marL="0" indent="0" algn="ctr">
              <a:buNone/>
            </a:pPr>
            <a:r>
              <a:rPr lang="en-US" sz="1300" b="1" dirty="0">
                <a:solidFill>
                  <a:srgbClr val="0B1E3A"/>
                </a:solidFill>
              </a:rPr>
              <a:t>Profile → Prediction</a:t>
            </a:r>
            <a:endParaRPr lang="en-US" sz="1300" dirty="0"/>
          </a:p>
        </p:txBody>
      </p:sp>
      <p:sp>
        <p:nvSpPr>
          <p:cNvPr id="25" name="Slide Number Placeholder 0"/>
          <p:cNvSpPr>
            <a:spLocks noGrp="1"/>
          </p:cNvSpPr>
          <p:nvPr>
            <p:ph type="sldNum" sz="quarter" idx="4294967295"/>
          </p:nvPr>
        </p:nvSpPr>
        <p:spPr>
          <a:xfrm>
            <a:off x="1138428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B7688"/>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66928" y="365760"/>
            <a:ext cx="5943600" cy="219456"/>
          </a:xfrm>
          <a:prstGeom prst="rect">
            <a:avLst/>
          </a:prstGeom>
          <a:noFill/>
          <a:ln/>
        </p:spPr>
        <p:txBody>
          <a:bodyPr wrap="square" lIns="0" tIns="0" rIns="0" bIns="0" rtlCol="0" anchor="ctr"/>
          <a:lstStyle/>
          <a:p>
            <a:pPr marL="0" indent="0">
              <a:buNone/>
            </a:pPr>
            <a:r>
              <a:rPr lang="en-US" sz="850" b="1" dirty="0">
                <a:solidFill>
                  <a:srgbClr val="2563EB"/>
                </a:solidFill>
              </a:rPr>
              <a:t>PROBLEM &amp; DATASET</a:t>
            </a:r>
            <a:endParaRPr lang="en-US" sz="850" dirty="0"/>
          </a:p>
        </p:txBody>
      </p:sp>
      <p:sp>
        <p:nvSpPr>
          <p:cNvPr id="3" name="Text 1"/>
          <p:cNvSpPr/>
          <p:nvPr/>
        </p:nvSpPr>
        <p:spPr>
          <a:xfrm>
            <a:off x="548640" y="640080"/>
            <a:ext cx="8869680" cy="420624"/>
          </a:xfrm>
          <a:prstGeom prst="rect">
            <a:avLst/>
          </a:prstGeom>
          <a:noFill/>
          <a:ln/>
        </p:spPr>
        <p:txBody>
          <a:bodyPr wrap="square" lIns="0" tIns="0" rIns="0" bIns="0" rtlCol="0" anchor="ctr"/>
          <a:lstStyle/>
          <a:p>
            <a:pPr marL="0" indent="0">
              <a:buNone/>
            </a:pPr>
            <a:r>
              <a:rPr lang="en-US" sz="2400" b="1" dirty="0">
                <a:solidFill>
                  <a:srgbClr val="0B1E3A"/>
                </a:solidFill>
                <a:latin typeface="Aptos Display" pitchFamily="34" charset="0"/>
                <a:ea typeface="Aptos Display" pitchFamily="34" charset="-122"/>
                <a:cs typeface="Aptos Display" pitchFamily="34" charset="-120"/>
              </a:rPr>
              <a:t>Salary decisions need evidence, not guessing.</a:t>
            </a:r>
            <a:endParaRPr lang="en-US" sz="2400" dirty="0"/>
          </a:p>
        </p:txBody>
      </p:sp>
      <p:sp>
        <p:nvSpPr>
          <p:cNvPr id="4" name="Text 2"/>
          <p:cNvSpPr/>
          <p:nvPr/>
        </p:nvSpPr>
        <p:spPr>
          <a:xfrm>
            <a:off x="10881360" y="411480"/>
            <a:ext cx="786384" cy="338328"/>
          </a:xfrm>
          <a:prstGeom prst="rect">
            <a:avLst/>
          </a:prstGeom>
          <a:noFill/>
          <a:ln/>
        </p:spPr>
        <p:txBody>
          <a:bodyPr wrap="square" lIns="0" tIns="0" rIns="0" bIns="0" rtlCol="0" anchor="ctr"/>
          <a:lstStyle/>
          <a:p>
            <a:pPr marL="0" indent="0" algn="r">
              <a:buNone/>
            </a:pPr>
            <a:r>
              <a:rPr lang="en-US" sz="1400" b="1" dirty="0">
                <a:solidFill>
                  <a:srgbClr val="2563EB"/>
                </a:solidFill>
              </a:rPr>
              <a:t>01</a:t>
            </a:r>
            <a:endParaRPr lang="en-US" sz="1400" dirty="0"/>
          </a:p>
        </p:txBody>
      </p:sp>
      <p:sp>
        <p:nvSpPr>
          <p:cNvPr id="5" name="Text 3"/>
          <p:cNvSpPr/>
          <p:nvPr/>
        </p:nvSpPr>
        <p:spPr>
          <a:xfrm>
            <a:off x="566928" y="1243584"/>
            <a:ext cx="5943600" cy="566928"/>
          </a:xfrm>
          <a:prstGeom prst="rect">
            <a:avLst/>
          </a:prstGeom>
          <a:noFill/>
          <a:ln/>
        </p:spPr>
        <p:txBody>
          <a:bodyPr wrap="square" lIns="127" tIns="127" rIns="127" bIns="127" rtlCol="0" anchor="ctr">
            <a:normAutofit fontScale="92500"/>
          </a:bodyPr>
          <a:lstStyle/>
          <a:p>
            <a:pPr marL="0" indent="0">
              <a:buNone/>
            </a:pPr>
            <a:r>
              <a:rPr lang="en-US" sz="1650" dirty="0">
                <a:solidFill>
                  <a:srgbClr val="111827"/>
                </a:solidFill>
              </a:rPr>
              <a:t>Developers often compare salaries using vague online averages. Salarycalc turns profile details into a personalised salary benchmark.</a:t>
            </a:r>
            <a:endParaRPr lang="en-US" sz="1650" dirty="0"/>
          </a:p>
        </p:txBody>
      </p:sp>
      <p:sp>
        <p:nvSpPr>
          <p:cNvPr id="6" name="Text 4"/>
          <p:cNvSpPr/>
          <p:nvPr/>
        </p:nvSpPr>
        <p:spPr>
          <a:xfrm>
            <a:off x="6976872" y="1097280"/>
            <a:ext cx="1920240" cy="164592"/>
          </a:xfrm>
          <a:prstGeom prst="rect">
            <a:avLst/>
          </a:prstGeom>
          <a:noFill/>
          <a:ln/>
        </p:spPr>
        <p:txBody>
          <a:bodyPr wrap="square" lIns="0" tIns="0" rIns="0" bIns="0" rtlCol="0" anchor="ctr"/>
          <a:lstStyle/>
          <a:p>
            <a:pPr marL="0" indent="0">
              <a:buNone/>
            </a:pPr>
            <a:r>
              <a:rPr lang="en-US" sz="750" b="1" dirty="0">
                <a:solidFill>
                  <a:srgbClr val="64748B"/>
                </a:solidFill>
              </a:rPr>
              <a:t>DATASET FUNNEL</a:t>
            </a:r>
            <a:endParaRPr lang="en-US" sz="750" dirty="0"/>
          </a:p>
        </p:txBody>
      </p:sp>
      <p:sp>
        <p:nvSpPr>
          <p:cNvPr id="7" name="Text 5"/>
          <p:cNvSpPr/>
          <p:nvPr/>
        </p:nvSpPr>
        <p:spPr>
          <a:xfrm>
            <a:off x="6812280" y="1444752"/>
            <a:ext cx="1417320" cy="210312"/>
          </a:xfrm>
          <a:prstGeom prst="rect">
            <a:avLst/>
          </a:prstGeom>
          <a:noFill/>
          <a:ln/>
        </p:spPr>
        <p:txBody>
          <a:bodyPr wrap="square" lIns="0" tIns="0" rIns="0" bIns="0" rtlCol="0" anchor="ctr"/>
          <a:lstStyle/>
          <a:p>
            <a:pPr marL="0" indent="0">
              <a:buNone/>
            </a:pPr>
            <a:r>
              <a:rPr lang="en-US" sz="980" dirty="0">
                <a:solidFill>
                  <a:srgbClr val="111827"/>
                </a:solidFill>
              </a:rPr>
              <a:t>Raw survey</a:t>
            </a:r>
            <a:endParaRPr lang="en-US" sz="980" dirty="0"/>
          </a:p>
        </p:txBody>
      </p:sp>
      <p:sp>
        <p:nvSpPr>
          <p:cNvPr id="8" name="Shape 6"/>
          <p:cNvSpPr/>
          <p:nvPr/>
        </p:nvSpPr>
        <p:spPr>
          <a:xfrm>
            <a:off x="8366760" y="1472184"/>
            <a:ext cx="2834640" cy="155448"/>
          </a:xfrm>
          <a:prstGeom prst="rect">
            <a:avLst/>
          </a:prstGeom>
          <a:solidFill>
            <a:srgbClr val="93C5FD"/>
          </a:solidFill>
          <a:ln w="12700">
            <a:solidFill>
              <a:srgbClr val="333333">
                <a:alpha val="0"/>
              </a:srgbClr>
            </a:solidFill>
            <a:prstDash val="solid"/>
          </a:ln>
        </p:spPr>
        <p:txBody>
          <a:bodyPr/>
          <a:lstStyle/>
          <a:p>
            <a:endParaRPr lang="en-SG" dirty="0"/>
          </a:p>
        </p:txBody>
      </p:sp>
      <p:sp>
        <p:nvSpPr>
          <p:cNvPr id="9" name="Text 7"/>
          <p:cNvSpPr/>
          <p:nvPr/>
        </p:nvSpPr>
        <p:spPr>
          <a:xfrm>
            <a:off x="11338560" y="1444752"/>
            <a:ext cx="685800" cy="210312"/>
          </a:xfrm>
          <a:prstGeom prst="rect">
            <a:avLst/>
          </a:prstGeom>
          <a:noFill/>
          <a:ln/>
        </p:spPr>
        <p:txBody>
          <a:bodyPr wrap="square" lIns="0" tIns="0" rIns="0" bIns="0" rtlCol="0" anchor="ctr"/>
          <a:lstStyle/>
          <a:p>
            <a:pPr marL="0" indent="0">
              <a:buNone/>
            </a:pPr>
            <a:r>
              <a:rPr lang="en-US" sz="940" dirty="0">
                <a:solidFill>
                  <a:srgbClr val="64748B"/>
                </a:solidFill>
              </a:rPr>
              <a:t>49,191</a:t>
            </a:r>
            <a:endParaRPr lang="en-US" sz="940" dirty="0"/>
          </a:p>
        </p:txBody>
      </p:sp>
      <p:sp>
        <p:nvSpPr>
          <p:cNvPr id="10" name="Text 8"/>
          <p:cNvSpPr/>
          <p:nvPr/>
        </p:nvSpPr>
        <p:spPr>
          <a:xfrm>
            <a:off x="6812280" y="2029968"/>
            <a:ext cx="1417320" cy="210312"/>
          </a:xfrm>
          <a:prstGeom prst="rect">
            <a:avLst/>
          </a:prstGeom>
          <a:noFill/>
          <a:ln/>
        </p:spPr>
        <p:txBody>
          <a:bodyPr wrap="square" lIns="0" tIns="0" rIns="0" bIns="0" rtlCol="0" anchor="ctr"/>
          <a:lstStyle/>
          <a:p>
            <a:pPr marL="0" indent="0">
              <a:buNone/>
            </a:pPr>
            <a:r>
              <a:rPr lang="en-US" sz="980" dirty="0">
                <a:solidFill>
                  <a:srgbClr val="111827"/>
                </a:solidFill>
              </a:rPr>
              <a:t>Employed</a:t>
            </a:r>
            <a:endParaRPr lang="en-US" sz="980" dirty="0"/>
          </a:p>
        </p:txBody>
      </p:sp>
      <p:sp>
        <p:nvSpPr>
          <p:cNvPr id="11" name="Shape 9"/>
          <p:cNvSpPr/>
          <p:nvPr/>
        </p:nvSpPr>
        <p:spPr>
          <a:xfrm>
            <a:off x="8366760" y="2057400"/>
            <a:ext cx="1944850" cy="155448"/>
          </a:xfrm>
          <a:prstGeom prst="rect">
            <a:avLst/>
          </a:prstGeom>
          <a:solidFill>
            <a:srgbClr val="93C5FD"/>
          </a:solidFill>
          <a:ln w="12700">
            <a:solidFill>
              <a:srgbClr val="333333">
                <a:alpha val="0"/>
              </a:srgbClr>
            </a:solidFill>
            <a:prstDash val="solid"/>
          </a:ln>
        </p:spPr>
        <p:txBody>
          <a:bodyPr/>
          <a:lstStyle/>
          <a:p>
            <a:endParaRPr lang="en-SG" dirty="0"/>
          </a:p>
        </p:txBody>
      </p:sp>
      <p:sp>
        <p:nvSpPr>
          <p:cNvPr id="12" name="Text 10"/>
          <p:cNvSpPr/>
          <p:nvPr/>
        </p:nvSpPr>
        <p:spPr>
          <a:xfrm>
            <a:off x="11338560" y="2029968"/>
            <a:ext cx="685800" cy="210312"/>
          </a:xfrm>
          <a:prstGeom prst="rect">
            <a:avLst/>
          </a:prstGeom>
          <a:noFill/>
          <a:ln/>
        </p:spPr>
        <p:txBody>
          <a:bodyPr wrap="square" lIns="0" tIns="0" rIns="0" bIns="0" rtlCol="0" anchor="ctr"/>
          <a:lstStyle/>
          <a:p>
            <a:pPr marL="0" indent="0">
              <a:buNone/>
            </a:pPr>
            <a:r>
              <a:rPr lang="en-US" sz="940" dirty="0">
                <a:solidFill>
                  <a:srgbClr val="64748B"/>
                </a:solidFill>
              </a:rPr>
              <a:t>33,750</a:t>
            </a:r>
            <a:endParaRPr lang="en-US" sz="940" dirty="0"/>
          </a:p>
        </p:txBody>
      </p:sp>
      <p:sp>
        <p:nvSpPr>
          <p:cNvPr id="13" name="Text 11"/>
          <p:cNvSpPr/>
          <p:nvPr/>
        </p:nvSpPr>
        <p:spPr>
          <a:xfrm>
            <a:off x="6812280" y="2615184"/>
            <a:ext cx="1417320" cy="210312"/>
          </a:xfrm>
          <a:prstGeom prst="rect">
            <a:avLst/>
          </a:prstGeom>
          <a:noFill/>
          <a:ln/>
        </p:spPr>
        <p:txBody>
          <a:bodyPr wrap="square" lIns="0" tIns="0" rIns="0" bIns="0" rtlCol="0" anchor="ctr"/>
          <a:lstStyle/>
          <a:p>
            <a:pPr marL="0" indent="0">
              <a:buNone/>
            </a:pPr>
            <a:r>
              <a:rPr lang="en-US" sz="980" dirty="0">
                <a:solidFill>
                  <a:srgbClr val="111827"/>
                </a:solidFill>
              </a:rPr>
              <a:t>Salary present</a:t>
            </a:r>
            <a:endParaRPr lang="en-US" sz="980" dirty="0"/>
          </a:p>
        </p:txBody>
      </p:sp>
      <p:sp>
        <p:nvSpPr>
          <p:cNvPr id="14" name="Shape 12"/>
          <p:cNvSpPr/>
          <p:nvPr/>
        </p:nvSpPr>
        <p:spPr>
          <a:xfrm>
            <a:off x="8366760" y="2642616"/>
            <a:ext cx="1123691" cy="155448"/>
          </a:xfrm>
          <a:prstGeom prst="rect">
            <a:avLst/>
          </a:prstGeom>
          <a:solidFill>
            <a:srgbClr val="93C5FD"/>
          </a:solidFill>
          <a:ln w="12700">
            <a:solidFill>
              <a:srgbClr val="333333">
                <a:alpha val="0"/>
              </a:srgbClr>
            </a:solidFill>
            <a:prstDash val="solid"/>
          </a:ln>
        </p:spPr>
        <p:txBody>
          <a:bodyPr/>
          <a:lstStyle/>
          <a:p>
            <a:endParaRPr lang="en-SG" dirty="0"/>
          </a:p>
        </p:txBody>
      </p:sp>
      <p:sp>
        <p:nvSpPr>
          <p:cNvPr id="15" name="Text 13"/>
          <p:cNvSpPr/>
          <p:nvPr/>
        </p:nvSpPr>
        <p:spPr>
          <a:xfrm>
            <a:off x="11338560" y="2615184"/>
            <a:ext cx="685800" cy="210312"/>
          </a:xfrm>
          <a:prstGeom prst="rect">
            <a:avLst/>
          </a:prstGeom>
          <a:noFill/>
          <a:ln/>
        </p:spPr>
        <p:txBody>
          <a:bodyPr wrap="square" lIns="0" tIns="0" rIns="0" bIns="0" rtlCol="0" anchor="ctr"/>
          <a:lstStyle/>
          <a:p>
            <a:pPr marL="0" indent="0">
              <a:buNone/>
            </a:pPr>
            <a:r>
              <a:rPr lang="en-US" sz="940" dirty="0">
                <a:solidFill>
                  <a:srgbClr val="64748B"/>
                </a:solidFill>
              </a:rPr>
              <a:t>19,500</a:t>
            </a:r>
            <a:endParaRPr lang="en-US" sz="940" dirty="0"/>
          </a:p>
        </p:txBody>
      </p:sp>
      <p:sp>
        <p:nvSpPr>
          <p:cNvPr id="16" name="Text 14"/>
          <p:cNvSpPr/>
          <p:nvPr/>
        </p:nvSpPr>
        <p:spPr>
          <a:xfrm>
            <a:off x="6812280" y="3200400"/>
            <a:ext cx="1417320" cy="210312"/>
          </a:xfrm>
          <a:prstGeom prst="rect">
            <a:avLst/>
          </a:prstGeom>
          <a:noFill/>
          <a:ln/>
        </p:spPr>
        <p:txBody>
          <a:bodyPr wrap="square" lIns="0" tIns="0" rIns="0" bIns="0" rtlCol="0" anchor="ctr"/>
          <a:lstStyle/>
          <a:p>
            <a:pPr marL="0" indent="0">
              <a:buNone/>
            </a:pPr>
            <a:r>
              <a:rPr lang="en-US" sz="980" dirty="0">
                <a:solidFill>
                  <a:srgbClr val="111827"/>
                </a:solidFill>
              </a:rPr>
              <a:t>$10k–$500k</a:t>
            </a:r>
            <a:endParaRPr lang="en-US" sz="980" dirty="0"/>
          </a:p>
        </p:txBody>
      </p:sp>
      <p:sp>
        <p:nvSpPr>
          <p:cNvPr id="17" name="Shape 15"/>
          <p:cNvSpPr/>
          <p:nvPr/>
        </p:nvSpPr>
        <p:spPr>
          <a:xfrm>
            <a:off x="8366760" y="3227832"/>
            <a:ext cx="1018755" cy="155448"/>
          </a:xfrm>
          <a:prstGeom prst="rect">
            <a:avLst/>
          </a:prstGeom>
          <a:solidFill>
            <a:srgbClr val="93C5FD"/>
          </a:solidFill>
          <a:ln w="12700">
            <a:solidFill>
              <a:srgbClr val="333333">
                <a:alpha val="0"/>
              </a:srgbClr>
            </a:solidFill>
            <a:prstDash val="solid"/>
          </a:ln>
        </p:spPr>
        <p:txBody>
          <a:bodyPr/>
          <a:lstStyle/>
          <a:p>
            <a:endParaRPr lang="en-SG" dirty="0"/>
          </a:p>
        </p:txBody>
      </p:sp>
      <p:sp>
        <p:nvSpPr>
          <p:cNvPr id="18" name="Text 16"/>
          <p:cNvSpPr/>
          <p:nvPr/>
        </p:nvSpPr>
        <p:spPr>
          <a:xfrm>
            <a:off x="11338560" y="3200400"/>
            <a:ext cx="685800" cy="210312"/>
          </a:xfrm>
          <a:prstGeom prst="rect">
            <a:avLst/>
          </a:prstGeom>
          <a:noFill/>
          <a:ln/>
        </p:spPr>
        <p:txBody>
          <a:bodyPr wrap="square" lIns="0" tIns="0" rIns="0" bIns="0" rtlCol="0" anchor="ctr"/>
          <a:lstStyle/>
          <a:p>
            <a:pPr marL="0" indent="0">
              <a:buNone/>
            </a:pPr>
            <a:r>
              <a:rPr lang="en-US" sz="940" dirty="0">
                <a:solidFill>
                  <a:srgbClr val="64748B"/>
                </a:solidFill>
              </a:rPr>
              <a:t>17,679</a:t>
            </a:r>
            <a:endParaRPr lang="en-US" sz="940" dirty="0"/>
          </a:p>
        </p:txBody>
      </p:sp>
      <p:sp>
        <p:nvSpPr>
          <p:cNvPr id="19" name="Text 17"/>
          <p:cNvSpPr/>
          <p:nvPr/>
        </p:nvSpPr>
        <p:spPr>
          <a:xfrm>
            <a:off x="6812280" y="3785616"/>
            <a:ext cx="1417320" cy="210312"/>
          </a:xfrm>
          <a:prstGeom prst="rect">
            <a:avLst/>
          </a:prstGeom>
          <a:noFill/>
          <a:ln/>
        </p:spPr>
        <p:txBody>
          <a:bodyPr wrap="square" lIns="0" tIns="0" rIns="0" bIns="0" rtlCol="0" anchor="ctr"/>
          <a:lstStyle/>
          <a:p>
            <a:pPr marL="0" indent="0">
              <a:buNone/>
            </a:pPr>
            <a:r>
              <a:rPr lang="en-US" sz="980" dirty="0">
                <a:solidFill>
                  <a:srgbClr val="111827"/>
                </a:solidFill>
              </a:rPr>
              <a:t>Final records</a:t>
            </a:r>
            <a:endParaRPr lang="en-US" sz="980" dirty="0"/>
          </a:p>
        </p:txBody>
      </p:sp>
      <p:sp>
        <p:nvSpPr>
          <p:cNvPr id="20" name="Shape 18"/>
          <p:cNvSpPr/>
          <p:nvPr/>
        </p:nvSpPr>
        <p:spPr>
          <a:xfrm>
            <a:off x="8366760" y="3813048"/>
            <a:ext cx="1017084" cy="155448"/>
          </a:xfrm>
          <a:prstGeom prst="rect">
            <a:avLst/>
          </a:prstGeom>
          <a:solidFill>
            <a:srgbClr val="2563EB"/>
          </a:solidFill>
          <a:ln w="12700">
            <a:solidFill>
              <a:srgbClr val="333333">
                <a:alpha val="0"/>
              </a:srgbClr>
            </a:solidFill>
            <a:prstDash val="solid"/>
          </a:ln>
        </p:spPr>
        <p:txBody>
          <a:bodyPr/>
          <a:lstStyle/>
          <a:p>
            <a:endParaRPr lang="en-SG" dirty="0"/>
          </a:p>
        </p:txBody>
      </p:sp>
      <p:sp>
        <p:nvSpPr>
          <p:cNvPr id="21" name="Text 19"/>
          <p:cNvSpPr/>
          <p:nvPr/>
        </p:nvSpPr>
        <p:spPr>
          <a:xfrm>
            <a:off x="11338560" y="3785616"/>
            <a:ext cx="685800" cy="210312"/>
          </a:xfrm>
          <a:prstGeom prst="rect">
            <a:avLst/>
          </a:prstGeom>
          <a:noFill/>
          <a:ln/>
        </p:spPr>
        <p:txBody>
          <a:bodyPr wrap="square" lIns="0" tIns="0" rIns="0" bIns="0" rtlCol="0" anchor="ctr"/>
          <a:lstStyle/>
          <a:p>
            <a:pPr marL="0" indent="0">
              <a:buNone/>
            </a:pPr>
            <a:r>
              <a:rPr lang="en-US" sz="940" dirty="0">
                <a:solidFill>
                  <a:srgbClr val="64748B"/>
                </a:solidFill>
              </a:rPr>
              <a:t>17,650</a:t>
            </a:r>
            <a:endParaRPr lang="en-US" sz="940" dirty="0"/>
          </a:p>
        </p:txBody>
      </p:sp>
      <p:sp>
        <p:nvSpPr>
          <p:cNvPr id="22" name="Text 20"/>
          <p:cNvSpPr/>
          <p:nvPr/>
        </p:nvSpPr>
        <p:spPr>
          <a:xfrm>
            <a:off x="658368" y="2377440"/>
            <a:ext cx="2194560" cy="438912"/>
          </a:xfrm>
          <a:prstGeom prst="rect">
            <a:avLst/>
          </a:prstGeom>
          <a:noFill/>
          <a:ln/>
        </p:spPr>
        <p:txBody>
          <a:bodyPr wrap="square" lIns="0" tIns="0" rIns="0" bIns="0" rtlCol="0" anchor="ctr">
            <a:normAutofit lnSpcReduction="10000"/>
          </a:bodyPr>
          <a:lstStyle/>
          <a:p>
            <a:pPr marL="0" indent="0">
              <a:buNone/>
            </a:pPr>
            <a:r>
              <a:rPr lang="en-US" sz="3000" b="1" dirty="0">
                <a:solidFill>
                  <a:srgbClr val="2563EB"/>
                </a:solidFill>
              </a:rPr>
              <a:t>49,191</a:t>
            </a:r>
            <a:endParaRPr lang="en-US" sz="3000" dirty="0"/>
          </a:p>
        </p:txBody>
      </p:sp>
      <p:sp>
        <p:nvSpPr>
          <p:cNvPr id="23" name="Text 21"/>
          <p:cNvSpPr/>
          <p:nvPr/>
        </p:nvSpPr>
        <p:spPr>
          <a:xfrm>
            <a:off x="658368" y="2980944"/>
            <a:ext cx="2194560" cy="274320"/>
          </a:xfrm>
          <a:prstGeom prst="rect">
            <a:avLst/>
          </a:prstGeom>
          <a:noFill/>
          <a:ln/>
        </p:spPr>
        <p:txBody>
          <a:bodyPr wrap="square" lIns="0" tIns="0" rIns="0" bIns="0" rtlCol="0" anchor="ctr">
            <a:normAutofit/>
          </a:bodyPr>
          <a:lstStyle/>
          <a:p>
            <a:pPr marL="0" indent="0">
              <a:buNone/>
            </a:pPr>
            <a:r>
              <a:rPr lang="en-US" sz="1050" dirty="0">
                <a:solidFill>
                  <a:srgbClr val="64748B"/>
                </a:solidFill>
              </a:rPr>
              <a:t>Raw Stack Overflow survey rows</a:t>
            </a:r>
            <a:endParaRPr lang="en-US" sz="1050" dirty="0"/>
          </a:p>
        </p:txBody>
      </p:sp>
      <p:sp>
        <p:nvSpPr>
          <p:cNvPr id="24" name="Text 22"/>
          <p:cNvSpPr/>
          <p:nvPr/>
        </p:nvSpPr>
        <p:spPr>
          <a:xfrm>
            <a:off x="3273552" y="2377440"/>
            <a:ext cx="2514600" cy="438912"/>
          </a:xfrm>
          <a:prstGeom prst="rect">
            <a:avLst/>
          </a:prstGeom>
          <a:noFill/>
          <a:ln/>
        </p:spPr>
        <p:txBody>
          <a:bodyPr wrap="square" lIns="0" tIns="0" rIns="0" bIns="0" rtlCol="0" anchor="ctr">
            <a:normAutofit lnSpcReduction="10000"/>
          </a:bodyPr>
          <a:lstStyle/>
          <a:p>
            <a:pPr marL="0" indent="0">
              <a:buNone/>
            </a:pPr>
            <a:r>
              <a:rPr lang="en-US" sz="3000" b="1" dirty="0">
                <a:solidFill>
                  <a:srgbClr val="0B1E3A"/>
                </a:solidFill>
              </a:rPr>
              <a:t>17,650</a:t>
            </a:r>
            <a:endParaRPr lang="en-US" sz="3000" dirty="0"/>
          </a:p>
        </p:txBody>
      </p:sp>
      <p:sp>
        <p:nvSpPr>
          <p:cNvPr id="25" name="Text 23"/>
          <p:cNvSpPr/>
          <p:nvPr/>
        </p:nvSpPr>
        <p:spPr>
          <a:xfrm>
            <a:off x="3273552" y="2980944"/>
            <a:ext cx="2514600" cy="274320"/>
          </a:xfrm>
          <a:prstGeom prst="rect">
            <a:avLst/>
          </a:prstGeom>
          <a:noFill/>
          <a:ln/>
        </p:spPr>
        <p:txBody>
          <a:bodyPr wrap="square" lIns="0" tIns="0" rIns="0" bIns="0" rtlCol="0" anchor="ctr">
            <a:normAutofit/>
          </a:bodyPr>
          <a:lstStyle/>
          <a:p>
            <a:pPr marL="0" indent="0">
              <a:buNone/>
            </a:pPr>
            <a:r>
              <a:rPr lang="en-US" sz="1050" dirty="0">
                <a:solidFill>
                  <a:srgbClr val="64748B"/>
                </a:solidFill>
              </a:rPr>
              <a:t>Final modelling records after cleaning</a:t>
            </a:r>
            <a:endParaRPr lang="en-US" sz="1050" dirty="0"/>
          </a:p>
        </p:txBody>
      </p:sp>
      <p:sp>
        <p:nvSpPr>
          <p:cNvPr id="26" name="Text 24"/>
          <p:cNvSpPr/>
          <p:nvPr/>
        </p:nvSpPr>
        <p:spPr>
          <a:xfrm>
            <a:off x="658368" y="3749040"/>
            <a:ext cx="2194560" cy="438912"/>
          </a:xfrm>
          <a:prstGeom prst="rect">
            <a:avLst/>
          </a:prstGeom>
          <a:noFill/>
          <a:ln/>
        </p:spPr>
        <p:txBody>
          <a:bodyPr wrap="square" lIns="0" tIns="0" rIns="0" bIns="0" rtlCol="0" anchor="ctr">
            <a:normAutofit/>
          </a:bodyPr>
          <a:lstStyle/>
          <a:p>
            <a:pPr marL="0" indent="0">
              <a:buNone/>
            </a:pPr>
            <a:r>
              <a:rPr lang="en-US" sz="2600" b="1" dirty="0">
                <a:solidFill>
                  <a:srgbClr val="14B8A6"/>
                </a:solidFill>
              </a:rPr>
              <a:t>USD salary</a:t>
            </a:r>
            <a:endParaRPr lang="en-US" sz="2600" dirty="0"/>
          </a:p>
        </p:txBody>
      </p:sp>
      <p:sp>
        <p:nvSpPr>
          <p:cNvPr id="27" name="Text 25"/>
          <p:cNvSpPr/>
          <p:nvPr/>
        </p:nvSpPr>
        <p:spPr>
          <a:xfrm>
            <a:off x="658368" y="4352544"/>
            <a:ext cx="2194560" cy="274320"/>
          </a:xfrm>
          <a:prstGeom prst="rect">
            <a:avLst/>
          </a:prstGeom>
          <a:noFill/>
          <a:ln/>
        </p:spPr>
        <p:txBody>
          <a:bodyPr wrap="square" lIns="0" tIns="0" rIns="0" bIns="0" rtlCol="0" anchor="ctr">
            <a:normAutofit/>
          </a:bodyPr>
          <a:lstStyle/>
          <a:p>
            <a:pPr marL="0" indent="0">
              <a:buNone/>
            </a:pPr>
            <a:r>
              <a:rPr lang="en-US" sz="1050" dirty="0">
                <a:solidFill>
                  <a:srgbClr val="64748B"/>
                </a:solidFill>
              </a:rPr>
              <a:t>Target variable</a:t>
            </a:r>
            <a:endParaRPr lang="en-US" sz="1050" dirty="0"/>
          </a:p>
        </p:txBody>
      </p:sp>
      <p:sp>
        <p:nvSpPr>
          <p:cNvPr id="28" name="Text 26"/>
          <p:cNvSpPr/>
          <p:nvPr/>
        </p:nvSpPr>
        <p:spPr>
          <a:xfrm>
            <a:off x="3273552" y="3749040"/>
            <a:ext cx="2468880" cy="438912"/>
          </a:xfrm>
          <a:prstGeom prst="rect">
            <a:avLst/>
          </a:prstGeom>
          <a:noFill/>
          <a:ln/>
        </p:spPr>
        <p:txBody>
          <a:bodyPr wrap="square" lIns="0" tIns="0" rIns="0" bIns="0" rtlCol="0" anchor="ctr">
            <a:normAutofit/>
          </a:bodyPr>
          <a:lstStyle/>
          <a:p>
            <a:pPr marL="0" indent="0">
              <a:buNone/>
            </a:pPr>
            <a:r>
              <a:rPr lang="en-US" sz="2600" b="1" dirty="0">
                <a:solidFill>
                  <a:srgbClr val="7C3AED"/>
                </a:solidFill>
              </a:rPr>
              <a:t>Regression</a:t>
            </a:r>
            <a:endParaRPr lang="en-US" sz="2600" dirty="0"/>
          </a:p>
        </p:txBody>
      </p:sp>
      <p:sp>
        <p:nvSpPr>
          <p:cNvPr id="29" name="Text 27"/>
          <p:cNvSpPr/>
          <p:nvPr/>
        </p:nvSpPr>
        <p:spPr>
          <a:xfrm>
            <a:off x="3273552" y="4352544"/>
            <a:ext cx="2468880" cy="274320"/>
          </a:xfrm>
          <a:prstGeom prst="rect">
            <a:avLst/>
          </a:prstGeom>
          <a:noFill/>
          <a:ln/>
        </p:spPr>
        <p:txBody>
          <a:bodyPr wrap="square" lIns="0" tIns="0" rIns="0" bIns="0" rtlCol="0" anchor="ctr">
            <a:normAutofit/>
          </a:bodyPr>
          <a:lstStyle/>
          <a:p>
            <a:pPr marL="0" indent="0">
              <a:buNone/>
            </a:pPr>
            <a:r>
              <a:rPr lang="en-US" sz="1050" dirty="0">
                <a:solidFill>
                  <a:srgbClr val="64748B"/>
                </a:solidFill>
              </a:rPr>
              <a:t>ML task</a:t>
            </a:r>
            <a:endParaRPr lang="en-US" sz="1050" dirty="0"/>
          </a:p>
        </p:txBody>
      </p:sp>
      <p:sp>
        <p:nvSpPr>
          <p:cNvPr id="30" name="Text 28"/>
          <p:cNvSpPr/>
          <p:nvPr/>
        </p:nvSpPr>
        <p:spPr>
          <a:xfrm>
            <a:off x="6967728" y="4663440"/>
            <a:ext cx="2011680" cy="228600"/>
          </a:xfrm>
          <a:prstGeom prst="rect">
            <a:avLst/>
          </a:prstGeom>
          <a:noFill/>
          <a:ln/>
        </p:spPr>
        <p:txBody>
          <a:bodyPr wrap="square" lIns="0" tIns="0" rIns="0" bIns="0" rtlCol="0" anchor="ctr"/>
          <a:lstStyle/>
          <a:p>
            <a:pPr marL="0" indent="0">
              <a:buNone/>
            </a:pPr>
            <a:r>
              <a:rPr lang="en-US" sz="1300" b="1" dirty="0">
                <a:solidFill>
                  <a:srgbClr val="0B1E3A"/>
                </a:solidFill>
              </a:rPr>
              <a:t>Why this matters</a:t>
            </a:r>
            <a:endParaRPr lang="en-US" sz="1300" dirty="0"/>
          </a:p>
        </p:txBody>
      </p:sp>
      <p:sp>
        <p:nvSpPr>
          <p:cNvPr id="31" name="Text 29"/>
          <p:cNvSpPr/>
          <p:nvPr/>
        </p:nvSpPr>
        <p:spPr>
          <a:xfrm>
            <a:off x="6967728" y="5074920"/>
            <a:ext cx="201168" cy="182880"/>
          </a:xfrm>
          <a:prstGeom prst="rect">
            <a:avLst/>
          </a:prstGeom>
          <a:noFill/>
          <a:ln/>
        </p:spPr>
        <p:txBody>
          <a:bodyPr wrap="square" lIns="0" tIns="0" rIns="0" bIns="0" rtlCol="0" anchor="ctr"/>
          <a:lstStyle/>
          <a:p>
            <a:pPr marL="0" indent="0">
              <a:buNone/>
            </a:pPr>
            <a:r>
              <a:rPr lang="en-US" sz="1300" dirty="0">
                <a:solidFill>
                  <a:srgbClr val="2563EB"/>
                </a:solidFill>
              </a:rPr>
              <a:t>•</a:t>
            </a:r>
            <a:endParaRPr lang="en-US" sz="1300" dirty="0"/>
          </a:p>
        </p:txBody>
      </p:sp>
      <p:sp>
        <p:nvSpPr>
          <p:cNvPr id="32" name="Text 30"/>
          <p:cNvSpPr/>
          <p:nvPr/>
        </p:nvSpPr>
        <p:spPr>
          <a:xfrm>
            <a:off x="7223760" y="5047488"/>
            <a:ext cx="4389120" cy="384048"/>
          </a:xfrm>
          <a:prstGeom prst="rect">
            <a:avLst/>
          </a:prstGeom>
          <a:noFill/>
          <a:ln/>
        </p:spPr>
        <p:txBody>
          <a:bodyPr wrap="square" lIns="127" tIns="127" rIns="127" bIns="127" rtlCol="0" anchor="ctr">
            <a:normAutofit lnSpcReduction="10000"/>
          </a:bodyPr>
          <a:lstStyle/>
          <a:p>
            <a:pPr marL="0" indent="0">
              <a:buNone/>
            </a:pPr>
            <a:r>
              <a:rPr lang="en-US" sz="1300" dirty="0">
                <a:solidFill>
                  <a:srgbClr val="111827"/>
                </a:solidFill>
              </a:rPr>
              <a:t>Salary expectations affect job choice, negotiation and career planning.</a:t>
            </a:r>
            <a:endParaRPr lang="en-US" sz="1300" dirty="0"/>
          </a:p>
        </p:txBody>
      </p:sp>
      <p:sp>
        <p:nvSpPr>
          <p:cNvPr id="33" name="Text 31"/>
          <p:cNvSpPr/>
          <p:nvPr/>
        </p:nvSpPr>
        <p:spPr>
          <a:xfrm>
            <a:off x="6967728" y="5586984"/>
            <a:ext cx="201168" cy="182880"/>
          </a:xfrm>
          <a:prstGeom prst="rect">
            <a:avLst/>
          </a:prstGeom>
          <a:noFill/>
          <a:ln/>
        </p:spPr>
        <p:txBody>
          <a:bodyPr wrap="square" lIns="0" tIns="0" rIns="0" bIns="0" rtlCol="0" anchor="ctr"/>
          <a:lstStyle/>
          <a:p>
            <a:pPr marL="0" indent="0">
              <a:buNone/>
            </a:pPr>
            <a:r>
              <a:rPr lang="en-US" sz="1300" dirty="0">
                <a:solidFill>
                  <a:srgbClr val="2563EB"/>
                </a:solidFill>
              </a:rPr>
              <a:t>•</a:t>
            </a:r>
            <a:endParaRPr lang="en-US" sz="1300" dirty="0"/>
          </a:p>
        </p:txBody>
      </p:sp>
      <p:sp>
        <p:nvSpPr>
          <p:cNvPr id="34" name="Text 32"/>
          <p:cNvSpPr/>
          <p:nvPr/>
        </p:nvSpPr>
        <p:spPr>
          <a:xfrm>
            <a:off x="7223760" y="5559552"/>
            <a:ext cx="4389120" cy="384048"/>
          </a:xfrm>
          <a:prstGeom prst="rect">
            <a:avLst/>
          </a:prstGeom>
          <a:noFill/>
          <a:ln/>
        </p:spPr>
        <p:txBody>
          <a:bodyPr wrap="square" lIns="127" tIns="127" rIns="127" bIns="127" rtlCol="0" anchor="ctr">
            <a:normAutofit/>
          </a:bodyPr>
          <a:lstStyle/>
          <a:p>
            <a:pPr marL="0" indent="0">
              <a:buNone/>
            </a:pPr>
            <a:r>
              <a:rPr lang="en-US" sz="1300" dirty="0">
                <a:solidFill>
                  <a:srgbClr val="111827"/>
                </a:solidFill>
              </a:rPr>
              <a:t>A numeric estimate is more useful than broad salary bands.</a:t>
            </a:r>
            <a:endParaRPr lang="en-US" sz="1300" dirty="0"/>
          </a:p>
        </p:txBody>
      </p:sp>
      <p:sp>
        <p:nvSpPr>
          <p:cNvPr id="35" name="Slide Number Placeholder 0"/>
          <p:cNvSpPr>
            <a:spLocks noGrp="1"/>
          </p:cNvSpPr>
          <p:nvPr>
            <p:ph type="sldNum" sz="quarter" idx="4294967295"/>
          </p:nvPr>
        </p:nvSpPr>
        <p:spPr>
          <a:xfrm>
            <a:off x="1138428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B7688"/>
                </a:solidFill>
                <a:latin typeface="Aptos"/>
                <a:ea typeface="Aptos"/>
                <a:cs typeface="Aptos"/>
              </a:defRPr>
            </a:lvl1pPr>
          </a:lstStyle>
          <a:p>
            <a:pPr algn="l"/>
            <a:fld id="{F7021451-1387-4CA6-816F-3879F97B5CBC}" type="slidenum">
              <a:rPr lang="en-US" b="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66928" y="365760"/>
            <a:ext cx="5943600" cy="219456"/>
          </a:xfrm>
          <a:prstGeom prst="rect">
            <a:avLst/>
          </a:prstGeom>
          <a:noFill/>
          <a:ln/>
        </p:spPr>
        <p:txBody>
          <a:bodyPr wrap="square" lIns="0" tIns="0" rIns="0" bIns="0" rtlCol="0" anchor="ctr"/>
          <a:lstStyle/>
          <a:p>
            <a:pPr marL="0" indent="0">
              <a:buNone/>
            </a:pPr>
            <a:r>
              <a:rPr lang="en-US" sz="850" b="1" dirty="0">
                <a:solidFill>
                  <a:srgbClr val="2563EB"/>
                </a:solidFill>
              </a:rPr>
              <a:t>WEB APP DEMONSTRATION</a:t>
            </a:r>
            <a:endParaRPr lang="en-US" sz="850" dirty="0"/>
          </a:p>
        </p:txBody>
      </p:sp>
      <p:sp>
        <p:nvSpPr>
          <p:cNvPr id="3" name="Text 1"/>
          <p:cNvSpPr/>
          <p:nvPr/>
        </p:nvSpPr>
        <p:spPr>
          <a:xfrm>
            <a:off x="548640" y="640080"/>
            <a:ext cx="8869680" cy="420624"/>
          </a:xfrm>
          <a:prstGeom prst="rect">
            <a:avLst/>
          </a:prstGeom>
          <a:noFill/>
          <a:ln/>
        </p:spPr>
        <p:txBody>
          <a:bodyPr wrap="square" lIns="0" tIns="0" rIns="0" bIns="0" rtlCol="0" anchor="ctr"/>
          <a:lstStyle/>
          <a:p>
            <a:pPr marL="0" indent="0">
              <a:buNone/>
            </a:pPr>
            <a:r>
              <a:rPr lang="en-US" sz="2400" b="1" dirty="0">
                <a:solidFill>
                  <a:srgbClr val="0B1E3A"/>
                </a:solidFill>
                <a:latin typeface="Aptos Display" pitchFamily="34" charset="0"/>
                <a:ea typeface="Aptos Display" pitchFamily="34" charset="-122"/>
                <a:cs typeface="Aptos Display" pitchFamily="34" charset="-120"/>
              </a:rPr>
              <a:t>The app turns a profile into a salary estimate.</a:t>
            </a:r>
            <a:endParaRPr lang="en-US" sz="2400" dirty="0"/>
          </a:p>
        </p:txBody>
      </p:sp>
      <p:sp>
        <p:nvSpPr>
          <p:cNvPr id="4" name="Text 2"/>
          <p:cNvSpPr/>
          <p:nvPr/>
        </p:nvSpPr>
        <p:spPr>
          <a:xfrm>
            <a:off x="10881360" y="411480"/>
            <a:ext cx="786384" cy="338328"/>
          </a:xfrm>
          <a:prstGeom prst="rect">
            <a:avLst/>
          </a:prstGeom>
          <a:noFill/>
          <a:ln/>
        </p:spPr>
        <p:txBody>
          <a:bodyPr wrap="square" lIns="0" tIns="0" rIns="0" bIns="0" rtlCol="0" anchor="ctr"/>
          <a:lstStyle/>
          <a:p>
            <a:pPr marL="0" indent="0" algn="r">
              <a:buNone/>
            </a:pPr>
            <a:r>
              <a:rPr lang="en-US" sz="1400" b="1" dirty="0">
                <a:solidFill>
                  <a:srgbClr val="2563EB"/>
                </a:solidFill>
              </a:rPr>
              <a:t>02</a:t>
            </a:r>
            <a:endParaRPr lang="en-US" sz="1400" dirty="0"/>
          </a:p>
        </p:txBody>
      </p:sp>
      <p:sp>
        <p:nvSpPr>
          <p:cNvPr id="6" name="Text 4"/>
          <p:cNvSpPr/>
          <p:nvPr/>
        </p:nvSpPr>
        <p:spPr>
          <a:xfrm>
            <a:off x="6565392" y="5239512"/>
            <a:ext cx="4251960" cy="201168"/>
          </a:xfrm>
          <a:prstGeom prst="rect">
            <a:avLst/>
          </a:prstGeom>
          <a:noFill/>
          <a:ln/>
        </p:spPr>
        <p:txBody>
          <a:bodyPr wrap="square" lIns="0" tIns="0" rIns="0" bIns="0" rtlCol="0" anchor="ctr"/>
          <a:lstStyle/>
          <a:p>
            <a:pPr marL="0" indent="0" algn="ctr">
              <a:buNone/>
            </a:pPr>
            <a:endParaRPr lang="en-US" sz="950" dirty="0"/>
          </a:p>
        </p:txBody>
      </p:sp>
      <p:sp>
        <p:nvSpPr>
          <p:cNvPr id="7" name="Text 5"/>
          <p:cNvSpPr/>
          <p:nvPr/>
        </p:nvSpPr>
        <p:spPr>
          <a:xfrm>
            <a:off x="640080" y="1234440"/>
            <a:ext cx="1828800" cy="164592"/>
          </a:xfrm>
          <a:prstGeom prst="rect">
            <a:avLst/>
          </a:prstGeom>
          <a:noFill/>
          <a:ln/>
        </p:spPr>
        <p:txBody>
          <a:bodyPr wrap="square" lIns="0" tIns="0" rIns="0" bIns="0" rtlCol="0" anchor="ctr"/>
          <a:lstStyle/>
          <a:p>
            <a:pPr marL="0" indent="0">
              <a:buNone/>
            </a:pPr>
            <a:r>
              <a:rPr lang="en-US" sz="750" b="1" dirty="0">
                <a:solidFill>
                  <a:srgbClr val="64748B"/>
                </a:solidFill>
              </a:rPr>
              <a:t>DEMO FLOW</a:t>
            </a:r>
            <a:endParaRPr lang="en-US" sz="750" dirty="0"/>
          </a:p>
        </p:txBody>
      </p:sp>
      <p:sp>
        <p:nvSpPr>
          <p:cNvPr id="8" name="Text 6"/>
          <p:cNvSpPr/>
          <p:nvPr/>
        </p:nvSpPr>
        <p:spPr>
          <a:xfrm>
            <a:off x="640080" y="1536192"/>
            <a:ext cx="4434840" cy="365760"/>
          </a:xfrm>
          <a:prstGeom prst="rect">
            <a:avLst/>
          </a:prstGeom>
          <a:noFill/>
          <a:ln/>
        </p:spPr>
        <p:txBody>
          <a:bodyPr wrap="square" lIns="0" tIns="0" rIns="0" bIns="0" rtlCol="0" anchor="ctr">
            <a:normAutofit fontScale="85000" lnSpcReduction="10000"/>
          </a:bodyPr>
          <a:lstStyle/>
          <a:p>
            <a:pPr marL="0" indent="0">
              <a:buNone/>
            </a:pPr>
            <a:r>
              <a:rPr lang="en-US" sz="1800" b="1" dirty="0">
                <a:solidFill>
                  <a:srgbClr val="0B1E3A"/>
                </a:solidFill>
              </a:rPr>
              <a:t>Use a real held-out survey profile for the demo.</a:t>
            </a:r>
            <a:endParaRPr lang="en-US" sz="1800" dirty="0"/>
          </a:p>
        </p:txBody>
      </p:sp>
      <p:sp>
        <p:nvSpPr>
          <p:cNvPr id="9" name="Text 7"/>
          <p:cNvSpPr/>
          <p:nvPr/>
        </p:nvSpPr>
        <p:spPr>
          <a:xfrm>
            <a:off x="640080" y="1993392"/>
            <a:ext cx="4480560" cy="502920"/>
          </a:xfrm>
          <a:prstGeom prst="rect">
            <a:avLst/>
          </a:prstGeom>
          <a:noFill/>
          <a:ln/>
        </p:spPr>
        <p:txBody>
          <a:bodyPr wrap="square" lIns="127" tIns="127" rIns="127" bIns="127" rtlCol="0" anchor="ctr">
            <a:normAutofit/>
          </a:bodyPr>
          <a:lstStyle/>
          <a:p>
            <a:pPr marL="0" indent="0">
              <a:buNone/>
            </a:pPr>
            <a:r>
              <a:rPr lang="en-US" sz="1550" dirty="0">
                <a:solidFill>
                  <a:srgbClr val="111827"/>
                </a:solidFill>
              </a:rPr>
              <a:t>Prefill the fields before presenting so the live demo is quick, realistic and does not waste time typing.</a:t>
            </a:r>
            <a:endParaRPr lang="en-US" sz="1550" dirty="0"/>
          </a:p>
        </p:txBody>
      </p:sp>
      <p:sp>
        <p:nvSpPr>
          <p:cNvPr id="10" name="Text 8"/>
          <p:cNvSpPr/>
          <p:nvPr/>
        </p:nvSpPr>
        <p:spPr>
          <a:xfrm>
            <a:off x="685800" y="2852928"/>
            <a:ext cx="384048" cy="384048"/>
          </a:xfrm>
          <a:prstGeom prst="rect">
            <a:avLst/>
          </a:prstGeom>
          <a:solidFill>
            <a:srgbClr val="0B1E3A"/>
          </a:solid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1" name="Text 9"/>
          <p:cNvSpPr/>
          <p:nvPr/>
        </p:nvSpPr>
        <p:spPr>
          <a:xfrm>
            <a:off x="1243584" y="2834640"/>
            <a:ext cx="2103120" cy="228600"/>
          </a:xfrm>
          <a:prstGeom prst="rect">
            <a:avLst/>
          </a:prstGeom>
          <a:noFill/>
          <a:ln/>
        </p:spPr>
        <p:txBody>
          <a:bodyPr wrap="square" lIns="0" tIns="0" rIns="0" bIns="0" rtlCol="0" anchor="ctr"/>
          <a:lstStyle/>
          <a:p>
            <a:pPr marL="0" indent="0">
              <a:buNone/>
            </a:pPr>
            <a:r>
              <a:rPr lang="en-US" sz="1350" b="1" dirty="0">
                <a:solidFill>
                  <a:srgbClr val="0B1E3A"/>
                </a:solidFill>
              </a:rPr>
              <a:t>Profile inputs</a:t>
            </a:r>
            <a:endParaRPr lang="en-US" sz="1350" dirty="0"/>
          </a:p>
        </p:txBody>
      </p:sp>
      <p:sp>
        <p:nvSpPr>
          <p:cNvPr id="12" name="Text 10"/>
          <p:cNvSpPr/>
          <p:nvPr/>
        </p:nvSpPr>
        <p:spPr>
          <a:xfrm>
            <a:off x="1243584" y="3108960"/>
            <a:ext cx="3840480" cy="246888"/>
          </a:xfrm>
          <a:prstGeom prst="rect">
            <a:avLst/>
          </a:prstGeom>
          <a:noFill/>
          <a:ln/>
        </p:spPr>
        <p:txBody>
          <a:bodyPr wrap="square" lIns="0" tIns="0" rIns="0" bIns="0" rtlCol="0" anchor="ctr">
            <a:normAutofit/>
          </a:bodyPr>
          <a:lstStyle/>
          <a:p>
            <a:pPr marL="0" indent="0">
              <a:buNone/>
            </a:pPr>
            <a:r>
              <a:rPr lang="en-US" sz="1080" dirty="0">
                <a:solidFill>
                  <a:srgbClr val="64748B"/>
                </a:solidFill>
              </a:rPr>
              <a:t>country, experience, role, education, tech stack</a:t>
            </a:r>
            <a:endParaRPr lang="en-US" sz="1080" dirty="0"/>
          </a:p>
        </p:txBody>
      </p:sp>
      <p:sp>
        <p:nvSpPr>
          <p:cNvPr id="13" name="Text 11"/>
          <p:cNvSpPr/>
          <p:nvPr/>
        </p:nvSpPr>
        <p:spPr>
          <a:xfrm>
            <a:off x="685800" y="3712464"/>
            <a:ext cx="384048" cy="384048"/>
          </a:xfrm>
          <a:prstGeom prst="rect">
            <a:avLst/>
          </a:prstGeom>
          <a:solidFill>
            <a:srgbClr val="2563EB"/>
          </a:solid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p:nvPr/>
        </p:nvSpPr>
        <p:spPr>
          <a:xfrm>
            <a:off x="1243584" y="3694176"/>
            <a:ext cx="2103120" cy="228600"/>
          </a:xfrm>
          <a:prstGeom prst="rect">
            <a:avLst/>
          </a:prstGeom>
          <a:noFill/>
          <a:ln/>
        </p:spPr>
        <p:txBody>
          <a:bodyPr wrap="square" lIns="0" tIns="0" rIns="0" bIns="0" rtlCol="0" anchor="ctr"/>
          <a:lstStyle/>
          <a:p>
            <a:pPr marL="0" indent="0">
              <a:buNone/>
            </a:pPr>
            <a:r>
              <a:rPr lang="en-US" sz="1350" b="1" dirty="0">
                <a:solidFill>
                  <a:srgbClr val="0B1E3A"/>
                </a:solidFill>
              </a:rPr>
              <a:t>Click Calculate</a:t>
            </a:r>
            <a:endParaRPr lang="en-US" sz="1350" dirty="0"/>
          </a:p>
        </p:txBody>
      </p:sp>
      <p:sp>
        <p:nvSpPr>
          <p:cNvPr id="15" name="Text 13"/>
          <p:cNvSpPr/>
          <p:nvPr/>
        </p:nvSpPr>
        <p:spPr>
          <a:xfrm>
            <a:off x="1243584" y="3968496"/>
            <a:ext cx="3840480" cy="246888"/>
          </a:xfrm>
          <a:prstGeom prst="rect">
            <a:avLst/>
          </a:prstGeom>
          <a:noFill/>
          <a:ln/>
        </p:spPr>
        <p:txBody>
          <a:bodyPr wrap="square" lIns="0" tIns="0" rIns="0" bIns="0" rtlCol="0" anchor="ctr">
            <a:normAutofit/>
          </a:bodyPr>
          <a:lstStyle/>
          <a:p>
            <a:pPr marL="0" indent="0">
              <a:buNone/>
            </a:pPr>
            <a:r>
              <a:rPr lang="en-US" sz="1080" dirty="0">
                <a:solidFill>
                  <a:srgbClr val="64748B"/>
                </a:solidFill>
              </a:rPr>
              <a:t>model processes the exact saved feature pipeline</a:t>
            </a:r>
            <a:endParaRPr lang="en-US" sz="1080" dirty="0"/>
          </a:p>
        </p:txBody>
      </p:sp>
      <p:sp>
        <p:nvSpPr>
          <p:cNvPr id="16" name="Text 14"/>
          <p:cNvSpPr/>
          <p:nvPr/>
        </p:nvSpPr>
        <p:spPr>
          <a:xfrm>
            <a:off x="685800" y="4572000"/>
            <a:ext cx="384048" cy="384048"/>
          </a:xfrm>
          <a:prstGeom prst="rect">
            <a:avLst/>
          </a:prstGeom>
          <a:solidFill>
            <a:srgbClr val="0B1E3A"/>
          </a:solid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7" name="Text 15"/>
          <p:cNvSpPr/>
          <p:nvPr/>
        </p:nvSpPr>
        <p:spPr>
          <a:xfrm>
            <a:off x="1243584" y="4553712"/>
            <a:ext cx="2103120" cy="228600"/>
          </a:xfrm>
          <a:prstGeom prst="rect">
            <a:avLst/>
          </a:prstGeom>
          <a:noFill/>
          <a:ln/>
        </p:spPr>
        <p:txBody>
          <a:bodyPr wrap="square" lIns="0" tIns="0" rIns="0" bIns="0" rtlCol="0" anchor="ctr"/>
          <a:lstStyle/>
          <a:p>
            <a:pPr marL="0" indent="0">
              <a:buNone/>
            </a:pPr>
            <a:r>
              <a:rPr lang="en-US" sz="1350" b="1" dirty="0">
                <a:solidFill>
                  <a:srgbClr val="0B1E3A"/>
                </a:solidFill>
              </a:rPr>
              <a:t>Output</a:t>
            </a:r>
            <a:endParaRPr lang="en-US" sz="1350" dirty="0"/>
          </a:p>
        </p:txBody>
      </p:sp>
      <p:sp>
        <p:nvSpPr>
          <p:cNvPr id="18" name="Text 16"/>
          <p:cNvSpPr/>
          <p:nvPr/>
        </p:nvSpPr>
        <p:spPr>
          <a:xfrm>
            <a:off x="1243584" y="4828032"/>
            <a:ext cx="3840480" cy="246888"/>
          </a:xfrm>
          <a:prstGeom prst="rect">
            <a:avLst/>
          </a:prstGeom>
          <a:noFill/>
          <a:ln/>
        </p:spPr>
        <p:txBody>
          <a:bodyPr wrap="square" lIns="0" tIns="0" rIns="0" bIns="0" rtlCol="0" anchor="ctr">
            <a:normAutofit/>
          </a:bodyPr>
          <a:lstStyle/>
          <a:p>
            <a:pPr marL="0" indent="0">
              <a:buNone/>
            </a:pPr>
            <a:r>
              <a:rPr lang="en-US" sz="1080" dirty="0">
                <a:solidFill>
                  <a:srgbClr val="64748B"/>
                </a:solidFill>
              </a:rPr>
              <a:t>estimated annual salary + experience curve</a:t>
            </a:r>
            <a:endParaRPr lang="en-US" sz="1080" dirty="0"/>
          </a:p>
        </p:txBody>
      </p:sp>
      <p:sp>
        <p:nvSpPr>
          <p:cNvPr id="19" name="Text 17"/>
          <p:cNvSpPr/>
          <p:nvPr/>
        </p:nvSpPr>
        <p:spPr>
          <a:xfrm>
            <a:off x="685800" y="5797296"/>
            <a:ext cx="2011680" cy="256032"/>
          </a:xfrm>
          <a:prstGeom prst="rect">
            <a:avLst/>
          </a:prstGeom>
          <a:solidFill>
            <a:srgbClr val="2563EB"/>
          </a:solidFill>
          <a:ln>
            <a:solidFill>
              <a:srgbClr val="2563EB">
                <a:alpha val="0"/>
              </a:srgbClr>
            </a:solidFill>
          </a:ln>
        </p:spPr>
        <p:txBody>
          <a:bodyPr wrap="square" lIns="381" tIns="381" rIns="381" bIns="381" rtlCol="0" anchor="ctr">
            <a:normAutofit/>
          </a:bodyPr>
          <a:lstStyle/>
          <a:p>
            <a:pPr marL="0" indent="0" algn="ctr">
              <a:buNone/>
            </a:pPr>
            <a:r>
              <a:rPr lang="en-US" sz="950" b="1" dirty="0">
                <a:solidFill>
                  <a:srgbClr val="FFFFFF"/>
                </a:solidFill>
              </a:rPr>
              <a:t>Live demo target: 20 seconds</a:t>
            </a:r>
            <a:endParaRPr lang="en-US" sz="950" dirty="0"/>
          </a:p>
        </p:txBody>
      </p:sp>
      <p:sp>
        <p:nvSpPr>
          <p:cNvPr id="25" name="Slide Number Placeholder 0"/>
          <p:cNvSpPr>
            <a:spLocks noGrp="1"/>
          </p:cNvSpPr>
          <p:nvPr>
            <p:ph type="sldNum" sz="quarter" idx="4294967295"/>
          </p:nvPr>
        </p:nvSpPr>
        <p:spPr>
          <a:xfrm>
            <a:off x="1138428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B7688"/>
                </a:solidFill>
                <a:latin typeface="Aptos"/>
                <a:ea typeface="Aptos"/>
                <a:cs typeface="Aptos"/>
              </a:defRPr>
            </a:lvl1pPr>
          </a:lstStyle>
          <a:p>
            <a:pPr algn="l"/>
            <a:fld id="{F7021451-1387-4CA6-816F-3879F97B5CBC}" type="slidenum">
              <a:rPr lang="en-US" b="0"/>
              <a:t>3</a:t>
            </a:fld>
            <a:endParaRPr lang="en-US" dirty="0"/>
          </a:p>
        </p:txBody>
      </p:sp>
      <p:pic>
        <p:nvPicPr>
          <p:cNvPr id="21" name="Picture 20">
            <a:extLst>
              <a:ext uri="{FF2B5EF4-FFF2-40B4-BE49-F238E27FC236}">
                <a16:creationId xmlns:a16="http://schemas.microsoft.com/office/drawing/2014/main" id="{C29564A0-717C-6289-EF83-56E7E06368A1}"/>
              </a:ext>
            </a:extLst>
          </p:cNvPr>
          <p:cNvPicPr>
            <a:picLocks noChangeAspect="1"/>
          </p:cNvPicPr>
          <p:nvPr/>
        </p:nvPicPr>
        <p:blipFill>
          <a:blip r:embed="rId3"/>
          <a:stretch>
            <a:fillRect/>
          </a:stretch>
        </p:blipFill>
        <p:spPr>
          <a:xfrm>
            <a:off x="5387024" y="1766530"/>
            <a:ext cx="6397256" cy="33249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66928" y="365760"/>
            <a:ext cx="5943600" cy="219456"/>
          </a:xfrm>
          <a:prstGeom prst="rect">
            <a:avLst/>
          </a:prstGeom>
          <a:noFill/>
          <a:ln/>
        </p:spPr>
        <p:txBody>
          <a:bodyPr wrap="square" lIns="0" tIns="0" rIns="0" bIns="0" rtlCol="0" anchor="ctr"/>
          <a:lstStyle/>
          <a:p>
            <a:pPr marL="0" indent="0">
              <a:buNone/>
            </a:pPr>
            <a:r>
              <a:rPr lang="en-US" sz="850" b="1" dirty="0">
                <a:solidFill>
                  <a:srgbClr val="2563EB"/>
                </a:solidFill>
              </a:rPr>
              <a:t>KEY APPROACH</a:t>
            </a:r>
            <a:endParaRPr lang="en-US" sz="850" dirty="0"/>
          </a:p>
        </p:txBody>
      </p:sp>
      <p:sp>
        <p:nvSpPr>
          <p:cNvPr id="3" name="Text 1"/>
          <p:cNvSpPr/>
          <p:nvPr/>
        </p:nvSpPr>
        <p:spPr>
          <a:xfrm>
            <a:off x="548640" y="640080"/>
            <a:ext cx="8869680" cy="420624"/>
          </a:xfrm>
          <a:prstGeom prst="rect">
            <a:avLst/>
          </a:prstGeom>
          <a:noFill/>
          <a:ln/>
        </p:spPr>
        <p:txBody>
          <a:bodyPr wrap="square" lIns="0" tIns="0" rIns="0" bIns="0" rtlCol="0" anchor="ctr"/>
          <a:lstStyle/>
          <a:p>
            <a:pPr marL="0" indent="0">
              <a:buNone/>
            </a:pPr>
            <a:r>
              <a:rPr lang="en-US" sz="2400" b="1" dirty="0">
                <a:solidFill>
                  <a:srgbClr val="0B1E3A"/>
                </a:solidFill>
                <a:latin typeface="Aptos Display" pitchFamily="34" charset="0"/>
                <a:ea typeface="Aptos Display" pitchFamily="34" charset="-122"/>
                <a:cs typeface="Aptos Display" pitchFamily="34" charset="-120"/>
              </a:rPr>
              <a:t>The model was selected on evidence, not preference.</a:t>
            </a:r>
            <a:endParaRPr lang="en-US" sz="2400" dirty="0"/>
          </a:p>
        </p:txBody>
      </p:sp>
      <p:sp>
        <p:nvSpPr>
          <p:cNvPr id="4" name="Text 2"/>
          <p:cNvSpPr/>
          <p:nvPr/>
        </p:nvSpPr>
        <p:spPr>
          <a:xfrm>
            <a:off x="10881360" y="411480"/>
            <a:ext cx="786384" cy="338328"/>
          </a:xfrm>
          <a:prstGeom prst="rect">
            <a:avLst/>
          </a:prstGeom>
          <a:noFill/>
          <a:ln/>
        </p:spPr>
        <p:txBody>
          <a:bodyPr wrap="square" lIns="0" tIns="0" rIns="0" bIns="0" rtlCol="0" anchor="ctr"/>
          <a:lstStyle/>
          <a:p>
            <a:pPr marL="0" indent="0" algn="r">
              <a:buNone/>
            </a:pPr>
            <a:r>
              <a:rPr lang="en-US" sz="1400" b="1" dirty="0">
                <a:solidFill>
                  <a:srgbClr val="2563EB"/>
                </a:solidFill>
              </a:rPr>
              <a:t>03</a:t>
            </a:r>
            <a:endParaRPr lang="en-US" sz="1400" dirty="0"/>
          </a:p>
        </p:txBody>
      </p:sp>
      <p:sp>
        <p:nvSpPr>
          <p:cNvPr id="5" name="Text 3"/>
          <p:cNvSpPr/>
          <p:nvPr/>
        </p:nvSpPr>
        <p:spPr>
          <a:xfrm>
            <a:off x="566928" y="1188720"/>
            <a:ext cx="7955280" cy="365760"/>
          </a:xfrm>
          <a:prstGeom prst="rect">
            <a:avLst/>
          </a:prstGeom>
          <a:noFill/>
          <a:ln/>
        </p:spPr>
        <p:txBody>
          <a:bodyPr wrap="square" lIns="0" tIns="0" rIns="0" bIns="0" rtlCol="0" anchor="ctr"/>
          <a:lstStyle/>
          <a:p>
            <a:pPr marL="0" indent="0">
              <a:buNone/>
            </a:pPr>
            <a:r>
              <a:rPr lang="en-US" sz="1560" dirty="0">
                <a:solidFill>
                  <a:srgbClr val="111827"/>
                </a:solidFill>
              </a:rPr>
              <a:t>I compared multiple algorithms on the same split, then tuned the strongest candidates using RandomizedSearchCV.</a:t>
            </a:r>
            <a:endParaRPr lang="en-US" sz="1560" dirty="0"/>
          </a:p>
        </p:txBody>
      </p:sp>
      <p:sp>
        <p:nvSpPr>
          <p:cNvPr id="6" name="Text 4"/>
          <p:cNvSpPr/>
          <p:nvPr/>
        </p:nvSpPr>
        <p:spPr>
          <a:xfrm>
            <a:off x="640080" y="1874520"/>
            <a:ext cx="2286000" cy="164592"/>
          </a:xfrm>
          <a:prstGeom prst="rect">
            <a:avLst/>
          </a:prstGeom>
          <a:noFill/>
          <a:ln/>
        </p:spPr>
        <p:txBody>
          <a:bodyPr wrap="square" lIns="0" tIns="0" rIns="0" bIns="0" rtlCol="0" anchor="ctr"/>
          <a:lstStyle/>
          <a:p>
            <a:pPr marL="0" indent="0">
              <a:buNone/>
            </a:pPr>
            <a:r>
              <a:rPr lang="en-US" sz="750" b="1" dirty="0">
                <a:solidFill>
                  <a:srgbClr val="64748B"/>
                </a:solidFill>
              </a:rPr>
              <a:t>PROCESSING CHOICES</a:t>
            </a:r>
            <a:endParaRPr lang="en-US" sz="750" dirty="0"/>
          </a:p>
        </p:txBody>
      </p:sp>
      <p:sp>
        <p:nvSpPr>
          <p:cNvPr id="7" name="Text 5"/>
          <p:cNvSpPr/>
          <p:nvPr/>
        </p:nvSpPr>
        <p:spPr>
          <a:xfrm>
            <a:off x="640080" y="2240280"/>
            <a:ext cx="201168" cy="182880"/>
          </a:xfrm>
          <a:prstGeom prst="rect">
            <a:avLst/>
          </a:prstGeom>
          <a:noFill/>
          <a:ln/>
        </p:spPr>
        <p:txBody>
          <a:bodyPr wrap="square" lIns="0" tIns="0" rIns="0" bIns="0" rtlCol="0" anchor="ctr"/>
          <a:lstStyle/>
          <a:p>
            <a:pPr marL="0" indent="0">
              <a:buNone/>
            </a:pPr>
            <a:r>
              <a:rPr lang="en-US" sz="1320" dirty="0">
                <a:solidFill>
                  <a:srgbClr val="2563EB"/>
                </a:solidFill>
              </a:rPr>
              <a:t>•</a:t>
            </a:r>
            <a:endParaRPr lang="en-US" sz="1320" dirty="0"/>
          </a:p>
        </p:txBody>
      </p:sp>
      <p:sp>
        <p:nvSpPr>
          <p:cNvPr id="8" name="Text 6"/>
          <p:cNvSpPr/>
          <p:nvPr/>
        </p:nvSpPr>
        <p:spPr>
          <a:xfrm>
            <a:off x="896112" y="2212848"/>
            <a:ext cx="5029200" cy="384048"/>
          </a:xfrm>
          <a:prstGeom prst="rect">
            <a:avLst/>
          </a:prstGeom>
          <a:noFill/>
          <a:ln/>
        </p:spPr>
        <p:txBody>
          <a:bodyPr wrap="square" lIns="127" tIns="127" rIns="127" bIns="127" rtlCol="0" anchor="ctr">
            <a:normAutofit lnSpcReduction="10000"/>
          </a:bodyPr>
          <a:lstStyle/>
          <a:p>
            <a:pPr marL="0" indent="0">
              <a:buNone/>
            </a:pPr>
            <a:r>
              <a:rPr lang="en-US" sz="1320" dirty="0">
                <a:solidFill>
                  <a:srgbClr val="111827"/>
                </a:solidFill>
              </a:rPr>
              <a:t>Cleaned salary scope to $10k–$500k to reduce extreme reporting noise.</a:t>
            </a:r>
            <a:endParaRPr lang="en-US" sz="1320" dirty="0"/>
          </a:p>
        </p:txBody>
      </p:sp>
      <p:sp>
        <p:nvSpPr>
          <p:cNvPr id="9" name="Text 7"/>
          <p:cNvSpPr/>
          <p:nvPr/>
        </p:nvSpPr>
        <p:spPr>
          <a:xfrm>
            <a:off x="640080" y="2788920"/>
            <a:ext cx="201168" cy="182880"/>
          </a:xfrm>
          <a:prstGeom prst="rect">
            <a:avLst/>
          </a:prstGeom>
          <a:noFill/>
          <a:ln/>
        </p:spPr>
        <p:txBody>
          <a:bodyPr wrap="square" lIns="0" tIns="0" rIns="0" bIns="0" rtlCol="0" anchor="ctr"/>
          <a:lstStyle/>
          <a:p>
            <a:pPr marL="0" indent="0">
              <a:buNone/>
            </a:pPr>
            <a:r>
              <a:rPr lang="en-US" sz="1320" dirty="0">
                <a:solidFill>
                  <a:srgbClr val="2563EB"/>
                </a:solidFill>
              </a:rPr>
              <a:t>•</a:t>
            </a:r>
            <a:endParaRPr lang="en-US" sz="1320" dirty="0"/>
          </a:p>
        </p:txBody>
      </p:sp>
      <p:sp>
        <p:nvSpPr>
          <p:cNvPr id="10" name="Text 8"/>
          <p:cNvSpPr/>
          <p:nvPr/>
        </p:nvSpPr>
        <p:spPr>
          <a:xfrm>
            <a:off x="896112" y="2761488"/>
            <a:ext cx="5029200" cy="384048"/>
          </a:xfrm>
          <a:prstGeom prst="rect">
            <a:avLst/>
          </a:prstGeom>
          <a:noFill/>
          <a:ln/>
        </p:spPr>
        <p:txBody>
          <a:bodyPr wrap="square" lIns="127" tIns="127" rIns="127" bIns="127" rtlCol="0" anchor="ctr">
            <a:normAutofit lnSpcReduction="10000"/>
          </a:bodyPr>
          <a:lstStyle/>
          <a:p>
            <a:pPr marL="0" indent="0">
              <a:buNone/>
            </a:pPr>
            <a:r>
              <a:rPr lang="en-US" sz="1320" dirty="0">
                <a:solidFill>
                  <a:srgbClr val="111827"/>
                </a:solidFill>
              </a:rPr>
              <a:t>Engineered technology counts and flags instead of unstable full multi-hot combinations.</a:t>
            </a:r>
            <a:endParaRPr lang="en-US" sz="1320" dirty="0"/>
          </a:p>
        </p:txBody>
      </p:sp>
      <p:sp>
        <p:nvSpPr>
          <p:cNvPr id="11" name="Text 9"/>
          <p:cNvSpPr/>
          <p:nvPr/>
        </p:nvSpPr>
        <p:spPr>
          <a:xfrm>
            <a:off x="640080" y="3337560"/>
            <a:ext cx="201168" cy="182880"/>
          </a:xfrm>
          <a:prstGeom prst="rect">
            <a:avLst/>
          </a:prstGeom>
          <a:noFill/>
          <a:ln/>
        </p:spPr>
        <p:txBody>
          <a:bodyPr wrap="square" lIns="0" tIns="0" rIns="0" bIns="0" rtlCol="0" anchor="ctr"/>
          <a:lstStyle/>
          <a:p>
            <a:pPr marL="0" indent="0">
              <a:buNone/>
            </a:pPr>
            <a:r>
              <a:rPr lang="en-US" sz="1320" dirty="0">
                <a:solidFill>
                  <a:srgbClr val="2563EB"/>
                </a:solidFill>
              </a:rPr>
              <a:t>•</a:t>
            </a:r>
            <a:endParaRPr lang="en-US" sz="1320" dirty="0"/>
          </a:p>
        </p:txBody>
      </p:sp>
      <p:sp>
        <p:nvSpPr>
          <p:cNvPr id="12" name="Text 10"/>
          <p:cNvSpPr/>
          <p:nvPr/>
        </p:nvSpPr>
        <p:spPr>
          <a:xfrm>
            <a:off x="896112" y="3310128"/>
            <a:ext cx="5029200" cy="384048"/>
          </a:xfrm>
          <a:prstGeom prst="rect">
            <a:avLst/>
          </a:prstGeom>
          <a:noFill/>
          <a:ln/>
        </p:spPr>
        <p:txBody>
          <a:bodyPr wrap="square" lIns="127" tIns="127" rIns="127" bIns="127" rtlCol="0" anchor="ctr">
            <a:normAutofit/>
          </a:bodyPr>
          <a:lstStyle/>
          <a:p>
            <a:pPr marL="0" indent="0">
              <a:buNone/>
            </a:pPr>
            <a:r>
              <a:rPr lang="en-US" sz="1320" dirty="0">
                <a:solidFill>
                  <a:srgbClr val="111827"/>
                </a:solidFill>
              </a:rPr>
              <a:t>Excluded CompTotal to avoid direct salary leakage.</a:t>
            </a:r>
            <a:endParaRPr lang="en-US" sz="1320" dirty="0"/>
          </a:p>
        </p:txBody>
      </p:sp>
      <p:sp>
        <p:nvSpPr>
          <p:cNvPr id="13" name="Text 11"/>
          <p:cNvSpPr/>
          <p:nvPr/>
        </p:nvSpPr>
        <p:spPr>
          <a:xfrm>
            <a:off x="640080" y="3886200"/>
            <a:ext cx="201168" cy="182880"/>
          </a:xfrm>
          <a:prstGeom prst="rect">
            <a:avLst/>
          </a:prstGeom>
          <a:noFill/>
          <a:ln/>
        </p:spPr>
        <p:txBody>
          <a:bodyPr wrap="square" lIns="0" tIns="0" rIns="0" bIns="0" rtlCol="0" anchor="ctr"/>
          <a:lstStyle/>
          <a:p>
            <a:pPr marL="0" indent="0">
              <a:buNone/>
            </a:pPr>
            <a:r>
              <a:rPr lang="en-US" sz="1320" dirty="0">
                <a:solidFill>
                  <a:srgbClr val="2563EB"/>
                </a:solidFill>
              </a:rPr>
              <a:t>•</a:t>
            </a:r>
            <a:endParaRPr lang="en-US" sz="1320" dirty="0"/>
          </a:p>
        </p:txBody>
      </p:sp>
      <p:sp>
        <p:nvSpPr>
          <p:cNvPr id="14" name="Text 12"/>
          <p:cNvSpPr/>
          <p:nvPr/>
        </p:nvSpPr>
        <p:spPr>
          <a:xfrm>
            <a:off x="896112" y="3858768"/>
            <a:ext cx="5029200" cy="384048"/>
          </a:xfrm>
          <a:prstGeom prst="rect">
            <a:avLst/>
          </a:prstGeom>
          <a:noFill/>
          <a:ln/>
        </p:spPr>
        <p:txBody>
          <a:bodyPr wrap="square" lIns="127" tIns="127" rIns="127" bIns="127" rtlCol="0" anchor="ctr">
            <a:normAutofit/>
          </a:bodyPr>
          <a:lstStyle/>
          <a:p>
            <a:pPr marL="0" indent="0">
              <a:buNone/>
            </a:pPr>
            <a:r>
              <a:rPr lang="en-US" sz="1320" dirty="0">
                <a:solidFill>
                  <a:srgbClr val="111827"/>
                </a:solidFill>
              </a:rPr>
              <a:t>Kept preprocessing consistent between notebook and Streamlit app.</a:t>
            </a:r>
            <a:endParaRPr lang="en-US" sz="1320" dirty="0"/>
          </a:p>
        </p:txBody>
      </p:sp>
      <p:sp>
        <p:nvSpPr>
          <p:cNvPr id="15" name="Text 13"/>
          <p:cNvSpPr/>
          <p:nvPr/>
        </p:nvSpPr>
        <p:spPr>
          <a:xfrm>
            <a:off x="6492240" y="1874520"/>
            <a:ext cx="3200400" cy="164592"/>
          </a:xfrm>
          <a:prstGeom prst="rect">
            <a:avLst/>
          </a:prstGeom>
          <a:noFill/>
          <a:ln/>
        </p:spPr>
        <p:txBody>
          <a:bodyPr wrap="square" lIns="0" tIns="0" rIns="0" bIns="0" rtlCol="0" anchor="ctr"/>
          <a:lstStyle/>
          <a:p>
            <a:pPr marL="0" indent="0">
              <a:buNone/>
            </a:pPr>
            <a:r>
              <a:rPr lang="en-US" sz="750" b="1" dirty="0">
                <a:solidFill>
                  <a:srgbClr val="64748B"/>
                </a:solidFill>
              </a:rPr>
              <a:t>DEFAULT MODEL COMPARISON — TEST MAE</a:t>
            </a:r>
            <a:endParaRPr lang="en-US" sz="750" dirty="0"/>
          </a:p>
        </p:txBody>
      </p:sp>
      <p:sp>
        <p:nvSpPr>
          <p:cNvPr id="16" name="Text 14"/>
          <p:cNvSpPr/>
          <p:nvPr/>
        </p:nvSpPr>
        <p:spPr>
          <a:xfrm>
            <a:off x="6492240" y="2240280"/>
            <a:ext cx="1874520" cy="256032"/>
          </a:xfrm>
          <a:prstGeom prst="rect">
            <a:avLst/>
          </a:prstGeom>
          <a:noFill/>
          <a:ln/>
        </p:spPr>
        <p:txBody>
          <a:bodyPr wrap="square" lIns="0" tIns="0" rIns="0" bIns="0" rtlCol="0" anchor="ctr"/>
          <a:lstStyle/>
          <a:p>
            <a:pPr marL="0" indent="0">
              <a:buNone/>
            </a:pPr>
            <a:r>
              <a:rPr lang="en-US" sz="1070" dirty="0">
                <a:solidFill>
                  <a:srgbClr val="111827"/>
                </a:solidFill>
              </a:rPr>
              <a:t>Linear Reg.</a:t>
            </a:r>
            <a:endParaRPr lang="en-US" sz="1070" dirty="0"/>
          </a:p>
        </p:txBody>
      </p:sp>
      <p:sp>
        <p:nvSpPr>
          <p:cNvPr id="17" name="Shape 15"/>
          <p:cNvSpPr/>
          <p:nvPr/>
        </p:nvSpPr>
        <p:spPr>
          <a:xfrm>
            <a:off x="8503920" y="2295144"/>
            <a:ext cx="1631648" cy="137160"/>
          </a:xfrm>
          <a:prstGeom prst="rect">
            <a:avLst/>
          </a:prstGeom>
          <a:solidFill>
            <a:srgbClr val="14B8A6"/>
          </a:solidFill>
          <a:ln w="12700">
            <a:solidFill>
              <a:srgbClr val="14B8A6"/>
            </a:solidFill>
            <a:prstDash val="solid"/>
          </a:ln>
        </p:spPr>
        <p:txBody>
          <a:bodyPr/>
          <a:lstStyle/>
          <a:p>
            <a:endParaRPr lang="en-SG" dirty="0"/>
          </a:p>
        </p:txBody>
      </p:sp>
      <p:sp>
        <p:nvSpPr>
          <p:cNvPr id="18" name="Text 16"/>
          <p:cNvSpPr/>
          <p:nvPr/>
        </p:nvSpPr>
        <p:spPr>
          <a:xfrm>
            <a:off x="11018520" y="2240280"/>
            <a:ext cx="822960" cy="237744"/>
          </a:xfrm>
          <a:prstGeom prst="rect">
            <a:avLst/>
          </a:prstGeom>
          <a:noFill/>
          <a:ln/>
        </p:spPr>
        <p:txBody>
          <a:bodyPr wrap="square" lIns="0" tIns="0" rIns="0" bIns="0" rtlCol="0" anchor="ctr"/>
          <a:lstStyle/>
          <a:p>
            <a:pPr marL="0" indent="0">
              <a:buNone/>
            </a:pPr>
            <a:r>
              <a:rPr lang="en-US" sz="950" dirty="0">
                <a:solidFill>
                  <a:srgbClr val="64748B"/>
                </a:solidFill>
              </a:rPr>
              <a:t>$30,301</a:t>
            </a:r>
            <a:endParaRPr lang="en-US" sz="950" dirty="0"/>
          </a:p>
        </p:txBody>
      </p:sp>
      <p:sp>
        <p:nvSpPr>
          <p:cNvPr id="19" name="Text 17"/>
          <p:cNvSpPr/>
          <p:nvPr/>
        </p:nvSpPr>
        <p:spPr>
          <a:xfrm>
            <a:off x="6492240" y="2807208"/>
            <a:ext cx="1874520" cy="256032"/>
          </a:xfrm>
          <a:prstGeom prst="rect">
            <a:avLst/>
          </a:prstGeom>
          <a:noFill/>
          <a:ln/>
        </p:spPr>
        <p:txBody>
          <a:bodyPr wrap="square" lIns="0" tIns="0" rIns="0" bIns="0" rtlCol="0" anchor="ctr"/>
          <a:lstStyle/>
          <a:p>
            <a:pPr marL="0" indent="0">
              <a:buNone/>
            </a:pPr>
            <a:r>
              <a:rPr lang="en-US" sz="1070" dirty="0">
                <a:solidFill>
                  <a:srgbClr val="111827"/>
                </a:solidFill>
              </a:rPr>
              <a:t>Random Forest</a:t>
            </a:r>
            <a:endParaRPr lang="en-US" sz="1070" dirty="0"/>
          </a:p>
        </p:txBody>
      </p:sp>
      <p:sp>
        <p:nvSpPr>
          <p:cNvPr id="20" name="Shape 18"/>
          <p:cNvSpPr/>
          <p:nvPr/>
        </p:nvSpPr>
        <p:spPr>
          <a:xfrm>
            <a:off x="8503920" y="2862072"/>
            <a:ext cx="1644518" cy="137160"/>
          </a:xfrm>
          <a:prstGeom prst="rect">
            <a:avLst/>
          </a:prstGeom>
          <a:solidFill>
            <a:srgbClr val="60A5FA"/>
          </a:solidFill>
          <a:ln w="12700">
            <a:solidFill>
              <a:srgbClr val="60A5FA"/>
            </a:solidFill>
            <a:prstDash val="solid"/>
          </a:ln>
        </p:spPr>
        <p:txBody>
          <a:bodyPr/>
          <a:lstStyle/>
          <a:p>
            <a:endParaRPr lang="en-SG" dirty="0"/>
          </a:p>
        </p:txBody>
      </p:sp>
      <p:sp>
        <p:nvSpPr>
          <p:cNvPr id="21" name="Text 19"/>
          <p:cNvSpPr/>
          <p:nvPr/>
        </p:nvSpPr>
        <p:spPr>
          <a:xfrm>
            <a:off x="11018520" y="2807208"/>
            <a:ext cx="822960" cy="237744"/>
          </a:xfrm>
          <a:prstGeom prst="rect">
            <a:avLst/>
          </a:prstGeom>
          <a:noFill/>
          <a:ln/>
        </p:spPr>
        <p:txBody>
          <a:bodyPr wrap="square" lIns="0" tIns="0" rIns="0" bIns="0" rtlCol="0" anchor="ctr"/>
          <a:lstStyle/>
          <a:p>
            <a:pPr marL="0" indent="0">
              <a:buNone/>
            </a:pPr>
            <a:r>
              <a:rPr lang="en-US" sz="950" dirty="0">
                <a:solidFill>
                  <a:srgbClr val="64748B"/>
                </a:solidFill>
              </a:rPr>
              <a:t>$30,540</a:t>
            </a:r>
            <a:endParaRPr lang="en-US" sz="950" dirty="0"/>
          </a:p>
        </p:txBody>
      </p:sp>
      <p:sp>
        <p:nvSpPr>
          <p:cNvPr id="22" name="Text 20"/>
          <p:cNvSpPr/>
          <p:nvPr/>
        </p:nvSpPr>
        <p:spPr>
          <a:xfrm>
            <a:off x="6492240" y="3374136"/>
            <a:ext cx="1874520" cy="256032"/>
          </a:xfrm>
          <a:prstGeom prst="rect">
            <a:avLst/>
          </a:prstGeom>
          <a:noFill/>
          <a:ln/>
        </p:spPr>
        <p:txBody>
          <a:bodyPr wrap="square" lIns="0" tIns="0" rIns="0" bIns="0" rtlCol="0" anchor="ctr"/>
          <a:lstStyle/>
          <a:p>
            <a:pPr marL="0" indent="0">
              <a:buNone/>
            </a:pPr>
            <a:r>
              <a:rPr lang="en-US" sz="1070" dirty="0">
                <a:solidFill>
                  <a:srgbClr val="111827"/>
                </a:solidFill>
              </a:rPr>
              <a:t>Grad. Boosting</a:t>
            </a:r>
            <a:endParaRPr lang="en-US" sz="1070" dirty="0"/>
          </a:p>
        </p:txBody>
      </p:sp>
      <p:sp>
        <p:nvSpPr>
          <p:cNvPr id="23" name="Shape 21"/>
          <p:cNvSpPr/>
          <p:nvPr/>
        </p:nvSpPr>
        <p:spPr>
          <a:xfrm>
            <a:off x="8503920" y="3429000"/>
            <a:ext cx="1647749" cy="137160"/>
          </a:xfrm>
          <a:prstGeom prst="rect">
            <a:avLst/>
          </a:prstGeom>
          <a:solidFill>
            <a:srgbClr val="60A5FA"/>
          </a:solidFill>
          <a:ln w="12700">
            <a:solidFill>
              <a:srgbClr val="60A5FA"/>
            </a:solidFill>
            <a:prstDash val="solid"/>
          </a:ln>
        </p:spPr>
        <p:txBody>
          <a:bodyPr/>
          <a:lstStyle/>
          <a:p>
            <a:endParaRPr lang="en-SG" dirty="0"/>
          </a:p>
        </p:txBody>
      </p:sp>
      <p:sp>
        <p:nvSpPr>
          <p:cNvPr id="24" name="Text 22"/>
          <p:cNvSpPr/>
          <p:nvPr/>
        </p:nvSpPr>
        <p:spPr>
          <a:xfrm>
            <a:off x="11018520" y="3374136"/>
            <a:ext cx="822960" cy="237744"/>
          </a:xfrm>
          <a:prstGeom prst="rect">
            <a:avLst/>
          </a:prstGeom>
          <a:noFill/>
          <a:ln/>
        </p:spPr>
        <p:txBody>
          <a:bodyPr wrap="square" lIns="0" tIns="0" rIns="0" bIns="0" rtlCol="0" anchor="ctr"/>
          <a:lstStyle/>
          <a:p>
            <a:pPr marL="0" indent="0">
              <a:buNone/>
            </a:pPr>
            <a:r>
              <a:rPr lang="en-US" sz="950" dirty="0">
                <a:solidFill>
                  <a:srgbClr val="64748B"/>
                </a:solidFill>
              </a:rPr>
              <a:t>$30,600</a:t>
            </a:r>
            <a:endParaRPr lang="en-US" sz="950" dirty="0"/>
          </a:p>
        </p:txBody>
      </p:sp>
      <p:sp>
        <p:nvSpPr>
          <p:cNvPr id="25" name="Text 23"/>
          <p:cNvSpPr/>
          <p:nvPr/>
        </p:nvSpPr>
        <p:spPr>
          <a:xfrm>
            <a:off x="6492240" y="3941064"/>
            <a:ext cx="1874520" cy="256032"/>
          </a:xfrm>
          <a:prstGeom prst="rect">
            <a:avLst/>
          </a:prstGeom>
          <a:noFill/>
          <a:ln/>
        </p:spPr>
        <p:txBody>
          <a:bodyPr wrap="square" lIns="0" tIns="0" rIns="0" bIns="0" rtlCol="0" anchor="ctr"/>
          <a:lstStyle/>
          <a:p>
            <a:pPr marL="0" indent="0">
              <a:buNone/>
            </a:pPr>
            <a:r>
              <a:rPr lang="en-US" sz="1070" dirty="0">
                <a:solidFill>
                  <a:srgbClr val="111827"/>
                </a:solidFill>
              </a:rPr>
              <a:t>Decision Tree</a:t>
            </a:r>
            <a:endParaRPr lang="en-US" sz="1070" dirty="0"/>
          </a:p>
        </p:txBody>
      </p:sp>
      <p:sp>
        <p:nvSpPr>
          <p:cNvPr id="26" name="Shape 24"/>
          <p:cNvSpPr/>
          <p:nvPr/>
        </p:nvSpPr>
        <p:spPr>
          <a:xfrm>
            <a:off x="8503920" y="3995928"/>
            <a:ext cx="2354611" cy="137160"/>
          </a:xfrm>
          <a:prstGeom prst="rect">
            <a:avLst/>
          </a:prstGeom>
          <a:solidFill>
            <a:srgbClr val="94A3B8"/>
          </a:solidFill>
          <a:ln w="12700">
            <a:solidFill>
              <a:srgbClr val="94A3B8"/>
            </a:solidFill>
            <a:prstDash val="solid"/>
          </a:ln>
        </p:spPr>
        <p:txBody>
          <a:bodyPr/>
          <a:lstStyle/>
          <a:p>
            <a:endParaRPr lang="en-SG" dirty="0"/>
          </a:p>
        </p:txBody>
      </p:sp>
      <p:sp>
        <p:nvSpPr>
          <p:cNvPr id="27" name="Text 25"/>
          <p:cNvSpPr/>
          <p:nvPr/>
        </p:nvSpPr>
        <p:spPr>
          <a:xfrm>
            <a:off x="11018520" y="3941064"/>
            <a:ext cx="822960" cy="237744"/>
          </a:xfrm>
          <a:prstGeom prst="rect">
            <a:avLst/>
          </a:prstGeom>
          <a:noFill/>
          <a:ln/>
        </p:spPr>
        <p:txBody>
          <a:bodyPr wrap="square" lIns="0" tIns="0" rIns="0" bIns="0" rtlCol="0" anchor="ctr"/>
          <a:lstStyle/>
          <a:p>
            <a:pPr marL="0" indent="0">
              <a:buNone/>
            </a:pPr>
            <a:r>
              <a:rPr lang="en-US" sz="950" dirty="0">
                <a:solidFill>
                  <a:srgbClr val="64748B"/>
                </a:solidFill>
              </a:rPr>
              <a:t>$43,727</a:t>
            </a:r>
            <a:endParaRPr lang="en-US" sz="950" dirty="0"/>
          </a:p>
        </p:txBody>
      </p:sp>
      <p:sp>
        <p:nvSpPr>
          <p:cNvPr id="28" name="Text 26"/>
          <p:cNvSpPr/>
          <p:nvPr/>
        </p:nvSpPr>
        <p:spPr>
          <a:xfrm>
            <a:off x="6492240" y="4919472"/>
            <a:ext cx="4297680" cy="228600"/>
          </a:xfrm>
          <a:prstGeom prst="rect">
            <a:avLst/>
          </a:prstGeom>
          <a:noFill/>
          <a:ln/>
        </p:spPr>
        <p:txBody>
          <a:bodyPr wrap="square" lIns="0" tIns="0" rIns="0" bIns="0" rtlCol="0" anchor="ctr"/>
          <a:lstStyle/>
          <a:p>
            <a:pPr marL="0" indent="0">
              <a:buNone/>
            </a:pPr>
            <a:r>
              <a:rPr lang="en-US" sz="1350" b="1" dirty="0">
                <a:solidFill>
                  <a:srgbClr val="0B1E3A"/>
                </a:solidFill>
              </a:rPr>
              <a:t>Why Gradient Boosting moved forward</a:t>
            </a:r>
            <a:endParaRPr lang="en-US" sz="1350" dirty="0"/>
          </a:p>
        </p:txBody>
      </p:sp>
      <p:sp>
        <p:nvSpPr>
          <p:cNvPr id="29" name="Text 27"/>
          <p:cNvSpPr/>
          <p:nvPr/>
        </p:nvSpPr>
        <p:spPr>
          <a:xfrm>
            <a:off x="6492240" y="5285232"/>
            <a:ext cx="4434840" cy="502920"/>
          </a:xfrm>
          <a:prstGeom prst="rect">
            <a:avLst/>
          </a:prstGeom>
          <a:noFill/>
          <a:ln/>
        </p:spPr>
        <p:txBody>
          <a:bodyPr wrap="square" lIns="127" tIns="127" rIns="127" bIns="127" rtlCol="0" anchor="ctr">
            <a:normAutofit/>
          </a:bodyPr>
          <a:lstStyle/>
          <a:p>
            <a:pPr marL="0" indent="0">
              <a:buNone/>
            </a:pPr>
            <a:r>
              <a:rPr lang="en-US" sz="1220" dirty="0">
                <a:solidFill>
                  <a:srgbClr val="111827"/>
                </a:solidFill>
              </a:rPr>
              <a:t>Linear Regression was the best untuned model, but ensembles had more room to improve after tuning.</a:t>
            </a:r>
            <a:endParaRPr lang="en-US" sz="1220" dirty="0"/>
          </a:p>
        </p:txBody>
      </p:sp>
      <p:sp>
        <p:nvSpPr>
          <p:cNvPr id="30" name="Text 28"/>
          <p:cNvSpPr/>
          <p:nvPr/>
        </p:nvSpPr>
        <p:spPr>
          <a:xfrm>
            <a:off x="640080" y="4892040"/>
            <a:ext cx="1078992" cy="256032"/>
          </a:xfrm>
          <a:prstGeom prst="rect">
            <a:avLst/>
          </a:prstGeom>
          <a:solidFill>
            <a:srgbClr val="EF4444"/>
          </a:solidFill>
          <a:ln>
            <a:solidFill>
              <a:srgbClr val="EF4444">
                <a:alpha val="0"/>
              </a:srgbClr>
            </a:solidFill>
          </a:ln>
        </p:spPr>
        <p:txBody>
          <a:bodyPr wrap="square" lIns="381" tIns="381" rIns="381" bIns="381" rtlCol="0" anchor="ctr">
            <a:normAutofit/>
          </a:bodyPr>
          <a:lstStyle/>
          <a:p>
            <a:pPr marL="0" indent="0" algn="ctr">
              <a:buNone/>
            </a:pPr>
            <a:r>
              <a:rPr lang="en-US" sz="950" b="1" dirty="0">
                <a:solidFill>
                  <a:srgbClr val="FFFFFF"/>
                </a:solidFill>
              </a:rPr>
              <a:t>PCA rejected</a:t>
            </a:r>
            <a:endParaRPr lang="en-US" sz="950" dirty="0"/>
          </a:p>
        </p:txBody>
      </p:sp>
      <p:sp>
        <p:nvSpPr>
          <p:cNvPr id="31" name="Text 29"/>
          <p:cNvSpPr/>
          <p:nvPr/>
        </p:nvSpPr>
        <p:spPr>
          <a:xfrm>
            <a:off x="1901952" y="4892040"/>
            <a:ext cx="1719072" cy="256032"/>
          </a:xfrm>
          <a:prstGeom prst="rect">
            <a:avLst/>
          </a:prstGeom>
          <a:solidFill>
            <a:srgbClr val="EF4444"/>
          </a:solidFill>
          <a:ln>
            <a:solidFill>
              <a:srgbClr val="EF4444">
                <a:alpha val="0"/>
              </a:srgbClr>
            </a:solidFill>
          </a:ln>
        </p:spPr>
        <p:txBody>
          <a:bodyPr wrap="square" lIns="381" tIns="381" rIns="381" bIns="381" rtlCol="0" anchor="ctr">
            <a:normAutofit/>
          </a:bodyPr>
          <a:lstStyle/>
          <a:p>
            <a:pPr marL="0" indent="0" algn="ctr">
              <a:buNone/>
            </a:pPr>
            <a:r>
              <a:rPr lang="en-US" sz="950" b="1" dirty="0">
                <a:solidFill>
                  <a:srgbClr val="FFFFFF"/>
                </a:solidFill>
              </a:rPr>
              <a:t>Classification rejected</a:t>
            </a:r>
            <a:endParaRPr lang="en-US" sz="950" dirty="0"/>
          </a:p>
        </p:txBody>
      </p:sp>
      <p:sp>
        <p:nvSpPr>
          <p:cNvPr id="32" name="Text 30"/>
          <p:cNvSpPr/>
          <p:nvPr/>
        </p:nvSpPr>
        <p:spPr>
          <a:xfrm>
            <a:off x="3794760" y="4892040"/>
            <a:ext cx="1828800" cy="256032"/>
          </a:xfrm>
          <a:prstGeom prst="rect">
            <a:avLst/>
          </a:prstGeom>
          <a:solidFill>
            <a:srgbClr val="14B8A6"/>
          </a:solidFill>
          <a:ln>
            <a:solidFill>
              <a:srgbClr val="14B8A6">
                <a:alpha val="0"/>
              </a:srgbClr>
            </a:solidFill>
          </a:ln>
        </p:spPr>
        <p:txBody>
          <a:bodyPr wrap="square" lIns="381" tIns="381" rIns="381" bIns="381" rtlCol="0" anchor="ctr">
            <a:normAutofit/>
          </a:bodyPr>
          <a:lstStyle/>
          <a:p>
            <a:pPr marL="0" indent="0" algn="ctr">
              <a:buNone/>
            </a:pPr>
            <a:r>
              <a:rPr lang="en-US" sz="950" b="1" dirty="0">
                <a:solidFill>
                  <a:srgbClr val="FFFFFF"/>
                </a:solidFill>
              </a:rPr>
              <a:t>MAE-focused tuning kept</a:t>
            </a:r>
            <a:endParaRPr lang="en-US" sz="950" dirty="0"/>
          </a:p>
        </p:txBody>
      </p:sp>
      <p:sp>
        <p:nvSpPr>
          <p:cNvPr id="33" name="Slide Number Placeholder 0"/>
          <p:cNvSpPr>
            <a:spLocks noGrp="1"/>
          </p:cNvSpPr>
          <p:nvPr>
            <p:ph type="sldNum" sz="quarter" idx="4294967295"/>
          </p:nvPr>
        </p:nvSpPr>
        <p:spPr>
          <a:xfrm>
            <a:off x="1138428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B7688"/>
                </a:solidFill>
                <a:latin typeface="Aptos"/>
                <a:ea typeface="Aptos"/>
                <a:cs typeface="Aptos"/>
              </a:defRPr>
            </a:lvl1pPr>
          </a:lstStyle>
          <a:p>
            <a:pPr algn="l"/>
            <a:fld id="{F7021451-1387-4CA6-816F-3879F97B5CBC}" type="slidenum">
              <a:rPr lang="en-US" b="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66928" y="365760"/>
            <a:ext cx="5943600" cy="219456"/>
          </a:xfrm>
          <a:prstGeom prst="rect">
            <a:avLst/>
          </a:prstGeom>
          <a:noFill/>
          <a:ln/>
        </p:spPr>
        <p:txBody>
          <a:bodyPr wrap="square" lIns="0" tIns="0" rIns="0" bIns="0" rtlCol="0" anchor="ctr"/>
          <a:lstStyle/>
          <a:p>
            <a:pPr marL="0" indent="0">
              <a:buNone/>
            </a:pPr>
            <a:r>
              <a:rPr lang="en-US" sz="850" b="1" dirty="0">
                <a:solidFill>
                  <a:srgbClr val="2563EB"/>
                </a:solidFill>
              </a:rPr>
              <a:t>RESULTS &amp; BUSINESS IMPACT</a:t>
            </a:r>
            <a:endParaRPr lang="en-US" sz="850" dirty="0"/>
          </a:p>
        </p:txBody>
      </p:sp>
      <p:sp>
        <p:nvSpPr>
          <p:cNvPr id="3" name="Text 1"/>
          <p:cNvSpPr/>
          <p:nvPr/>
        </p:nvSpPr>
        <p:spPr>
          <a:xfrm>
            <a:off x="548640" y="640080"/>
            <a:ext cx="8869680" cy="420624"/>
          </a:xfrm>
          <a:prstGeom prst="rect">
            <a:avLst/>
          </a:prstGeom>
          <a:noFill/>
          <a:ln/>
        </p:spPr>
        <p:txBody>
          <a:bodyPr wrap="square" lIns="0" tIns="0" rIns="0" bIns="0" rtlCol="0" anchor="ctr"/>
          <a:lstStyle/>
          <a:p>
            <a:pPr marL="0" indent="0">
              <a:buNone/>
            </a:pPr>
            <a:r>
              <a:rPr lang="en-US" sz="2400" b="1" dirty="0">
                <a:solidFill>
                  <a:srgbClr val="0B1E3A"/>
                </a:solidFill>
                <a:latin typeface="Aptos Display" pitchFamily="34" charset="0"/>
                <a:ea typeface="Aptos Display" pitchFamily="34" charset="-122"/>
                <a:cs typeface="Aptos Display" pitchFamily="34" charset="-120"/>
              </a:rPr>
              <a:t>Final model lowers the typical dollar error.</a:t>
            </a:r>
            <a:endParaRPr lang="en-US" sz="2400" dirty="0"/>
          </a:p>
        </p:txBody>
      </p:sp>
      <p:sp>
        <p:nvSpPr>
          <p:cNvPr id="4" name="Text 2"/>
          <p:cNvSpPr/>
          <p:nvPr/>
        </p:nvSpPr>
        <p:spPr>
          <a:xfrm>
            <a:off x="10881360" y="411480"/>
            <a:ext cx="786384" cy="338328"/>
          </a:xfrm>
          <a:prstGeom prst="rect">
            <a:avLst/>
          </a:prstGeom>
          <a:noFill/>
          <a:ln/>
        </p:spPr>
        <p:txBody>
          <a:bodyPr wrap="square" lIns="0" tIns="0" rIns="0" bIns="0" rtlCol="0" anchor="ctr"/>
          <a:lstStyle/>
          <a:p>
            <a:pPr marL="0" indent="0" algn="r">
              <a:buNone/>
            </a:pPr>
            <a:r>
              <a:rPr lang="en-US" sz="1400" b="1" dirty="0">
                <a:solidFill>
                  <a:srgbClr val="2563EB"/>
                </a:solidFill>
              </a:rPr>
              <a:t>04</a:t>
            </a:r>
            <a:endParaRPr lang="en-US" sz="1400" dirty="0"/>
          </a:p>
        </p:txBody>
      </p:sp>
      <p:sp>
        <p:nvSpPr>
          <p:cNvPr id="5" name="Text 3"/>
          <p:cNvSpPr/>
          <p:nvPr/>
        </p:nvSpPr>
        <p:spPr>
          <a:xfrm>
            <a:off x="713232" y="1463040"/>
            <a:ext cx="2971800" cy="457200"/>
          </a:xfrm>
          <a:prstGeom prst="rect">
            <a:avLst/>
          </a:prstGeom>
          <a:noFill/>
          <a:ln/>
        </p:spPr>
        <p:txBody>
          <a:bodyPr wrap="square" lIns="0" tIns="0" rIns="0" bIns="0" rtlCol="0" anchor="ctr">
            <a:normAutofit fontScale="92500" lnSpcReduction="10000"/>
          </a:bodyPr>
          <a:lstStyle/>
          <a:p>
            <a:pPr marL="0" indent="0">
              <a:buNone/>
            </a:pPr>
            <a:r>
              <a:rPr lang="en-US" sz="3600" b="1" dirty="0">
                <a:solidFill>
                  <a:srgbClr val="2563EB"/>
                </a:solidFill>
              </a:rPr>
              <a:t>$27,974</a:t>
            </a:r>
            <a:endParaRPr lang="en-US" sz="3600" dirty="0"/>
          </a:p>
        </p:txBody>
      </p:sp>
      <p:sp>
        <p:nvSpPr>
          <p:cNvPr id="6" name="Text 4"/>
          <p:cNvSpPr/>
          <p:nvPr/>
        </p:nvSpPr>
        <p:spPr>
          <a:xfrm>
            <a:off x="713232" y="2084832"/>
            <a:ext cx="2971800" cy="310896"/>
          </a:xfrm>
          <a:prstGeom prst="rect">
            <a:avLst/>
          </a:prstGeom>
          <a:noFill/>
          <a:ln/>
        </p:spPr>
        <p:txBody>
          <a:bodyPr wrap="square" lIns="0" tIns="0" rIns="0" bIns="0" rtlCol="0" anchor="ctr">
            <a:normAutofit/>
          </a:bodyPr>
          <a:lstStyle/>
          <a:p>
            <a:pPr marL="0" indent="0">
              <a:buNone/>
            </a:pPr>
            <a:r>
              <a:rPr lang="en-US" sz="1200" dirty="0">
                <a:solidFill>
                  <a:srgbClr val="64748B"/>
                </a:solidFill>
              </a:rPr>
              <a:t>Final test MAE</a:t>
            </a:r>
            <a:endParaRPr lang="en-US" sz="1200" dirty="0"/>
          </a:p>
        </p:txBody>
      </p:sp>
      <p:sp>
        <p:nvSpPr>
          <p:cNvPr id="7" name="Text 5"/>
          <p:cNvSpPr/>
          <p:nvPr/>
        </p:nvSpPr>
        <p:spPr>
          <a:xfrm>
            <a:off x="3886200" y="1463040"/>
            <a:ext cx="2743200" cy="457200"/>
          </a:xfrm>
          <a:prstGeom prst="rect">
            <a:avLst/>
          </a:prstGeom>
          <a:noFill/>
          <a:ln/>
        </p:spPr>
        <p:txBody>
          <a:bodyPr wrap="square" lIns="0" tIns="0" rIns="0" bIns="0" rtlCol="0" anchor="ctr">
            <a:normAutofit lnSpcReduction="10000"/>
          </a:bodyPr>
          <a:lstStyle/>
          <a:p>
            <a:pPr marL="0" indent="0">
              <a:buNone/>
            </a:pPr>
            <a:r>
              <a:rPr lang="en-US" sz="3100" b="1" dirty="0">
                <a:solidFill>
                  <a:srgbClr val="0B1E3A"/>
                </a:solidFill>
              </a:rPr>
              <a:t>$28,332</a:t>
            </a:r>
            <a:endParaRPr lang="en-US" sz="3100" dirty="0"/>
          </a:p>
        </p:txBody>
      </p:sp>
      <p:sp>
        <p:nvSpPr>
          <p:cNvPr id="8" name="Text 6"/>
          <p:cNvSpPr/>
          <p:nvPr/>
        </p:nvSpPr>
        <p:spPr>
          <a:xfrm>
            <a:off x="3886200" y="2084832"/>
            <a:ext cx="2743200" cy="310896"/>
          </a:xfrm>
          <a:prstGeom prst="rect">
            <a:avLst/>
          </a:prstGeom>
          <a:noFill/>
          <a:ln/>
        </p:spPr>
        <p:txBody>
          <a:bodyPr wrap="square" lIns="0" tIns="0" rIns="0" bIns="0" rtlCol="0" anchor="ctr">
            <a:normAutofit/>
          </a:bodyPr>
          <a:lstStyle/>
          <a:p>
            <a:pPr marL="0" indent="0">
              <a:buNone/>
            </a:pPr>
            <a:r>
              <a:rPr lang="en-US" sz="1200" dirty="0">
                <a:solidFill>
                  <a:srgbClr val="64748B"/>
                </a:solidFill>
              </a:rPr>
              <a:t>Training CV MAE</a:t>
            </a:r>
            <a:endParaRPr lang="en-US" sz="1200" dirty="0"/>
          </a:p>
        </p:txBody>
      </p:sp>
      <p:sp>
        <p:nvSpPr>
          <p:cNvPr id="9" name="Text 7"/>
          <p:cNvSpPr/>
          <p:nvPr/>
        </p:nvSpPr>
        <p:spPr>
          <a:xfrm>
            <a:off x="6766560" y="1463040"/>
            <a:ext cx="2880360" cy="457200"/>
          </a:xfrm>
          <a:prstGeom prst="rect">
            <a:avLst/>
          </a:prstGeom>
          <a:noFill/>
          <a:ln/>
        </p:spPr>
        <p:txBody>
          <a:bodyPr wrap="square" lIns="0" tIns="0" rIns="0" bIns="0" rtlCol="0" anchor="ctr">
            <a:normAutofit fontScale="92500" lnSpcReduction="10000"/>
          </a:bodyPr>
          <a:lstStyle/>
          <a:p>
            <a:pPr marL="0" indent="0">
              <a:buNone/>
            </a:pPr>
            <a:r>
              <a:rPr lang="en-US" sz="3400" b="1" dirty="0">
                <a:solidFill>
                  <a:srgbClr val="14B8A6"/>
                </a:solidFill>
              </a:rPr>
              <a:t>−7.7%</a:t>
            </a:r>
            <a:endParaRPr lang="en-US" sz="3400" dirty="0"/>
          </a:p>
        </p:txBody>
      </p:sp>
      <p:sp>
        <p:nvSpPr>
          <p:cNvPr id="10" name="Text 8"/>
          <p:cNvSpPr/>
          <p:nvPr/>
        </p:nvSpPr>
        <p:spPr>
          <a:xfrm>
            <a:off x="6766560" y="2084832"/>
            <a:ext cx="2880360" cy="310896"/>
          </a:xfrm>
          <a:prstGeom prst="rect">
            <a:avLst/>
          </a:prstGeom>
          <a:noFill/>
          <a:ln/>
        </p:spPr>
        <p:txBody>
          <a:bodyPr wrap="square" lIns="0" tIns="0" rIns="0" bIns="0" rtlCol="0" anchor="ctr">
            <a:normAutofit/>
          </a:bodyPr>
          <a:lstStyle/>
          <a:p>
            <a:pPr marL="0" indent="0">
              <a:buNone/>
            </a:pPr>
            <a:r>
              <a:rPr lang="en-US" sz="1200" dirty="0">
                <a:solidFill>
                  <a:srgbClr val="64748B"/>
                </a:solidFill>
              </a:rPr>
              <a:t>Improvement vs Linear Regression</a:t>
            </a:r>
            <a:endParaRPr lang="en-US" sz="1200" dirty="0"/>
          </a:p>
        </p:txBody>
      </p:sp>
      <p:sp>
        <p:nvSpPr>
          <p:cNvPr id="11" name="Shape 9"/>
          <p:cNvSpPr/>
          <p:nvPr/>
        </p:nvSpPr>
        <p:spPr>
          <a:xfrm>
            <a:off x="713232" y="3017520"/>
            <a:ext cx="10424160" cy="0"/>
          </a:xfrm>
          <a:prstGeom prst="line">
            <a:avLst/>
          </a:prstGeom>
          <a:noFill/>
          <a:ln w="12700">
            <a:solidFill>
              <a:srgbClr val="E5EAF2"/>
            </a:solidFill>
            <a:prstDash val="solid"/>
          </a:ln>
        </p:spPr>
        <p:txBody>
          <a:bodyPr/>
          <a:lstStyle/>
          <a:p>
            <a:endParaRPr lang="en-SG" dirty="0"/>
          </a:p>
        </p:txBody>
      </p:sp>
      <p:sp>
        <p:nvSpPr>
          <p:cNvPr id="12" name="Text 10"/>
          <p:cNvSpPr/>
          <p:nvPr/>
        </p:nvSpPr>
        <p:spPr>
          <a:xfrm>
            <a:off x="731520" y="3383280"/>
            <a:ext cx="3657600" cy="228600"/>
          </a:xfrm>
          <a:prstGeom prst="rect">
            <a:avLst/>
          </a:prstGeom>
          <a:noFill/>
          <a:ln/>
        </p:spPr>
        <p:txBody>
          <a:bodyPr wrap="square" lIns="0" tIns="0" rIns="0" bIns="0" rtlCol="0" anchor="ctr"/>
          <a:lstStyle/>
          <a:p>
            <a:pPr marL="0" indent="0">
              <a:buNone/>
            </a:pPr>
            <a:r>
              <a:rPr lang="en-US" sz="1300" b="1" dirty="0">
                <a:solidFill>
                  <a:srgbClr val="0B1E3A"/>
                </a:solidFill>
              </a:rPr>
              <a:t>Like-for-like comparison on the same split</a:t>
            </a:r>
            <a:endParaRPr lang="en-US" sz="1300" dirty="0"/>
          </a:p>
        </p:txBody>
      </p:sp>
      <p:sp>
        <p:nvSpPr>
          <p:cNvPr id="13" name="Text 11"/>
          <p:cNvSpPr/>
          <p:nvPr/>
        </p:nvSpPr>
        <p:spPr>
          <a:xfrm>
            <a:off x="749808" y="3794760"/>
            <a:ext cx="1874520" cy="256032"/>
          </a:xfrm>
          <a:prstGeom prst="rect">
            <a:avLst/>
          </a:prstGeom>
          <a:noFill/>
          <a:ln/>
        </p:spPr>
        <p:txBody>
          <a:bodyPr wrap="square" lIns="0" tIns="0" rIns="0" bIns="0" rtlCol="0" anchor="ctr"/>
          <a:lstStyle/>
          <a:p>
            <a:pPr marL="0" indent="0">
              <a:buNone/>
            </a:pPr>
            <a:r>
              <a:rPr lang="en-US" sz="1070" dirty="0">
                <a:solidFill>
                  <a:srgbClr val="111827"/>
                </a:solidFill>
              </a:rPr>
              <a:t>Linear Regression</a:t>
            </a:r>
            <a:endParaRPr lang="en-US" sz="1070" dirty="0"/>
          </a:p>
        </p:txBody>
      </p:sp>
      <p:sp>
        <p:nvSpPr>
          <p:cNvPr id="14" name="Shape 12"/>
          <p:cNvSpPr/>
          <p:nvPr/>
        </p:nvSpPr>
        <p:spPr>
          <a:xfrm>
            <a:off x="2761488" y="3849624"/>
            <a:ext cx="2900601" cy="137160"/>
          </a:xfrm>
          <a:prstGeom prst="rect">
            <a:avLst/>
          </a:prstGeom>
          <a:solidFill>
            <a:srgbClr val="94A3B8"/>
          </a:solidFill>
          <a:ln w="12700">
            <a:solidFill>
              <a:srgbClr val="94A3B8"/>
            </a:solidFill>
            <a:prstDash val="solid"/>
          </a:ln>
        </p:spPr>
        <p:txBody>
          <a:bodyPr/>
          <a:lstStyle/>
          <a:p>
            <a:endParaRPr lang="en-SG" dirty="0"/>
          </a:p>
        </p:txBody>
      </p:sp>
      <p:sp>
        <p:nvSpPr>
          <p:cNvPr id="15" name="Text 13"/>
          <p:cNvSpPr/>
          <p:nvPr/>
        </p:nvSpPr>
        <p:spPr>
          <a:xfrm>
            <a:off x="5916168" y="3794760"/>
            <a:ext cx="822960" cy="237744"/>
          </a:xfrm>
          <a:prstGeom prst="rect">
            <a:avLst/>
          </a:prstGeom>
          <a:noFill/>
          <a:ln/>
        </p:spPr>
        <p:txBody>
          <a:bodyPr wrap="square" lIns="0" tIns="0" rIns="0" bIns="0" rtlCol="0" anchor="ctr"/>
          <a:lstStyle/>
          <a:p>
            <a:pPr marL="0" indent="0">
              <a:buNone/>
            </a:pPr>
            <a:r>
              <a:rPr lang="en-US" sz="950" dirty="0">
                <a:solidFill>
                  <a:srgbClr val="64748B"/>
                </a:solidFill>
              </a:rPr>
              <a:t>$30,301</a:t>
            </a:r>
            <a:endParaRPr lang="en-US" sz="950" dirty="0"/>
          </a:p>
        </p:txBody>
      </p:sp>
      <p:sp>
        <p:nvSpPr>
          <p:cNvPr id="16" name="Text 14"/>
          <p:cNvSpPr/>
          <p:nvPr/>
        </p:nvSpPr>
        <p:spPr>
          <a:xfrm>
            <a:off x="749808" y="4407408"/>
            <a:ext cx="1874520" cy="256032"/>
          </a:xfrm>
          <a:prstGeom prst="rect">
            <a:avLst/>
          </a:prstGeom>
          <a:noFill/>
          <a:ln/>
        </p:spPr>
        <p:txBody>
          <a:bodyPr wrap="square" lIns="0" tIns="0" rIns="0" bIns="0" rtlCol="0" anchor="ctr"/>
          <a:lstStyle/>
          <a:p>
            <a:pPr marL="0" indent="0">
              <a:buNone/>
            </a:pPr>
            <a:r>
              <a:rPr lang="en-US" sz="1070" dirty="0">
                <a:solidFill>
                  <a:srgbClr val="111827"/>
                </a:solidFill>
              </a:rPr>
              <a:t>Tuned Gradient Boosting</a:t>
            </a:r>
            <a:endParaRPr lang="en-US" sz="1070" dirty="0"/>
          </a:p>
        </p:txBody>
      </p:sp>
      <p:sp>
        <p:nvSpPr>
          <p:cNvPr id="17" name="Shape 15"/>
          <p:cNvSpPr/>
          <p:nvPr/>
        </p:nvSpPr>
        <p:spPr>
          <a:xfrm>
            <a:off x="2761488" y="4462272"/>
            <a:ext cx="2677846" cy="137160"/>
          </a:xfrm>
          <a:prstGeom prst="rect">
            <a:avLst/>
          </a:prstGeom>
          <a:solidFill>
            <a:srgbClr val="2563EB"/>
          </a:solidFill>
          <a:ln w="12700">
            <a:solidFill>
              <a:srgbClr val="2563EB"/>
            </a:solidFill>
            <a:prstDash val="solid"/>
          </a:ln>
        </p:spPr>
        <p:txBody>
          <a:bodyPr/>
          <a:lstStyle/>
          <a:p>
            <a:endParaRPr lang="en-SG" dirty="0"/>
          </a:p>
        </p:txBody>
      </p:sp>
      <p:sp>
        <p:nvSpPr>
          <p:cNvPr id="18" name="Text 16"/>
          <p:cNvSpPr/>
          <p:nvPr/>
        </p:nvSpPr>
        <p:spPr>
          <a:xfrm>
            <a:off x="5916168" y="4407408"/>
            <a:ext cx="822960" cy="237744"/>
          </a:xfrm>
          <a:prstGeom prst="rect">
            <a:avLst/>
          </a:prstGeom>
          <a:noFill/>
          <a:ln/>
        </p:spPr>
        <p:txBody>
          <a:bodyPr wrap="square" lIns="0" tIns="0" rIns="0" bIns="0" rtlCol="0" anchor="ctr"/>
          <a:lstStyle/>
          <a:p>
            <a:pPr marL="0" indent="0">
              <a:buNone/>
            </a:pPr>
            <a:r>
              <a:rPr lang="en-US" sz="950" dirty="0">
                <a:solidFill>
                  <a:srgbClr val="64748B"/>
                </a:solidFill>
              </a:rPr>
              <a:t>$27,974</a:t>
            </a:r>
            <a:endParaRPr lang="en-US" sz="950" dirty="0"/>
          </a:p>
        </p:txBody>
      </p:sp>
      <p:sp>
        <p:nvSpPr>
          <p:cNvPr id="19" name="Text 17"/>
          <p:cNvSpPr/>
          <p:nvPr/>
        </p:nvSpPr>
        <p:spPr>
          <a:xfrm>
            <a:off x="6858000" y="3401568"/>
            <a:ext cx="4160520" cy="530352"/>
          </a:xfrm>
          <a:prstGeom prst="rect">
            <a:avLst/>
          </a:prstGeom>
          <a:noFill/>
          <a:ln/>
        </p:spPr>
        <p:txBody>
          <a:bodyPr wrap="square" lIns="127" tIns="127" rIns="127" bIns="127" rtlCol="0" anchor="ctr">
            <a:normAutofit fontScale="92500"/>
          </a:bodyPr>
          <a:lstStyle/>
          <a:p>
            <a:pPr marL="0" indent="0">
              <a:buNone/>
            </a:pPr>
            <a:r>
              <a:rPr lang="en-US" sz="1420" dirty="0">
                <a:solidFill>
                  <a:srgbClr val="111827"/>
                </a:solidFill>
              </a:rPr>
              <a:t>MAE is the main metric because users understand “off by about $X” better than abstract regression scores.</a:t>
            </a:r>
            <a:endParaRPr lang="en-US" sz="1420" dirty="0"/>
          </a:p>
        </p:txBody>
      </p:sp>
      <p:sp>
        <p:nvSpPr>
          <p:cNvPr id="20" name="Text 18"/>
          <p:cNvSpPr/>
          <p:nvPr/>
        </p:nvSpPr>
        <p:spPr>
          <a:xfrm>
            <a:off x="6858000" y="4297680"/>
            <a:ext cx="3291840" cy="219456"/>
          </a:xfrm>
          <a:prstGeom prst="rect">
            <a:avLst/>
          </a:prstGeom>
          <a:noFill/>
          <a:ln/>
        </p:spPr>
        <p:txBody>
          <a:bodyPr wrap="square" lIns="0" tIns="0" rIns="0" bIns="0" rtlCol="0" anchor="ctr"/>
          <a:lstStyle/>
          <a:p>
            <a:pPr marL="0" indent="0">
              <a:buNone/>
            </a:pPr>
            <a:r>
              <a:rPr lang="en-US" sz="1350" b="1" dirty="0">
                <a:solidFill>
                  <a:srgbClr val="0B1E3A"/>
                </a:solidFill>
              </a:rPr>
              <a:t>Business interpretation</a:t>
            </a:r>
            <a:endParaRPr lang="en-US" sz="1350" dirty="0"/>
          </a:p>
        </p:txBody>
      </p:sp>
      <p:sp>
        <p:nvSpPr>
          <p:cNvPr id="21" name="Text 19"/>
          <p:cNvSpPr/>
          <p:nvPr/>
        </p:nvSpPr>
        <p:spPr>
          <a:xfrm>
            <a:off x="6858000" y="4654296"/>
            <a:ext cx="201168" cy="182880"/>
          </a:xfrm>
          <a:prstGeom prst="rect">
            <a:avLst/>
          </a:prstGeom>
          <a:noFill/>
          <a:ln/>
        </p:spPr>
        <p:txBody>
          <a:bodyPr wrap="square" lIns="0" tIns="0" rIns="0" bIns="0" rtlCol="0" anchor="ctr"/>
          <a:lstStyle/>
          <a:p>
            <a:pPr marL="0" indent="0">
              <a:buNone/>
            </a:pPr>
            <a:r>
              <a:rPr lang="en-US" sz="1250" dirty="0">
                <a:solidFill>
                  <a:srgbClr val="2563EB"/>
                </a:solidFill>
              </a:rPr>
              <a:t>•</a:t>
            </a:r>
            <a:endParaRPr lang="en-US" sz="1250" dirty="0"/>
          </a:p>
        </p:txBody>
      </p:sp>
      <p:sp>
        <p:nvSpPr>
          <p:cNvPr id="22" name="Text 20"/>
          <p:cNvSpPr/>
          <p:nvPr/>
        </p:nvSpPr>
        <p:spPr>
          <a:xfrm>
            <a:off x="7114032" y="4626864"/>
            <a:ext cx="4206240" cy="384048"/>
          </a:xfrm>
          <a:prstGeom prst="rect">
            <a:avLst/>
          </a:prstGeom>
          <a:noFill/>
          <a:ln/>
        </p:spPr>
        <p:txBody>
          <a:bodyPr wrap="square" lIns="127" tIns="127" rIns="127" bIns="127" rtlCol="0" anchor="ctr">
            <a:normAutofit/>
          </a:bodyPr>
          <a:lstStyle/>
          <a:p>
            <a:pPr marL="0" indent="0">
              <a:buNone/>
            </a:pPr>
            <a:r>
              <a:rPr lang="en-US" sz="1250" dirty="0">
                <a:solidFill>
                  <a:srgbClr val="111827"/>
                </a:solidFill>
              </a:rPr>
              <a:t>Helps developers form realistic salary expectations.</a:t>
            </a:r>
            <a:endParaRPr lang="en-US" sz="1250" dirty="0"/>
          </a:p>
        </p:txBody>
      </p:sp>
      <p:sp>
        <p:nvSpPr>
          <p:cNvPr id="23" name="Text 21"/>
          <p:cNvSpPr/>
          <p:nvPr/>
        </p:nvSpPr>
        <p:spPr>
          <a:xfrm>
            <a:off x="6858000" y="5129784"/>
            <a:ext cx="201168" cy="182880"/>
          </a:xfrm>
          <a:prstGeom prst="rect">
            <a:avLst/>
          </a:prstGeom>
          <a:noFill/>
          <a:ln/>
        </p:spPr>
        <p:txBody>
          <a:bodyPr wrap="square" lIns="0" tIns="0" rIns="0" bIns="0" rtlCol="0" anchor="ctr"/>
          <a:lstStyle/>
          <a:p>
            <a:pPr marL="0" indent="0">
              <a:buNone/>
            </a:pPr>
            <a:r>
              <a:rPr lang="en-US" sz="1250" dirty="0">
                <a:solidFill>
                  <a:srgbClr val="2563EB"/>
                </a:solidFill>
              </a:rPr>
              <a:t>•</a:t>
            </a:r>
            <a:endParaRPr lang="en-US" sz="1250" dirty="0"/>
          </a:p>
        </p:txBody>
      </p:sp>
      <p:sp>
        <p:nvSpPr>
          <p:cNvPr id="24" name="Text 22"/>
          <p:cNvSpPr/>
          <p:nvPr/>
        </p:nvSpPr>
        <p:spPr>
          <a:xfrm>
            <a:off x="7114032" y="5102352"/>
            <a:ext cx="4206240" cy="384048"/>
          </a:xfrm>
          <a:prstGeom prst="rect">
            <a:avLst/>
          </a:prstGeom>
          <a:noFill/>
          <a:ln/>
        </p:spPr>
        <p:txBody>
          <a:bodyPr wrap="square" lIns="127" tIns="127" rIns="127" bIns="127" rtlCol="0" anchor="ctr">
            <a:normAutofit/>
          </a:bodyPr>
          <a:lstStyle/>
          <a:p>
            <a:pPr marL="0" indent="0">
              <a:buNone/>
            </a:pPr>
            <a:r>
              <a:rPr lang="en-US" sz="1250" dirty="0">
                <a:solidFill>
                  <a:srgbClr val="111827"/>
                </a:solidFill>
              </a:rPr>
              <a:t>Supports career planning and offer evaluation.</a:t>
            </a:r>
            <a:endParaRPr lang="en-US" sz="1250" dirty="0"/>
          </a:p>
        </p:txBody>
      </p:sp>
      <p:sp>
        <p:nvSpPr>
          <p:cNvPr id="25" name="Text 23"/>
          <p:cNvSpPr/>
          <p:nvPr/>
        </p:nvSpPr>
        <p:spPr>
          <a:xfrm>
            <a:off x="6858000" y="5605272"/>
            <a:ext cx="201168" cy="182880"/>
          </a:xfrm>
          <a:prstGeom prst="rect">
            <a:avLst/>
          </a:prstGeom>
          <a:noFill/>
          <a:ln/>
        </p:spPr>
        <p:txBody>
          <a:bodyPr wrap="square" lIns="0" tIns="0" rIns="0" bIns="0" rtlCol="0" anchor="ctr"/>
          <a:lstStyle/>
          <a:p>
            <a:pPr marL="0" indent="0">
              <a:buNone/>
            </a:pPr>
            <a:r>
              <a:rPr lang="en-US" sz="1250" dirty="0">
                <a:solidFill>
                  <a:srgbClr val="2563EB"/>
                </a:solidFill>
              </a:rPr>
              <a:t>•</a:t>
            </a:r>
            <a:endParaRPr lang="en-US" sz="1250" dirty="0"/>
          </a:p>
        </p:txBody>
      </p:sp>
      <p:sp>
        <p:nvSpPr>
          <p:cNvPr id="26" name="Text 24"/>
          <p:cNvSpPr/>
          <p:nvPr/>
        </p:nvSpPr>
        <p:spPr>
          <a:xfrm>
            <a:off x="7114032" y="5577840"/>
            <a:ext cx="4206240" cy="384048"/>
          </a:xfrm>
          <a:prstGeom prst="rect">
            <a:avLst/>
          </a:prstGeom>
          <a:noFill/>
          <a:ln/>
        </p:spPr>
        <p:txBody>
          <a:bodyPr wrap="square" lIns="127" tIns="127" rIns="127" bIns="127" rtlCol="0" anchor="ctr">
            <a:normAutofit/>
          </a:bodyPr>
          <a:lstStyle/>
          <a:p>
            <a:pPr marL="0" indent="0">
              <a:buNone/>
            </a:pPr>
            <a:r>
              <a:rPr lang="en-US" sz="1250" dirty="0">
                <a:solidFill>
                  <a:srgbClr val="111827"/>
                </a:solidFill>
              </a:rPr>
              <a:t>Gives evidence without pretending to be an exact salary truth.</a:t>
            </a:r>
            <a:endParaRPr lang="en-US" sz="1250" dirty="0"/>
          </a:p>
        </p:txBody>
      </p:sp>
      <p:sp>
        <p:nvSpPr>
          <p:cNvPr id="27" name="Slide Number Placeholder 0"/>
          <p:cNvSpPr>
            <a:spLocks noGrp="1"/>
          </p:cNvSpPr>
          <p:nvPr>
            <p:ph type="sldNum" sz="quarter" idx="4294967295"/>
          </p:nvPr>
        </p:nvSpPr>
        <p:spPr>
          <a:xfrm>
            <a:off x="1138428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B7688"/>
                </a:solidFill>
                <a:latin typeface="Aptos"/>
                <a:ea typeface="Aptos"/>
                <a:cs typeface="Aptos"/>
              </a:defRPr>
            </a:lvl1pPr>
          </a:lstStyle>
          <a:p>
            <a:pPr algn="l"/>
            <a:fld id="{F7021451-1387-4CA6-816F-3879F97B5CBC}" type="slidenum">
              <a:rPr lang="en-US" b="0"/>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66928" y="365760"/>
            <a:ext cx="5943600" cy="219456"/>
          </a:xfrm>
          <a:prstGeom prst="rect">
            <a:avLst/>
          </a:prstGeom>
          <a:noFill/>
          <a:ln/>
        </p:spPr>
        <p:txBody>
          <a:bodyPr wrap="square" lIns="0" tIns="0" rIns="0" bIns="0" rtlCol="0" anchor="ctr"/>
          <a:lstStyle/>
          <a:p>
            <a:pPr marL="0" indent="0">
              <a:buNone/>
            </a:pPr>
            <a:r>
              <a:rPr lang="en-US" sz="850" b="1" dirty="0">
                <a:solidFill>
                  <a:srgbClr val="2563EB"/>
                </a:solidFill>
              </a:rPr>
              <a:t>CONCLUSION &amp; NEXT STEPS</a:t>
            </a:r>
            <a:endParaRPr lang="en-US" sz="850" dirty="0"/>
          </a:p>
        </p:txBody>
      </p:sp>
      <p:sp>
        <p:nvSpPr>
          <p:cNvPr id="3" name="Text 1"/>
          <p:cNvSpPr/>
          <p:nvPr/>
        </p:nvSpPr>
        <p:spPr>
          <a:xfrm>
            <a:off x="548640" y="640080"/>
            <a:ext cx="8869680" cy="420624"/>
          </a:xfrm>
          <a:prstGeom prst="rect">
            <a:avLst/>
          </a:prstGeom>
          <a:noFill/>
          <a:ln/>
        </p:spPr>
        <p:txBody>
          <a:bodyPr wrap="square" lIns="0" tIns="0" rIns="0" bIns="0" rtlCol="0" anchor="ctr"/>
          <a:lstStyle/>
          <a:p>
            <a:pPr marL="0" indent="0">
              <a:buNone/>
            </a:pPr>
            <a:r>
              <a:rPr lang="en-US" sz="2400" b="1" dirty="0">
                <a:solidFill>
                  <a:srgbClr val="0B1E3A"/>
                </a:solidFill>
                <a:latin typeface="Aptos Display" pitchFamily="34" charset="0"/>
                <a:ea typeface="Aptos Display" pitchFamily="34" charset="-122"/>
                <a:cs typeface="Aptos Display" pitchFamily="34" charset="-120"/>
              </a:rPr>
              <a:t>Useful as a decision-support tool — with honest limits.</a:t>
            </a:r>
            <a:endParaRPr lang="en-US" sz="2400" dirty="0"/>
          </a:p>
        </p:txBody>
      </p:sp>
      <p:sp>
        <p:nvSpPr>
          <p:cNvPr id="4" name="Text 2"/>
          <p:cNvSpPr/>
          <p:nvPr/>
        </p:nvSpPr>
        <p:spPr>
          <a:xfrm>
            <a:off x="10881360" y="411480"/>
            <a:ext cx="786384" cy="338328"/>
          </a:xfrm>
          <a:prstGeom prst="rect">
            <a:avLst/>
          </a:prstGeom>
          <a:noFill/>
          <a:ln/>
        </p:spPr>
        <p:txBody>
          <a:bodyPr wrap="square" lIns="0" tIns="0" rIns="0" bIns="0" rtlCol="0" anchor="ctr"/>
          <a:lstStyle/>
          <a:p>
            <a:pPr marL="0" indent="0" algn="r">
              <a:buNone/>
            </a:pPr>
            <a:r>
              <a:rPr lang="en-US" sz="1400" b="1" dirty="0">
                <a:solidFill>
                  <a:srgbClr val="2563EB"/>
                </a:solidFill>
              </a:rPr>
              <a:t>05</a:t>
            </a:r>
            <a:endParaRPr lang="en-US" sz="1400" dirty="0"/>
          </a:p>
        </p:txBody>
      </p:sp>
      <p:sp>
        <p:nvSpPr>
          <p:cNvPr id="5" name="Text 3"/>
          <p:cNvSpPr/>
          <p:nvPr/>
        </p:nvSpPr>
        <p:spPr>
          <a:xfrm>
            <a:off x="640080" y="1298448"/>
            <a:ext cx="9966960" cy="640080"/>
          </a:xfrm>
          <a:prstGeom prst="rect">
            <a:avLst/>
          </a:prstGeom>
          <a:noFill/>
          <a:ln/>
        </p:spPr>
        <p:txBody>
          <a:bodyPr wrap="square" lIns="127" tIns="127" rIns="127" bIns="127" rtlCol="0" anchor="ctr">
            <a:normAutofit/>
          </a:bodyPr>
          <a:lstStyle/>
          <a:p>
            <a:pPr marL="0" indent="0">
              <a:buNone/>
            </a:pPr>
            <a:r>
              <a:rPr lang="en-US" sz="1900" b="1" dirty="0">
                <a:solidFill>
                  <a:srgbClr val="0B1E3A"/>
                </a:solidFill>
              </a:rPr>
              <a:t>Salarycalc does not tell a developer exactly what they should earn. It gives them evidence to make a better career decision.</a:t>
            </a:r>
            <a:endParaRPr lang="en-US" sz="1900" dirty="0"/>
          </a:p>
        </p:txBody>
      </p:sp>
      <p:sp>
        <p:nvSpPr>
          <p:cNvPr id="6" name="Text 4"/>
          <p:cNvSpPr/>
          <p:nvPr/>
        </p:nvSpPr>
        <p:spPr>
          <a:xfrm>
            <a:off x="676656" y="2240280"/>
            <a:ext cx="2011680" cy="164592"/>
          </a:xfrm>
          <a:prstGeom prst="rect">
            <a:avLst/>
          </a:prstGeom>
          <a:noFill/>
          <a:ln/>
        </p:spPr>
        <p:txBody>
          <a:bodyPr wrap="square" lIns="0" tIns="0" rIns="0" bIns="0" rtlCol="0" anchor="ctr"/>
          <a:lstStyle/>
          <a:p>
            <a:pPr marL="0" indent="0">
              <a:buNone/>
            </a:pPr>
            <a:r>
              <a:rPr lang="en-US" sz="750" b="1" dirty="0">
                <a:solidFill>
                  <a:srgbClr val="64748B"/>
                </a:solidFill>
              </a:rPr>
              <a:t>WHERE IT WORKS BEST</a:t>
            </a:r>
            <a:endParaRPr lang="en-US" sz="750" dirty="0"/>
          </a:p>
        </p:txBody>
      </p:sp>
      <p:sp>
        <p:nvSpPr>
          <p:cNvPr id="7" name="Text 5"/>
          <p:cNvSpPr/>
          <p:nvPr/>
        </p:nvSpPr>
        <p:spPr>
          <a:xfrm>
            <a:off x="676656" y="2615184"/>
            <a:ext cx="2743200" cy="530352"/>
          </a:xfrm>
          <a:prstGeom prst="rect">
            <a:avLst/>
          </a:prstGeom>
          <a:noFill/>
          <a:ln/>
        </p:spPr>
        <p:txBody>
          <a:bodyPr wrap="square" lIns="0" tIns="0" rIns="0" bIns="0" rtlCol="0" anchor="ctr"/>
          <a:lstStyle/>
          <a:p>
            <a:pPr marL="0" indent="0">
              <a:buNone/>
            </a:pPr>
            <a:r>
              <a:rPr lang="en-US" sz="3000" b="1" dirty="0">
                <a:solidFill>
                  <a:srgbClr val="2563EB"/>
                </a:solidFill>
              </a:rPr>
              <a:t>$50k–$250k</a:t>
            </a:r>
            <a:endParaRPr lang="en-US" sz="3000" dirty="0"/>
          </a:p>
        </p:txBody>
      </p:sp>
      <p:sp>
        <p:nvSpPr>
          <p:cNvPr id="8" name="Text 6"/>
          <p:cNvSpPr/>
          <p:nvPr/>
        </p:nvSpPr>
        <p:spPr>
          <a:xfrm>
            <a:off x="694944" y="3200400"/>
            <a:ext cx="4343400" cy="402336"/>
          </a:xfrm>
          <a:prstGeom prst="rect">
            <a:avLst/>
          </a:prstGeom>
          <a:noFill/>
          <a:ln/>
        </p:spPr>
        <p:txBody>
          <a:bodyPr wrap="square" lIns="0" tIns="0" rIns="0" bIns="0" rtlCol="0" anchor="ctr"/>
          <a:lstStyle/>
          <a:p>
            <a:pPr marL="0" indent="0">
              <a:buNone/>
            </a:pPr>
            <a:r>
              <a:rPr lang="en-US" sz="1320" dirty="0">
                <a:solidFill>
                  <a:srgbClr val="111827"/>
                </a:solidFill>
              </a:rPr>
              <a:t>Most reliable in common salary ranges represented well in the survey.</a:t>
            </a:r>
            <a:endParaRPr lang="en-US" sz="1320" dirty="0"/>
          </a:p>
        </p:txBody>
      </p:sp>
      <p:sp>
        <p:nvSpPr>
          <p:cNvPr id="9" name="Text 7"/>
          <p:cNvSpPr/>
          <p:nvPr/>
        </p:nvSpPr>
        <p:spPr>
          <a:xfrm>
            <a:off x="5715000" y="2240280"/>
            <a:ext cx="1828800" cy="164592"/>
          </a:xfrm>
          <a:prstGeom prst="rect">
            <a:avLst/>
          </a:prstGeom>
          <a:noFill/>
          <a:ln/>
        </p:spPr>
        <p:txBody>
          <a:bodyPr wrap="square" lIns="0" tIns="0" rIns="0" bIns="0" rtlCol="0" anchor="ctr"/>
          <a:lstStyle/>
          <a:p>
            <a:pPr marL="0" indent="0">
              <a:buNone/>
            </a:pPr>
            <a:r>
              <a:rPr lang="en-US" sz="750" b="1" dirty="0">
                <a:solidFill>
                  <a:srgbClr val="64748B"/>
                </a:solidFill>
              </a:rPr>
              <a:t>MAIN DRIVERS</a:t>
            </a:r>
            <a:endParaRPr lang="en-US" sz="750" dirty="0"/>
          </a:p>
        </p:txBody>
      </p:sp>
      <p:sp>
        <p:nvSpPr>
          <p:cNvPr id="10" name="Text 8"/>
          <p:cNvSpPr/>
          <p:nvPr/>
        </p:nvSpPr>
        <p:spPr>
          <a:xfrm>
            <a:off x="5715000" y="2615184"/>
            <a:ext cx="1874520" cy="256032"/>
          </a:xfrm>
          <a:prstGeom prst="rect">
            <a:avLst/>
          </a:prstGeom>
          <a:noFill/>
          <a:ln/>
        </p:spPr>
        <p:txBody>
          <a:bodyPr wrap="square" lIns="0" tIns="0" rIns="0" bIns="0" rtlCol="0" anchor="ctr"/>
          <a:lstStyle/>
          <a:p>
            <a:pPr marL="0" indent="0">
              <a:buNone/>
            </a:pPr>
            <a:r>
              <a:rPr lang="en-US" sz="1070" dirty="0">
                <a:solidFill>
                  <a:srgbClr val="111827"/>
                </a:solidFill>
              </a:rPr>
              <a:t>Country: USA</a:t>
            </a:r>
            <a:endParaRPr lang="en-US" sz="1070" dirty="0"/>
          </a:p>
        </p:txBody>
      </p:sp>
      <p:sp>
        <p:nvSpPr>
          <p:cNvPr id="11" name="Shape 9"/>
          <p:cNvSpPr/>
          <p:nvPr/>
        </p:nvSpPr>
        <p:spPr>
          <a:xfrm>
            <a:off x="7726680" y="2670048"/>
            <a:ext cx="2664823" cy="137160"/>
          </a:xfrm>
          <a:prstGeom prst="rect">
            <a:avLst/>
          </a:prstGeom>
          <a:solidFill>
            <a:srgbClr val="2563EB"/>
          </a:solidFill>
          <a:ln w="12700">
            <a:solidFill>
              <a:srgbClr val="2563EB"/>
            </a:solidFill>
            <a:prstDash val="solid"/>
          </a:ln>
        </p:spPr>
        <p:txBody>
          <a:bodyPr/>
          <a:lstStyle/>
          <a:p>
            <a:endParaRPr lang="en-SG" dirty="0"/>
          </a:p>
        </p:txBody>
      </p:sp>
      <p:sp>
        <p:nvSpPr>
          <p:cNvPr id="12" name="Text 10"/>
          <p:cNvSpPr/>
          <p:nvPr/>
        </p:nvSpPr>
        <p:spPr>
          <a:xfrm>
            <a:off x="10561320" y="2615184"/>
            <a:ext cx="822960" cy="237744"/>
          </a:xfrm>
          <a:prstGeom prst="rect">
            <a:avLst/>
          </a:prstGeom>
          <a:noFill/>
          <a:ln/>
        </p:spPr>
        <p:txBody>
          <a:bodyPr wrap="square" lIns="0" tIns="0" rIns="0" bIns="0" rtlCol="0" anchor="ctr"/>
          <a:lstStyle/>
          <a:p>
            <a:pPr marL="0" indent="0">
              <a:buNone/>
            </a:pPr>
            <a:r>
              <a:rPr lang="en-US" sz="950" dirty="0">
                <a:solidFill>
                  <a:srgbClr val="64748B"/>
                </a:solidFill>
              </a:rPr>
              <a:t>0.204</a:t>
            </a:r>
            <a:endParaRPr lang="en-US" sz="950" dirty="0"/>
          </a:p>
        </p:txBody>
      </p:sp>
      <p:sp>
        <p:nvSpPr>
          <p:cNvPr id="13" name="Text 11"/>
          <p:cNvSpPr/>
          <p:nvPr/>
        </p:nvSpPr>
        <p:spPr>
          <a:xfrm>
            <a:off x="5715000" y="3182112"/>
            <a:ext cx="1874520" cy="256032"/>
          </a:xfrm>
          <a:prstGeom prst="rect">
            <a:avLst/>
          </a:prstGeom>
          <a:noFill/>
          <a:ln/>
        </p:spPr>
        <p:txBody>
          <a:bodyPr wrap="square" lIns="0" tIns="0" rIns="0" bIns="0" rtlCol="0" anchor="ctr"/>
          <a:lstStyle/>
          <a:p>
            <a:pPr marL="0" indent="0">
              <a:buNone/>
            </a:pPr>
            <a:r>
              <a:rPr lang="en-US" sz="1070" dirty="0">
                <a:solidFill>
                  <a:srgbClr val="111827"/>
                </a:solidFill>
              </a:rPr>
              <a:t>WorkExp</a:t>
            </a:r>
            <a:endParaRPr lang="en-US" sz="1070" dirty="0"/>
          </a:p>
        </p:txBody>
      </p:sp>
      <p:sp>
        <p:nvSpPr>
          <p:cNvPr id="14" name="Shape 12"/>
          <p:cNvSpPr/>
          <p:nvPr/>
        </p:nvSpPr>
        <p:spPr>
          <a:xfrm>
            <a:off x="7726680" y="3236976"/>
            <a:ext cx="1672046" cy="137160"/>
          </a:xfrm>
          <a:prstGeom prst="rect">
            <a:avLst/>
          </a:prstGeom>
          <a:solidFill>
            <a:srgbClr val="14B8A6"/>
          </a:solidFill>
          <a:ln w="12700">
            <a:solidFill>
              <a:srgbClr val="14B8A6"/>
            </a:solidFill>
            <a:prstDash val="solid"/>
          </a:ln>
        </p:spPr>
        <p:txBody>
          <a:bodyPr/>
          <a:lstStyle/>
          <a:p>
            <a:endParaRPr lang="en-SG" dirty="0"/>
          </a:p>
        </p:txBody>
      </p:sp>
      <p:sp>
        <p:nvSpPr>
          <p:cNvPr id="15" name="Text 13"/>
          <p:cNvSpPr/>
          <p:nvPr/>
        </p:nvSpPr>
        <p:spPr>
          <a:xfrm>
            <a:off x="10561320" y="3182112"/>
            <a:ext cx="822960" cy="237744"/>
          </a:xfrm>
          <a:prstGeom prst="rect">
            <a:avLst/>
          </a:prstGeom>
          <a:noFill/>
          <a:ln/>
        </p:spPr>
        <p:txBody>
          <a:bodyPr wrap="square" lIns="0" tIns="0" rIns="0" bIns="0" rtlCol="0" anchor="ctr"/>
          <a:lstStyle/>
          <a:p>
            <a:pPr marL="0" indent="0">
              <a:buNone/>
            </a:pPr>
            <a:r>
              <a:rPr lang="en-US" sz="950" dirty="0">
                <a:solidFill>
                  <a:srgbClr val="64748B"/>
                </a:solidFill>
              </a:rPr>
              <a:t>0.128</a:t>
            </a:r>
            <a:endParaRPr lang="en-US" sz="950" dirty="0"/>
          </a:p>
        </p:txBody>
      </p:sp>
      <p:sp>
        <p:nvSpPr>
          <p:cNvPr id="16" name="Text 14"/>
          <p:cNvSpPr/>
          <p:nvPr/>
        </p:nvSpPr>
        <p:spPr>
          <a:xfrm>
            <a:off x="5715000" y="3749040"/>
            <a:ext cx="1874520" cy="256032"/>
          </a:xfrm>
          <a:prstGeom prst="rect">
            <a:avLst/>
          </a:prstGeom>
          <a:noFill/>
          <a:ln/>
        </p:spPr>
        <p:txBody>
          <a:bodyPr wrap="square" lIns="0" tIns="0" rIns="0" bIns="0" rtlCol="0" anchor="ctr"/>
          <a:lstStyle/>
          <a:p>
            <a:pPr marL="0" indent="0">
              <a:buNone/>
            </a:pPr>
            <a:r>
              <a:rPr lang="en-US" sz="1070" dirty="0">
                <a:solidFill>
                  <a:srgbClr val="111827"/>
                </a:solidFill>
              </a:rPr>
              <a:t>YearsCode</a:t>
            </a:r>
            <a:endParaRPr lang="en-US" sz="1070" dirty="0"/>
          </a:p>
        </p:txBody>
      </p:sp>
      <p:sp>
        <p:nvSpPr>
          <p:cNvPr id="17" name="Shape 15"/>
          <p:cNvSpPr/>
          <p:nvPr/>
        </p:nvSpPr>
        <p:spPr>
          <a:xfrm>
            <a:off x="7726680" y="3803904"/>
            <a:ext cx="849086" cy="137160"/>
          </a:xfrm>
          <a:prstGeom prst="rect">
            <a:avLst/>
          </a:prstGeom>
          <a:solidFill>
            <a:srgbClr val="7C3AED"/>
          </a:solidFill>
          <a:ln w="12700">
            <a:solidFill>
              <a:srgbClr val="7C3AED"/>
            </a:solidFill>
            <a:prstDash val="solid"/>
          </a:ln>
        </p:spPr>
        <p:txBody>
          <a:bodyPr/>
          <a:lstStyle/>
          <a:p>
            <a:endParaRPr lang="en-SG" dirty="0"/>
          </a:p>
        </p:txBody>
      </p:sp>
      <p:sp>
        <p:nvSpPr>
          <p:cNvPr id="18" name="Text 16"/>
          <p:cNvSpPr/>
          <p:nvPr/>
        </p:nvSpPr>
        <p:spPr>
          <a:xfrm>
            <a:off x="10561320" y="3749040"/>
            <a:ext cx="822960" cy="237744"/>
          </a:xfrm>
          <a:prstGeom prst="rect">
            <a:avLst/>
          </a:prstGeom>
          <a:noFill/>
          <a:ln/>
        </p:spPr>
        <p:txBody>
          <a:bodyPr wrap="square" lIns="0" tIns="0" rIns="0" bIns="0" rtlCol="0" anchor="ctr"/>
          <a:lstStyle/>
          <a:p>
            <a:pPr marL="0" indent="0">
              <a:buNone/>
            </a:pPr>
            <a:r>
              <a:rPr lang="en-US" sz="950" dirty="0">
                <a:solidFill>
                  <a:srgbClr val="64748B"/>
                </a:solidFill>
              </a:rPr>
              <a:t>0.065</a:t>
            </a:r>
            <a:endParaRPr lang="en-US" sz="950" dirty="0"/>
          </a:p>
        </p:txBody>
      </p:sp>
      <p:sp>
        <p:nvSpPr>
          <p:cNvPr id="19" name="Text 17"/>
          <p:cNvSpPr/>
          <p:nvPr/>
        </p:nvSpPr>
        <p:spPr>
          <a:xfrm>
            <a:off x="676656" y="4315968"/>
            <a:ext cx="1828800" cy="219456"/>
          </a:xfrm>
          <a:prstGeom prst="rect">
            <a:avLst/>
          </a:prstGeom>
          <a:noFill/>
          <a:ln/>
        </p:spPr>
        <p:txBody>
          <a:bodyPr wrap="square" lIns="0" tIns="0" rIns="0" bIns="0" rtlCol="0" anchor="ctr"/>
          <a:lstStyle/>
          <a:p>
            <a:pPr marL="0" indent="0">
              <a:buNone/>
            </a:pPr>
            <a:r>
              <a:rPr lang="en-US" sz="1350" b="1" dirty="0">
                <a:solidFill>
                  <a:srgbClr val="0B1E3A"/>
                </a:solidFill>
              </a:rPr>
              <a:t>Limitations</a:t>
            </a:r>
            <a:endParaRPr lang="en-US" sz="1350" dirty="0"/>
          </a:p>
        </p:txBody>
      </p:sp>
      <p:sp>
        <p:nvSpPr>
          <p:cNvPr id="20" name="Text 18"/>
          <p:cNvSpPr/>
          <p:nvPr/>
        </p:nvSpPr>
        <p:spPr>
          <a:xfrm>
            <a:off x="676656" y="4690872"/>
            <a:ext cx="201168" cy="182880"/>
          </a:xfrm>
          <a:prstGeom prst="rect">
            <a:avLst/>
          </a:prstGeom>
          <a:noFill/>
          <a:ln/>
        </p:spPr>
        <p:txBody>
          <a:bodyPr wrap="square" lIns="0" tIns="0" rIns="0" bIns="0" rtlCol="0" anchor="ctr"/>
          <a:lstStyle/>
          <a:p>
            <a:pPr marL="0" indent="0">
              <a:buNone/>
            </a:pPr>
            <a:r>
              <a:rPr lang="en-US" sz="1250" dirty="0">
                <a:solidFill>
                  <a:srgbClr val="2563EB"/>
                </a:solidFill>
              </a:rPr>
              <a:t>•</a:t>
            </a:r>
            <a:endParaRPr lang="en-US" sz="1250" dirty="0"/>
          </a:p>
        </p:txBody>
      </p:sp>
      <p:sp>
        <p:nvSpPr>
          <p:cNvPr id="21" name="Text 19"/>
          <p:cNvSpPr/>
          <p:nvPr/>
        </p:nvSpPr>
        <p:spPr>
          <a:xfrm>
            <a:off x="932688" y="4663440"/>
            <a:ext cx="4389120" cy="384048"/>
          </a:xfrm>
          <a:prstGeom prst="rect">
            <a:avLst/>
          </a:prstGeom>
          <a:noFill/>
          <a:ln/>
        </p:spPr>
        <p:txBody>
          <a:bodyPr wrap="square" lIns="127" tIns="127" rIns="127" bIns="127" rtlCol="0" anchor="ctr">
            <a:normAutofit/>
          </a:bodyPr>
          <a:lstStyle/>
          <a:p>
            <a:pPr marL="0" indent="0">
              <a:buNone/>
            </a:pPr>
            <a:r>
              <a:rPr lang="en-US" sz="1250" dirty="0">
                <a:solidFill>
                  <a:srgbClr val="111827"/>
                </a:solidFill>
              </a:rPr>
              <a:t>Self-reported survey data is not the whole developer market.</a:t>
            </a:r>
            <a:endParaRPr lang="en-US" sz="1250" dirty="0"/>
          </a:p>
        </p:txBody>
      </p:sp>
      <p:sp>
        <p:nvSpPr>
          <p:cNvPr id="22" name="Text 20"/>
          <p:cNvSpPr/>
          <p:nvPr/>
        </p:nvSpPr>
        <p:spPr>
          <a:xfrm>
            <a:off x="676656" y="5166360"/>
            <a:ext cx="201168" cy="182880"/>
          </a:xfrm>
          <a:prstGeom prst="rect">
            <a:avLst/>
          </a:prstGeom>
          <a:noFill/>
          <a:ln/>
        </p:spPr>
        <p:txBody>
          <a:bodyPr wrap="square" lIns="0" tIns="0" rIns="0" bIns="0" rtlCol="0" anchor="ctr"/>
          <a:lstStyle/>
          <a:p>
            <a:pPr marL="0" indent="0">
              <a:buNone/>
            </a:pPr>
            <a:r>
              <a:rPr lang="en-US" sz="1250" dirty="0">
                <a:solidFill>
                  <a:srgbClr val="2563EB"/>
                </a:solidFill>
              </a:rPr>
              <a:t>•</a:t>
            </a:r>
            <a:endParaRPr lang="en-US" sz="1250" dirty="0"/>
          </a:p>
        </p:txBody>
      </p:sp>
      <p:sp>
        <p:nvSpPr>
          <p:cNvPr id="23" name="Text 21"/>
          <p:cNvSpPr/>
          <p:nvPr/>
        </p:nvSpPr>
        <p:spPr>
          <a:xfrm>
            <a:off x="932688" y="5138928"/>
            <a:ext cx="4389120" cy="384048"/>
          </a:xfrm>
          <a:prstGeom prst="rect">
            <a:avLst/>
          </a:prstGeom>
          <a:noFill/>
          <a:ln/>
        </p:spPr>
        <p:txBody>
          <a:bodyPr wrap="square" lIns="127" tIns="127" rIns="127" bIns="127" rtlCol="0" anchor="ctr">
            <a:normAutofit/>
          </a:bodyPr>
          <a:lstStyle/>
          <a:p>
            <a:pPr marL="0" indent="0">
              <a:buNone/>
            </a:pPr>
            <a:r>
              <a:rPr lang="en-US" sz="1250" dirty="0">
                <a:solidFill>
                  <a:srgbClr val="111827"/>
                </a:solidFill>
              </a:rPr>
              <a:t>USD conversion does not adjust for tax or cost of living.</a:t>
            </a:r>
            <a:endParaRPr lang="en-US" sz="1250" dirty="0"/>
          </a:p>
        </p:txBody>
      </p:sp>
      <p:sp>
        <p:nvSpPr>
          <p:cNvPr id="24" name="Text 22"/>
          <p:cNvSpPr/>
          <p:nvPr/>
        </p:nvSpPr>
        <p:spPr>
          <a:xfrm>
            <a:off x="5715000" y="4645152"/>
            <a:ext cx="1828800" cy="219456"/>
          </a:xfrm>
          <a:prstGeom prst="rect">
            <a:avLst/>
          </a:prstGeom>
          <a:noFill/>
          <a:ln/>
        </p:spPr>
        <p:txBody>
          <a:bodyPr wrap="square" lIns="0" tIns="0" rIns="0" bIns="0" rtlCol="0" anchor="ctr"/>
          <a:lstStyle/>
          <a:p>
            <a:pPr marL="0" indent="0">
              <a:buNone/>
            </a:pPr>
            <a:r>
              <a:rPr lang="en-US" sz="1350" b="1" dirty="0">
                <a:solidFill>
                  <a:srgbClr val="0B1E3A"/>
                </a:solidFill>
              </a:rPr>
              <a:t>Next step</a:t>
            </a:r>
            <a:endParaRPr lang="en-US" sz="1350" dirty="0"/>
          </a:p>
        </p:txBody>
      </p:sp>
      <p:sp>
        <p:nvSpPr>
          <p:cNvPr id="25" name="Text 23"/>
          <p:cNvSpPr/>
          <p:nvPr/>
        </p:nvSpPr>
        <p:spPr>
          <a:xfrm>
            <a:off x="5715000" y="5010912"/>
            <a:ext cx="4846320" cy="658368"/>
          </a:xfrm>
          <a:prstGeom prst="rect">
            <a:avLst/>
          </a:prstGeom>
          <a:noFill/>
          <a:ln/>
        </p:spPr>
        <p:txBody>
          <a:bodyPr wrap="square" lIns="127" tIns="127" rIns="127" bIns="127" rtlCol="0" anchor="ctr">
            <a:normAutofit/>
          </a:bodyPr>
          <a:lstStyle/>
          <a:p>
            <a:pPr marL="0" indent="0">
              <a:buNone/>
            </a:pPr>
            <a:r>
              <a:rPr lang="en-US" sz="1320" dirty="0">
                <a:solidFill>
                  <a:srgbClr val="111827"/>
                </a:solidFill>
              </a:rPr>
              <a:t>Add country-specific salary normalisation or richer seniority/company data, so the estimate better reflects local labour markets.</a:t>
            </a:r>
            <a:endParaRPr lang="en-US" sz="1320" dirty="0"/>
          </a:p>
        </p:txBody>
      </p:sp>
      <p:sp>
        <p:nvSpPr>
          <p:cNvPr id="26" name="Text 24"/>
          <p:cNvSpPr/>
          <p:nvPr/>
        </p:nvSpPr>
        <p:spPr>
          <a:xfrm>
            <a:off x="3950208" y="5980176"/>
            <a:ext cx="3108960" cy="256032"/>
          </a:xfrm>
          <a:prstGeom prst="rect">
            <a:avLst/>
          </a:prstGeom>
          <a:solidFill>
            <a:srgbClr val="0B1E3A"/>
          </a:solidFill>
          <a:ln>
            <a:solidFill>
              <a:srgbClr val="0B1E3A">
                <a:alpha val="0"/>
              </a:srgbClr>
            </a:solidFill>
          </a:ln>
        </p:spPr>
        <p:txBody>
          <a:bodyPr wrap="square" lIns="381" tIns="381" rIns="381" bIns="381" rtlCol="0" anchor="ctr">
            <a:normAutofit/>
          </a:bodyPr>
          <a:lstStyle/>
          <a:p>
            <a:pPr marL="0" indent="0" algn="ctr">
              <a:buNone/>
            </a:pPr>
            <a:r>
              <a:rPr lang="en-US" sz="950" b="1" dirty="0">
                <a:solidFill>
                  <a:srgbClr val="FFFFFF"/>
                </a:solidFill>
              </a:rPr>
              <a:t>Closing: evidence for better salary decisions</a:t>
            </a:r>
            <a:endParaRPr lang="en-US" sz="950" dirty="0"/>
          </a:p>
        </p:txBody>
      </p:sp>
      <p:sp>
        <p:nvSpPr>
          <p:cNvPr id="27" name="Slide Number Placeholder 0"/>
          <p:cNvSpPr>
            <a:spLocks noGrp="1"/>
          </p:cNvSpPr>
          <p:nvPr>
            <p:ph type="sldNum" sz="quarter" idx="4294967295"/>
          </p:nvPr>
        </p:nvSpPr>
        <p:spPr>
          <a:xfrm>
            <a:off x="1138428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B7688"/>
                </a:solidFill>
                <a:latin typeface="Aptos"/>
                <a:ea typeface="Aptos"/>
                <a:cs typeface="Aptos"/>
              </a:defRPr>
            </a:lvl1pPr>
          </a:lstStyle>
          <a:p>
            <a:pPr algn="l"/>
            <a:fld id="{F7021451-1387-4CA6-816F-3879F97B5CBC}" type="slidenum">
              <a:rPr lang="en-US" b="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66928" y="365760"/>
            <a:ext cx="5943600" cy="219456"/>
          </a:xfrm>
          <a:prstGeom prst="rect">
            <a:avLst/>
          </a:prstGeom>
          <a:noFill/>
          <a:ln/>
        </p:spPr>
        <p:txBody>
          <a:bodyPr wrap="square" lIns="0" tIns="0" rIns="0" bIns="0" rtlCol="0" anchor="ctr"/>
          <a:lstStyle/>
          <a:p>
            <a:pPr marL="0" indent="0">
              <a:buNone/>
            </a:pPr>
            <a:r>
              <a:rPr lang="en-US" sz="850" b="1" dirty="0">
                <a:solidFill>
                  <a:srgbClr val="2563EB"/>
                </a:solidFill>
              </a:rPr>
              <a:t>SOURCES</a:t>
            </a:r>
            <a:endParaRPr lang="en-US" sz="850" dirty="0"/>
          </a:p>
        </p:txBody>
      </p:sp>
      <p:sp>
        <p:nvSpPr>
          <p:cNvPr id="3" name="Text 1"/>
          <p:cNvSpPr/>
          <p:nvPr/>
        </p:nvSpPr>
        <p:spPr>
          <a:xfrm>
            <a:off x="548640" y="640080"/>
            <a:ext cx="8869680" cy="420624"/>
          </a:xfrm>
          <a:prstGeom prst="rect">
            <a:avLst/>
          </a:prstGeom>
          <a:noFill/>
          <a:ln/>
        </p:spPr>
        <p:txBody>
          <a:bodyPr wrap="square" lIns="0" tIns="0" rIns="0" bIns="0" rtlCol="0" anchor="ctr"/>
          <a:lstStyle/>
          <a:p>
            <a:pPr marL="0" indent="0">
              <a:buNone/>
            </a:pPr>
            <a:r>
              <a:rPr lang="en-US" sz="2400" b="1" dirty="0">
                <a:solidFill>
                  <a:srgbClr val="0B1E3A"/>
                </a:solidFill>
                <a:latin typeface="Aptos Display" pitchFamily="34" charset="0"/>
                <a:ea typeface="Aptos Display" pitchFamily="34" charset="-122"/>
                <a:cs typeface="Aptos Display" pitchFamily="34" charset="-120"/>
              </a:rPr>
              <a:t>References</a:t>
            </a:r>
            <a:endParaRPr lang="en-US" sz="2400" dirty="0"/>
          </a:p>
        </p:txBody>
      </p:sp>
      <p:sp>
        <p:nvSpPr>
          <p:cNvPr id="4" name="Text 2"/>
          <p:cNvSpPr/>
          <p:nvPr/>
        </p:nvSpPr>
        <p:spPr>
          <a:xfrm>
            <a:off x="640080" y="1417320"/>
            <a:ext cx="4389120" cy="256032"/>
          </a:xfrm>
          <a:prstGeom prst="rect">
            <a:avLst/>
          </a:prstGeom>
          <a:noFill/>
          <a:ln/>
        </p:spPr>
        <p:txBody>
          <a:bodyPr wrap="square" lIns="0" tIns="0" rIns="0" bIns="0" rtlCol="0" anchor="ctr"/>
          <a:lstStyle/>
          <a:p>
            <a:pPr marL="0" indent="0">
              <a:buNone/>
            </a:pPr>
            <a:r>
              <a:rPr lang="en-US" sz="1600" b="1" dirty="0">
                <a:solidFill>
                  <a:srgbClr val="0B1E3A"/>
                </a:solidFill>
              </a:rPr>
              <a:t>Dataset and project artefacts</a:t>
            </a:r>
            <a:endParaRPr lang="en-US" sz="1600" dirty="0"/>
          </a:p>
        </p:txBody>
      </p:sp>
      <p:sp>
        <p:nvSpPr>
          <p:cNvPr id="5" name="Text 3"/>
          <p:cNvSpPr/>
          <p:nvPr/>
        </p:nvSpPr>
        <p:spPr>
          <a:xfrm>
            <a:off x="640080" y="1901952"/>
            <a:ext cx="201168" cy="182880"/>
          </a:xfrm>
          <a:prstGeom prst="rect">
            <a:avLst/>
          </a:prstGeom>
          <a:noFill/>
          <a:ln/>
        </p:spPr>
        <p:txBody>
          <a:bodyPr wrap="square" lIns="0" tIns="0" rIns="0" bIns="0" rtlCol="0" anchor="ctr"/>
          <a:lstStyle/>
          <a:p>
            <a:pPr marL="0" indent="0">
              <a:buNone/>
            </a:pPr>
            <a:r>
              <a:rPr lang="en-US" sz="1320" dirty="0">
                <a:solidFill>
                  <a:srgbClr val="2563EB"/>
                </a:solidFill>
              </a:rPr>
              <a:t>•</a:t>
            </a:r>
            <a:endParaRPr lang="en-US" sz="1320" dirty="0"/>
          </a:p>
        </p:txBody>
      </p:sp>
      <p:sp>
        <p:nvSpPr>
          <p:cNvPr id="6" name="Text 4"/>
          <p:cNvSpPr/>
          <p:nvPr/>
        </p:nvSpPr>
        <p:spPr>
          <a:xfrm>
            <a:off x="896112" y="1874520"/>
            <a:ext cx="9875520" cy="384048"/>
          </a:xfrm>
          <a:prstGeom prst="rect">
            <a:avLst/>
          </a:prstGeom>
          <a:noFill/>
          <a:ln/>
        </p:spPr>
        <p:txBody>
          <a:bodyPr wrap="square" lIns="127" tIns="127" rIns="127" bIns="127" rtlCol="0" anchor="ctr">
            <a:normAutofit/>
          </a:bodyPr>
          <a:lstStyle/>
          <a:p>
            <a:pPr marL="0" indent="0">
              <a:buNone/>
            </a:pPr>
            <a:r>
              <a:rPr lang="en-US" sz="1320" dirty="0">
                <a:solidFill>
                  <a:srgbClr val="111827"/>
                </a:solidFill>
              </a:rPr>
              <a:t>Stack Overflow. (2025). Annual Developer Survey results. Public survey dataset used for Salarycalc.</a:t>
            </a:r>
            <a:endParaRPr lang="en-US" sz="1320" dirty="0"/>
          </a:p>
        </p:txBody>
      </p:sp>
      <p:sp>
        <p:nvSpPr>
          <p:cNvPr id="7" name="Text 5"/>
          <p:cNvSpPr/>
          <p:nvPr/>
        </p:nvSpPr>
        <p:spPr>
          <a:xfrm>
            <a:off x="640080" y="2423160"/>
            <a:ext cx="201168" cy="182880"/>
          </a:xfrm>
          <a:prstGeom prst="rect">
            <a:avLst/>
          </a:prstGeom>
          <a:noFill/>
          <a:ln/>
        </p:spPr>
        <p:txBody>
          <a:bodyPr wrap="square" lIns="0" tIns="0" rIns="0" bIns="0" rtlCol="0" anchor="ctr"/>
          <a:lstStyle/>
          <a:p>
            <a:pPr marL="0" indent="0">
              <a:buNone/>
            </a:pPr>
            <a:r>
              <a:rPr lang="en-US" sz="1320" dirty="0">
                <a:solidFill>
                  <a:srgbClr val="2563EB"/>
                </a:solidFill>
              </a:rPr>
              <a:t>•</a:t>
            </a:r>
            <a:endParaRPr lang="en-US" sz="1320" dirty="0"/>
          </a:p>
        </p:txBody>
      </p:sp>
      <p:sp>
        <p:nvSpPr>
          <p:cNvPr id="8" name="Text 6"/>
          <p:cNvSpPr/>
          <p:nvPr/>
        </p:nvSpPr>
        <p:spPr>
          <a:xfrm>
            <a:off x="896112" y="2395728"/>
            <a:ext cx="9875520" cy="384048"/>
          </a:xfrm>
          <a:prstGeom prst="rect">
            <a:avLst/>
          </a:prstGeom>
          <a:noFill/>
          <a:ln/>
        </p:spPr>
        <p:txBody>
          <a:bodyPr wrap="square" lIns="127" tIns="127" rIns="127" bIns="127" rtlCol="0" anchor="ctr">
            <a:normAutofit/>
          </a:bodyPr>
          <a:lstStyle/>
          <a:p>
            <a:pPr marL="0" indent="0">
              <a:buNone/>
            </a:pPr>
            <a:r>
              <a:rPr lang="en-US" sz="1320" dirty="0">
                <a:solidFill>
                  <a:srgbClr val="111827"/>
                </a:solidFill>
              </a:rPr>
              <a:t>Submitted project artefacts: salary_5.2.ipynb, salary_5.2.pkl and salary_app_5.2.py.</a:t>
            </a:r>
            <a:endParaRPr lang="en-US" sz="1320" dirty="0"/>
          </a:p>
        </p:txBody>
      </p:sp>
      <p:sp>
        <p:nvSpPr>
          <p:cNvPr id="9" name="Text 7"/>
          <p:cNvSpPr/>
          <p:nvPr/>
        </p:nvSpPr>
        <p:spPr>
          <a:xfrm>
            <a:off x="640080" y="2944368"/>
            <a:ext cx="201168" cy="182880"/>
          </a:xfrm>
          <a:prstGeom prst="rect">
            <a:avLst/>
          </a:prstGeom>
          <a:noFill/>
          <a:ln/>
        </p:spPr>
        <p:txBody>
          <a:bodyPr wrap="square" lIns="0" tIns="0" rIns="0" bIns="0" rtlCol="0" anchor="ctr"/>
          <a:lstStyle/>
          <a:p>
            <a:pPr marL="0" indent="0">
              <a:buNone/>
            </a:pPr>
            <a:r>
              <a:rPr lang="en-US" sz="1320" dirty="0">
                <a:solidFill>
                  <a:srgbClr val="2563EB"/>
                </a:solidFill>
              </a:rPr>
              <a:t>•</a:t>
            </a:r>
            <a:endParaRPr lang="en-US" sz="1320" dirty="0"/>
          </a:p>
        </p:txBody>
      </p:sp>
      <p:sp>
        <p:nvSpPr>
          <p:cNvPr id="10" name="Text 8"/>
          <p:cNvSpPr/>
          <p:nvPr/>
        </p:nvSpPr>
        <p:spPr>
          <a:xfrm>
            <a:off x="896112" y="2916936"/>
            <a:ext cx="9875520" cy="384048"/>
          </a:xfrm>
          <a:prstGeom prst="rect">
            <a:avLst/>
          </a:prstGeom>
          <a:noFill/>
          <a:ln/>
        </p:spPr>
        <p:txBody>
          <a:bodyPr wrap="square" lIns="127" tIns="127" rIns="127" bIns="127" rtlCol="0" anchor="ctr">
            <a:normAutofit/>
          </a:bodyPr>
          <a:lstStyle/>
          <a:p>
            <a:pPr marL="0" indent="0">
              <a:buNone/>
            </a:pPr>
            <a:r>
              <a:rPr lang="en-US" sz="1320" dirty="0">
                <a:solidFill>
                  <a:srgbClr val="111827"/>
                </a:solidFill>
              </a:rPr>
              <a:t>Streamlit Community Cloud deployment and GitHub repository listed in the submitted Word document.</a:t>
            </a:r>
            <a:endParaRPr lang="en-US" sz="1320" dirty="0"/>
          </a:p>
        </p:txBody>
      </p:sp>
      <p:sp>
        <p:nvSpPr>
          <p:cNvPr id="11" name="Text 9"/>
          <p:cNvSpPr/>
          <p:nvPr/>
        </p:nvSpPr>
        <p:spPr>
          <a:xfrm>
            <a:off x="640080" y="3822192"/>
            <a:ext cx="4389120" cy="256032"/>
          </a:xfrm>
          <a:prstGeom prst="rect">
            <a:avLst/>
          </a:prstGeom>
          <a:noFill/>
          <a:ln/>
        </p:spPr>
        <p:txBody>
          <a:bodyPr wrap="square" lIns="0" tIns="0" rIns="0" bIns="0" rtlCol="0" anchor="ctr"/>
          <a:lstStyle/>
          <a:p>
            <a:pPr marL="0" indent="0">
              <a:buNone/>
            </a:pPr>
            <a:r>
              <a:rPr lang="en-US" sz="1600" b="1" dirty="0">
                <a:solidFill>
                  <a:srgbClr val="0B1E3A"/>
                </a:solidFill>
              </a:rPr>
              <a:t>AI use note</a:t>
            </a:r>
            <a:endParaRPr lang="en-US" sz="1600" dirty="0"/>
          </a:p>
        </p:txBody>
      </p:sp>
      <p:sp>
        <p:nvSpPr>
          <p:cNvPr id="12" name="Text 10"/>
          <p:cNvSpPr/>
          <p:nvPr/>
        </p:nvSpPr>
        <p:spPr>
          <a:xfrm>
            <a:off x="640080" y="4306824"/>
            <a:ext cx="201168" cy="182880"/>
          </a:xfrm>
          <a:prstGeom prst="rect">
            <a:avLst/>
          </a:prstGeom>
          <a:noFill/>
          <a:ln/>
        </p:spPr>
        <p:txBody>
          <a:bodyPr wrap="square" lIns="0" tIns="0" rIns="0" bIns="0" rtlCol="0" anchor="ctr"/>
          <a:lstStyle/>
          <a:p>
            <a:pPr marL="0" indent="0">
              <a:buNone/>
            </a:pPr>
            <a:r>
              <a:rPr lang="en-US" sz="1320" dirty="0">
                <a:solidFill>
                  <a:srgbClr val="2563EB"/>
                </a:solidFill>
              </a:rPr>
              <a:t>•</a:t>
            </a:r>
            <a:endParaRPr lang="en-US" sz="1320" dirty="0"/>
          </a:p>
        </p:txBody>
      </p:sp>
      <p:sp>
        <p:nvSpPr>
          <p:cNvPr id="13" name="Text 11"/>
          <p:cNvSpPr/>
          <p:nvPr/>
        </p:nvSpPr>
        <p:spPr>
          <a:xfrm>
            <a:off x="896112" y="4279392"/>
            <a:ext cx="9875520" cy="384048"/>
          </a:xfrm>
          <a:prstGeom prst="rect">
            <a:avLst/>
          </a:prstGeom>
          <a:noFill/>
          <a:ln/>
        </p:spPr>
        <p:txBody>
          <a:bodyPr wrap="square" lIns="127" tIns="127" rIns="127" bIns="127" rtlCol="0" anchor="ctr">
            <a:normAutofit/>
          </a:bodyPr>
          <a:lstStyle/>
          <a:p>
            <a:pPr marL="0" indent="0">
              <a:buNone/>
            </a:pPr>
            <a:r>
              <a:rPr lang="en-US" sz="1320" dirty="0">
                <a:solidFill>
                  <a:srgbClr val="111827"/>
                </a:solidFill>
              </a:rPr>
              <a:t>Generative AI was used to help prepare pitch slide wording and layout.</a:t>
            </a:r>
            <a:endParaRPr lang="en-US" sz="1320" dirty="0"/>
          </a:p>
        </p:txBody>
      </p:sp>
      <p:sp>
        <p:nvSpPr>
          <p:cNvPr id="25" name="Slide Number Placeholder 0"/>
          <p:cNvSpPr>
            <a:spLocks noGrp="1"/>
          </p:cNvSpPr>
          <p:nvPr>
            <p:ph type="sldNum" sz="quarter" idx="4294967295"/>
          </p:nvPr>
        </p:nvSpPr>
        <p:spPr>
          <a:xfrm>
            <a:off x="1138428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B7688"/>
                </a:solidFill>
                <a:latin typeface="Aptos"/>
                <a:ea typeface="Aptos"/>
                <a:cs typeface="Aptos"/>
              </a:defRPr>
            </a:lvl1pPr>
          </a:lstStyle>
          <a:p>
            <a:pPr algn="l"/>
            <a:fld id="{F7021451-1387-4CA6-816F-3879F97B5CBC}" type="slidenum">
              <a:rPr lang="en-US" b="0"/>
              <a:t>7</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538</TotalTime>
  <Words>1032</Words>
  <Application>Microsoft Office PowerPoint</Application>
  <PresentationFormat>Widescreen</PresentationFormat>
  <Paragraphs>156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Temasek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Salarycalc - Pitch Deck</dc:title>
  <dc:subject>MLDP Pitch Slides</dc:subject>
  <dc:creator>Leon Jr Chua</dc:creator>
  <cp:lastModifiedBy>LEON JR CHUA</cp:lastModifiedBy>
  <cp:revision>4</cp:revision>
  <dcterms:created xsi:type="dcterms:W3CDTF">2026-08-16T02:20:40Z</dcterms:created>
  <dcterms:modified xsi:type="dcterms:W3CDTF">2026-08-18T16:11:40Z</dcterms:modified>
</cp:coreProperties>
</file>